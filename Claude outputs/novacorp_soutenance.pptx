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notesMasterIdLst>
    <p:notesMasterId r:id="rId1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Besoin" id="{96ccb120-c804-0e3b-9cec-49c04b27c0db}">
          <p14:sldIdLst>
            <p14:sldId id="256"/>
            <p14:sldId id="257"/>
            <p14:sldId id="258"/>
          </p14:sldIdLst>
        </p14:section>
        <p14:section name="Architecture" id="{0c8e560f-bd0a-8537-77ce-11edc241a01c}">
          <p14:sldIdLst>
            <p14:sldId id="259"/>
            <p14:sldId id="260"/>
            <p14:sldId id="261"/>
          </p14:sldIdLst>
        </p14:section>
        <p14:section name="Agent IA" id="{60149d3f-7fef-0b15-9e21-6f4d626a7b24}">
          <p14:sldIdLst>
            <p14:sldId id="262"/>
            <p14:sldId id="263"/>
          </p14:sldIdLst>
        </p14:section>
        <p14:section name="Démo" id="{0e95b8fc-1547-7c23-2fe1-9e5879f6b575}">
          <p14:sldIdLst>
            <p14:sldId id="264"/>
          </p14:sldIdLst>
        </p14:section>
        <p14:section name="Production" id="{b79f2689-b839-710c-015c-82b7af489eda}">
          <p14:sldIdLst>
            <p14:sldId id="265"/>
            <p14:sldId id="266"/>
            <p14:sldId id="267"/>
          </p14:sldIdLst>
        </p14:section>
        <p14:section name="Suite" id="{131ffcd1-a003-25b6-f2e8-e8660e043398}">
          <p14:sldIdLst>
            <p14:sldId id="268"/>
            <p14:sldId id="269"/>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notesMaster" Target="notesMasters/notesMaster1.xml"/><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2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20 s. Présentation du binôme et du sujet : automatiser le circuit des demandes internes de NovaCorp (congés, matériel, notes de frais, formations). Le site est en ligne : on le montrera en démo.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40 s. Avant : 127 employés, les demandes partent par mail avec pièces jointes, le manager répond au mail, rien n’est tracé, personne ne relance sinon par téléphone. Le catalogue imposait S1 ; nous avons fait S1 à S5.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45 s. Les six objectifs de départ sont atteints. Insister sur : décision en un clic depuis le mail (sans se connecter), relances automatiques avec escalade, historique complet. Les chiffres viennent de la base de production.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60 s. Lire le schéma de gauche à droite. Laravel écrit en base ; les triggers appliquent le circuit et mettent les mails en file ; une Edge Function les envoie via Resend chaque minute ; pg_cron gère relances et expirations ; un webhook (pg_net) appelle n8n pour le résumé IA, qui écrit le résultat via une autre Edge Function. n8n tourne sur le PC derrière ngrok : défaut assumé (voir production).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60 s. Phrase type : « nous avons choisi … parce que … ». Point clé : les règles en base, parce que la même demande peut être validée depuis l’appli ou depuis le lien du mail, sans connexion ; la base garantit la même règle partout, et nos 124 tests SQL le prouvent.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40 s. C’est exactement ce que la démo va montrer. Les délais X et Y, qui n’existaient pas au départ, sont maintenant fixés par type et modifiables par la RH sans toucher au code.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40 s. L’agent n’écrit jamais : il consulte. L’e-mail de l’employé n’est pas donné par l’agent : c’est le site qui l’ajoute côté serveur, donc impossible de lire les demandes d’un collègue en le demandant.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50 s. Critère « pilotage » : montrer un échec réel trouvé par nos tests et sa correction. Les tests T1 à T5 du TP sont rejouables dans la bulle ; on en fait un négatif pendant la démo.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3 min de démo. Avant de passer : ouvrir le site (il s’endort après 15 min), vérifier que n8n et ngrok tournent, se connecter dans deux onglets (Marcel et Théophile), ouvrir la boîte de test. Après la démo : annuler la demande créée.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50 s. Ce qui distingue un système d’une démo : on sait quand ça casse (statuts, bilan de santé), rien ne part en double, aucun secret dans Git. Être honnête sur n8n en local : sur l’offre gratuite de Render le disque est effacé à chaque mise en veille, ce qui ferait perdre les workflows.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40 s. Message : l’IA ne coûte presque rien ; le coût vient de l’hébergement. Prix : Render 7 $ la plus petite instance payante, Supabase Pro 25 $, Resend gratuit jusqu’à 3 000 mails/mois puis 20 à 35 $, gpt-4o-mini 0,15 / 0,60 $ par million de jetons.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30 s. Le goulot le plus probable est l’envoi des mails au moment des relances du matin ; la file d’envoi permet d’augmenter le débit sans rien perdre.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30 s. Rester factuel : le produit fonctionne ; ce qui manque relève de l’hébergement et de décisions métier, pas du code.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20 s. Conclure sur les quatre messages, puis questions. Si une question dépasse ce que l’on sait : « je ne sais pas, mais voici comment je le vérifierais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OMBRE">
    <p:bg>
      <p:bgPr>
        <a:solidFill>
          <a:srgbClr val="14213D"/>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640080" y="457200"/>
            <a:ext cx="10911535" cy="731520"/>
          </a:xfrm>
          <a:prstGeom prst="rect">
            <a:avLst/>
          </a:prstGeom>
          <a:noFill/>
          <a:ln/>
        </p:spPr>
        <p:txBody>
          <a:bodyPr wrap="square" rtlCol="0"/>
          <a:lstStyle>
            <a:lvl1pPr algn="l" indent="0" marL="0">
              <a:buNone/>
              <a:defRPr lang="en-US" sz="3200" b="1" dirty="0">
                <a:solidFill>
                  <a:srgbClr val="FFFFFF"/>
                </a:solidFill>
                <a:latin typeface="Arial" pitchFamily="34" charset="0"/>
                <a:ea typeface="Arial" pitchFamily="34" charset="-122"/>
                <a:cs typeface="Arial" pitchFamily="34" charset="-120"/>
              </a:defRPr>
            </a:lvl1pPr>
          </a:lstStyle>
          <a:p>
            <a:pPr algn="l" indent="0" marL="0">
              <a:buNone/>
            </a:pPr>
            <a:endParaRPr lang="en-US" sz="3200" dirty="0"/>
          </a:p>
        </p:txBody>
      </p:sp>
      <p:sp>
        <p:nvSpPr>
          <p:cNvPr id="3" name="Text 0"/>
          <p:cNvSpPr/>
          <p:nvPr>
            <p:ph idx="101" type="body" hasCustomPrompt="1"/>
          </p:nvPr>
        </p:nvSpPr>
        <p:spPr>
          <a:xfrm>
            <a:off x="640080" y="1170432"/>
            <a:ext cx="10911535" cy="365760"/>
          </a:xfrm>
          <a:prstGeom prst="rect">
            <a:avLst/>
          </a:prstGeom>
          <a:noFill/>
          <a:ln/>
        </p:spPr>
        <p:txBody>
          <a:bodyPr wrap="square" rtlCol="0"/>
          <a:lstStyle>
            <a:lvl1pPr algn="l" indent="0" marL="0">
              <a:buNone/>
              <a:defRPr lang="en-US" sz="1500" b="1" dirty="0">
                <a:solidFill>
                  <a:srgbClr val="FCA311"/>
                </a:solidFill>
                <a:latin typeface="Arial" pitchFamily="34" charset="0"/>
                <a:ea typeface="Arial" pitchFamily="34" charset="-122"/>
                <a:cs typeface="Arial" pitchFamily="34" charset="-120"/>
              </a:defRPr>
            </a:lvl1pPr>
          </a:lstStyle>
          <a:p>
            <a:pPr algn="l" indent="0" marL="0">
              <a:buNone/>
            </a:pPr>
            <a:endParaRPr lang="en-US" sz="15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AA3B2"/>
                </a:solidFill>
                <a:latin typeface="Arial"/>
                <a:ea typeface="Arial"/>
                <a:cs typeface="Arial"/>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LAIR">
    <p:bg>
      <p:bgPr>
        <a:solidFill>
          <a:srgbClr val="F5F3EE"/>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640080" y="457200"/>
            <a:ext cx="10911535" cy="731520"/>
          </a:xfrm>
          <a:prstGeom prst="rect">
            <a:avLst/>
          </a:prstGeom>
          <a:noFill/>
          <a:ln/>
        </p:spPr>
        <p:txBody>
          <a:bodyPr wrap="square" rtlCol="0"/>
          <a:lstStyle>
            <a:lvl1pPr algn="l" indent="0" marL="0">
              <a:buNone/>
              <a:defRPr lang="en-US" sz="3200" b="1" dirty="0">
                <a:solidFill>
                  <a:srgbClr val="14213D"/>
                </a:solidFill>
                <a:latin typeface="Arial" pitchFamily="34" charset="0"/>
                <a:ea typeface="Arial" pitchFamily="34" charset="-122"/>
                <a:cs typeface="Arial" pitchFamily="34" charset="-120"/>
              </a:defRPr>
            </a:lvl1pPr>
          </a:lstStyle>
          <a:p>
            <a:pPr algn="l" indent="0" marL="0">
              <a:buNone/>
            </a:pPr>
            <a:endParaRPr lang="en-US" sz="3200" dirty="0"/>
          </a:p>
        </p:txBody>
      </p:sp>
      <p:sp>
        <p:nvSpPr>
          <p:cNvPr id="3" name="Text 0"/>
          <p:cNvSpPr/>
          <p:nvPr>
            <p:ph idx="101" type="body" hasCustomPrompt="1"/>
          </p:nvPr>
        </p:nvSpPr>
        <p:spPr>
          <a:xfrm>
            <a:off x="640080" y="1170432"/>
            <a:ext cx="10911535" cy="365760"/>
          </a:xfrm>
          <a:prstGeom prst="rect">
            <a:avLst/>
          </a:prstGeom>
          <a:noFill/>
          <a:ln/>
        </p:spPr>
        <p:txBody>
          <a:bodyPr wrap="square" rtlCol="0"/>
          <a:lstStyle>
            <a:lvl1pPr algn="l" indent="0" marL="0">
              <a:buNone/>
              <a:defRPr lang="en-US" sz="1500" b="1" dirty="0">
                <a:solidFill>
                  <a:srgbClr val="B45F06"/>
                </a:solidFill>
                <a:latin typeface="Arial" pitchFamily="34" charset="0"/>
                <a:ea typeface="Arial" pitchFamily="34" charset="-122"/>
                <a:cs typeface="Arial" pitchFamily="34" charset="-120"/>
              </a:defRPr>
            </a:lvl1pPr>
          </a:lstStyle>
          <a:p>
            <a:pPr algn="l" indent="0" marL="0">
              <a:buNone/>
            </a:pPr>
            <a:endParaRPr lang="en-US" sz="15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A6373"/>
                </a:solidFill>
                <a:latin typeface="Arial"/>
                <a:ea typeface="Arial"/>
                <a:cs typeface="Aria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UVERTURE">
    <p:bg>
      <p:bgPr>
        <a:solidFill>
          <a:srgbClr val="14213D"/>
        </a:solidFill>
      </p:bgPr>
    </p:bg>
    <p:spTree>
      <p:nvGrpSpPr>
        <p:cNvPr id="1" name=""/>
        <p:cNvGrpSpPr/>
        <p:nvPr/>
      </p:nvGrpSpPr>
      <p:grpSpPr>
        <a:xfrm>
          <a:off x="0" y="0"/>
          <a:ext cx="0" cy="0"/>
          <a:chOff x="0" y="0"/>
          <a:chExt cx="0" cy="0"/>
        </a:xfrm>
      </p:grpSpPr>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CONCLUSION">
    <p:bg>
      <p:bgPr>
        <a:solidFill>
          <a:srgbClr val="FCA311"/>
        </a:solidFill>
      </p:bgPr>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14213D"/>
                </a:solidFill>
                <a:latin typeface="Arial"/>
                <a:ea typeface="Arial"/>
                <a:cs typeface="Arial"/>
              </a:defRPr>
            </a:lvl1pPr>
          </a:lstStyle>
          <a:p>
            <a:pPr algn="r"/>
            <a:fld id="{F7021451-1387-4CA6-816F-3879F97B5CBC}" type="slidenum">
              <a:rPr b="0" lang="en-US"/>
              <a:t>1005</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AA3B2"/>
                </a:solidFill>
                <a:latin typeface="Arial"/>
                <a:ea typeface="Arial"/>
                <a:cs typeface="Aria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3.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Déco 1"/>
          <p:cNvSpPr/>
          <p:nvPr/>
        </p:nvSpPr>
        <p:spPr>
          <a:xfrm>
            <a:off x="8778240" y="914400"/>
            <a:ext cx="2011680" cy="1280160"/>
          </a:xfrm>
          <a:prstGeom prst="roundRect">
            <a:avLst>
              <a:gd name="adj" fmla="val 4286"/>
            </a:avLst>
          </a:prstGeom>
          <a:solidFill>
            <a:srgbClr val="FCA311"/>
          </a:solidFill>
          <a:ln w="12700">
            <a:solidFill>
              <a:srgbClr val="FCA311"/>
            </a:solidFill>
            <a:prstDash val="solid"/>
          </a:ln>
        </p:spPr>
      </p:sp>
      <p:sp>
        <p:nvSpPr>
          <p:cNvPr id="3" name="Déco 2"/>
          <p:cNvSpPr/>
          <p:nvPr/>
        </p:nvSpPr>
        <p:spPr>
          <a:xfrm>
            <a:off x="9326880" y="1463040"/>
            <a:ext cx="2011680" cy="1280160"/>
          </a:xfrm>
          <a:prstGeom prst="roundRect">
            <a:avLst>
              <a:gd name="adj" fmla="val 4286"/>
            </a:avLst>
          </a:prstGeom>
          <a:solidFill>
            <a:srgbClr val="1F3160"/>
          </a:solidFill>
          <a:ln w="12700">
            <a:solidFill>
              <a:srgbClr val="1F3160"/>
            </a:solidFill>
            <a:prstDash val="solid"/>
          </a:ln>
        </p:spPr>
      </p:sp>
      <p:sp>
        <p:nvSpPr>
          <p:cNvPr id="4" name="Déco 3"/>
          <p:cNvSpPr/>
          <p:nvPr/>
        </p:nvSpPr>
        <p:spPr>
          <a:xfrm>
            <a:off x="9875520" y="2011680"/>
            <a:ext cx="2011680" cy="1280160"/>
          </a:xfrm>
          <a:prstGeom prst="roundRect">
            <a:avLst>
              <a:gd name="adj" fmla="val 4286"/>
            </a:avLst>
          </a:prstGeom>
          <a:solidFill>
            <a:srgbClr val="3A4660"/>
          </a:solidFill>
          <a:ln w="12700">
            <a:solidFill>
              <a:srgbClr val="3A4660"/>
            </a:solidFill>
            <a:prstDash val="solid"/>
          </a:ln>
        </p:spPr>
      </p:sp>
      <p:sp>
        <p:nvSpPr>
          <p:cNvPr id="5" name="Text 3"/>
          <p:cNvSpPr txBox="1"/>
          <p:nvPr/>
        </p:nvSpPr>
        <p:spPr>
          <a:xfrm>
            <a:off x="640080" y="1874520"/>
            <a:ext cx="7863840" cy="274320"/>
          </a:xfrm>
          <a:prstGeom prst="rect">
            <a:avLst/>
          </a:prstGeom>
          <a:noFill/>
          <a:ln/>
        </p:spPr>
        <p:txBody>
          <a:bodyPr wrap="square" lIns="0" tIns="0" rIns="0" bIns="0" rtlCol="0" anchor="t"/>
          <a:lstStyle/>
          <a:p>
            <a:pPr indent="0" marL="0">
              <a:buNone/>
            </a:pPr>
            <a:r>
              <a:rPr lang="en-US" sz="1100" b="1" spc="300" kern="0" dirty="0">
                <a:solidFill>
                  <a:srgbClr val="FCA311"/>
                </a:solidFill>
                <a:latin typeface="Courier New" pitchFamily="34" charset="0"/>
                <a:ea typeface="Courier New" pitchFamily="34" charset="-122"/>
                <a:cs typeface="Courier New" pitchFamily="34" charset="-120"/>
              </a:rPr>
              <a:t>PROJET NOVACORP · M1 DFS INGÉNIERIE DE L’AUTOMATISATION</a:t>
            </a:r>
            <a:endParaRPr lang="en-US" sz="1100" dirty="0"/>
          </a:p>
        </p:txBody>
      </p:sp>
      <p:sp>
        <p:nvSpPr>
          <p:cNvPr id="6" name="Text 4"/>
          <p:cNvSpPr/>
          <p:nvPr/>
        </p:nvSpPr>
        <p:spPr>
          <a:xfrm>
            <a:off x="640080" y="2240280"/>
            <a:ext cx="7863840" cy="1371600"/>
          </a:xfrm>
          <a:prstGeom prst="rect">
            <a:avLst/>
          </a:prstGeom>
          <a:noFill/>
          <a:ln/>
        </p:spPr>
        <p:txBody>
          <a:bodyPr wrap="square" lIns="0" tIns="0" rIns="0" bIns="0" rtlCol="0" anchor="t"/>
          <a:lstStyle/>
          <a:p>
            <a:pPr indent="0" marL="0">
              <a:buNone/>
            </a:pPr>
            <a:r>
              <a:rPr lang="en-US" sz="4000" b="1" dirty="0">
                <a:solidFill>
                  <a:srgbClr val="FFFFFF"/>
                </a:solidFill>
                <a:latin typeface="Arial" pitchFamily="34" charset="0"/>
                <a:ea typeface="Arial" pitchFamily="34" charset="-122"/>
                <a:cs typeface="Arial" pitchFamily="34" charset="-120"/>
              </a:rPr>
              <a:t>Automatiser les demandes internes</a:t>
            </a:r>
            <a:endParaRPr lang="en-US" sz="4000" dirty="0"/>
          </a:p>
        </p:txBody>
      </p:sp>
      <p:sp>
        <p:nvSpPr>
          <p:cNvPr id="7" name="Text 5"/>
          <p:cNvSpPr txBox="1"/>
          <p:nvPr/>
        </p:nvSpPr>
        <p:spPr>
          <a:xfrm>
            <a:off x="640080" y="3703320"/>
            <a:ext cx="7680960" cy="822960"/>
          </a:xfrm>
          <a:prstGeom prst="rect">
            <a:avLst/>
          </a:prstGeom>
          <a:noFill/>
          <a:ln/>
        </p:spPr>
        <p:txBody>
          <a:bodyPr wrap="square" lIns="0" tIns="0" rIns="0" bIns="0" rtlCol="0" anchor="t"/>
          <a:lstStyle/>
          <a:p>
            <a:pPr indent="0" marL="0">
              <a:buNone/>
            </a:pPr>
            <a:r>
              <a:rPr lang="en-US" sz="1700" dirty="0">
                <a:solidFill>
                  <a:srgbClr val="C9D1DE"/>
                </a:solidFill>
                <a:latin typeface="Arial" pitchFamily="34" charset="0"/>
                <a:ea typeface="Arial" pitchFamily="34" charset="-122"/>
                <a:cs typeface="Arial" pitchFamily="34" charset="-120"/>
              </a:rPr>
              <a:t>D’une validation par e-mail, sans suivi ni délai, à un workflow tracé, relancé et assisté par l’IA, en ligne pour 127 employés.</a:t>
            </a:r>
            <a:endParaRPr lang="en-US" sz="1700" dirty="0"/>
          </a:p>
        </p:txBody>
      </p:sp>
      <p:sp>
        <p:nvSpPr>
          <p:cNvPr id="8" name="Text 6"/>
          <p:cNvSpPr txBox="1"/>
          <p:nvPr/>
        </p:nvSpPr>
        <p:spPr>
          <a:xfrm>
            <a:off x="640080" y="4663440"/>
            <a:ext cx="7680960" cy="320040"/>
          </a:xfrm>
          <a:prstGeom prst="rect">
            <a:avLst/>
          </a:prstGeom>
          <a:noFill/>
          <a:ln/>
        </p:spPr>
        <p:txBody>
          <a:bodyPr wrap="square" lIns="0" tIns="0" rIns="0" bIns="0" rtlCol="0" anchor="t"/>
          <a:lstStyle/>
          <a:p>
            <a:pPr indent="0" marL="0">
              <a:buNone/>
            </a:pPr>
            <a:r>
              <a:rPr lang="en-US" sz="1300" b="1" dirty="0">
                <a:solidFill>
                  <a:srgbClr val="FCA311"/>
                </a:solidFill>
                <a:latin typeface="Arial" pitchFamily="34" charset="0"/>
                <a:ea typeface="Arial" pitchFamily="34" charset="-122"/>
                <a:cs typeface="Arial" pitchFamily="34" charset="-120"/>
              </a:rPr>
              <a:t>Site en ligne : novacorp-0s8h.onrender.com</a:t>
            </a:r>
            <a:endParaRPr lang="en-US" sz="1300" dirty="0"/>
          </a:p>
        </p:txBody>
      </p:sp>
      <p:sp>
        <p:nvSpPr>
          <p:cNvPr id="9" name="Text 7"/>
          <p:cNvSpPr txBox="1"/>
          <p:nvPr/>
        </p:nvSpPr>
        <p:spPr>
          <a:xfrm>
            <a:off x="640080" y="5897880"/>
            <a:ext cx="5486400" cy="274320"/>
          </a:xfrm>
          <a:prstGeom prst="rect">
            <a:avLst/>
          </a:prstGeom>
          <a:noFill/>
          <a:ln/>
        </p:spPr>
        <p:txBody>
          <a:bodyPr wrap="square" lIns="0" tIns="0" rIns="0" bIns="0" rtlCol="0" anchor="t"/>
          <a:lstStyle/>
          <a:p>
            <a:pPr indent="0" marL="0">
              <a:buNone/>
            </a:pPr>
            <a:r>
              <a:rPr lang="en-US" sz="1100" dirty="0">
                <a:solidFill>
                  <a:srgbClr val="9AA3B2"/>
                </a:solidFill>
                <a:latin typeface="Arial" pitchFamily="34" charset="0"/>
                <a:ea typeface="Arial" pitchFamily="34" charset="-122"/>
                <a:cs typeface="Arial" pitchFamily="34" charset="-120"/>
              </a:rPr>
              <a:t>Arthur · Ashley NGAMGA</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640080" y="457200"/>
            <a:ext cx="10911535" cy="731520"/>
          </a:xfrm>
          <a:prstGeom prst="rect">
            <a:avLst/>
          </a:prstGeom>
          <a:noFill/>
          <a:ln/>
        </p:spPr>
        <p:txBody>
          <a:bodyPr wrap="square" lIns="0" tIns="0" rIns="0" bIns="0" rtlCol="0" anchor="t"/>
          <a:lstStyle/>
          <a:p>
            <a:pPr algn="l" indent="0" marL="0">
              <a:buNone/>
            </a:pPr>
            <a:r>
              <a:rPr lang="en-US" sz="3200" b="1" dirty="0">
                <a:solidFill>
                  <a:srgbClr val="14213D"/>
                </a:solidFill>
                <a:latin typeface="Arial" pitchFamily="34" charset="0"/>
                <a:ea typeface="Arial" pitchFamily="34" charset="-122"/>
                <a:cs typeface="Arial" pitchFamily="34" charset="-120"/>
              </a:rPr>
              <a:t>Le besoin : des demandes perdues dans les e-mails</a:t>
            </a:r>
            <a:endParaRPr lang="en-US" sz="3200" dirty="0"/>
          </a:p>
        </p:txBody>
      </p:sp>
      <p:sp>
        <p:nvSpPr>
          <p:cNvPr id="3" name="Text 0"/>
          <p:cNvSpPr/>
          <p:nvPr>
            <p:ph idx="101" type="body" hasCustomPrompt="1"/>
          </p:nvPr>
        </p:nvSpPr>
        <p:spPr>
          <a:xfrm>
            <a:off x="640080" y="1170432"/>
            <a:ext cx="10911535" cy="365760"/>
          </a:xfrm>
          <a:prstGeom prst="rect">
            <a:avLst/>
          </a:prstGeom>
          <a:noFill/>
          <a:ln/>
        </p:spPr>
        <p:txBody>
          <a:bodyPr wrap="square" lIns="0" tIns="0" rIns="0" bIns="0" rtlCol="0" anchor="ctr"/>
          <a:lstStyle/>
          <a:p>
            <a:pPr algn="l" indent="0" marL="0">
              <a:buNone/>
            </a:pPr>
            <a:r>
              <a:rPr lang="en-US" sz="1500" b="1" dirty="0">
                <a:solidFill>
                  <a:srgbClr val="B45F06"/>
                </a:solidFill>
                <a:latin typeface="Arial" pitchFamily="34" charset="0"/>
                <a:ea typeface="Arial" pitchFamily="34" charset="-122"/>
                <a:cs typeface="Arial" pitchFamily="34" charset="-120"/>
              </a:rPr>
              <a:t>Le point de départ : une application existante, mais une validation non outillée</a:t>
            </a:r>
            <a:endParaRPr lang="en-US" sz="1500" dirty="0"/>
          </a:p>
        </p:txBody>
      </p:sp>
      <p:sp>
        <p:nvSpPr>
          <p:cNvPr id="4" name="Chiffre 1"/>
          <p:cNvSpPr/>
          <p:nvPr/>
        </p:nvSpPr>
        <p:spPr>
          <a:xfrm>
            <a:off x="640080" y="1874520"/>
            <a:ext cx="3454298" cy="2286000"/>
          </a:xfrm>
          <a:prstGeom prst="roundRect">
            <a:avLst>
              <a:gd name="adj" fmla="val 2400"/>
            </a:avLst>
          </a:prstGeom>
          <a:solidFill>
            <a:srgbClr val="E6E2D8"/>
          </a:solidFill>
          <a:ln w="12700">
            <a:solidFill>
              <a:srgbClr val="E6E2D8"/>
            </a:solidFill>
            <a:prstDash val="solid"/>
          </a:ln>
        </p:spPr>
      </p:sp>
      <p:sp>
        <p:nvSpPr>
          <p:cNvPr id="5" name="Text 3"/>
          <p:cNvSpPr txBox="1"/>
          <p:nvPr/>
        </p:nvSpPr>
        <p:spPr>
          <a:xfrm>
            <a:off x="914400" y="2057400"/>
            <a:ext cx="2905658" cy="822960"/>
          </a:xfrm>
          <a:prstGeom prst="rect">
            <a:avLst/>
          </a:prstGeom>
          <a:noFill/>
          <a:ln/>
        </p:spPr>
        <p:txBody>
          <a:bodyPr wrap="square" lIns="0" tIns="0" rIns="0" bIns="0" rtlCol="0" anchor="t"/>
          <a:lstStyle/>
          <a:p>
            <a:pPr indent="0" marL="0">
              <a:buNone/>
            </a:pPr>
            <a:r>
              <a:rPr lang="en-US" sz="4400" b="1" dirty="0">
                <a:solidFill>
                  <a:srgbClr val="14213D"/>
                </a:solidFill>
                <a:latin typeface="Arial" pitchFamily="34" charset="0"/>
                <a:ea typeface="Arial" pitchFamily="34" charset="-122"/>
                <a:cs typeface="Arial" pitchFamily="34" charset="-120"/>
              </a:rPr>
              <a:t>127</a:t>
            </a:r>
            <a:endParaRPr lang="en-US" sz="4400" dirty="0"/>
          </a:p>
        </p:txBody>
      </p:sp>
      <p:sp>
        <p:nvSpPr>
          <p:cNvPr id="6" name="Text 4"/>
          <p:cNvSpPr txBox="1"/>
          <p:nvPr/>
        </p:nvSpPr>
        <p:spPr>
          <a:xfrm>
            <a:off x="914400" y="2971800"/>
            <a:ext cx="2905658" cy="1051560"/>
          </a:xfrm>
          <a:prstGeom prst="rect">
            <a:avLst/>
          </a:prstGeom>
          <a:noFill/>
          <a:ln/>
        </p:spPr>
        <p:txBody>
          <a:bodyPr wrap="square" lIns="0" tIns="0" rIns="0" bIns="0" rtlCol="0" anchor="t"/>
          <a:lstStyle/>
          <a:p>
            <a:pPr indent="0" marL="0">
              <a:buNone/>
            </a:pPr>
            <a:r>
              <a:rPr lang="en-US" sz="1500" dirty="0">
                <a:solidFill>
                  <a:srgbClr val="3A4660"/>
                </a:solidFill>
                <a:latin typeface="Arial" pitchFamily="34" charset="0"/>
                <a:ea typeface="Arial" pitchFamily="34" charset="-122"/>
                <a:cs typeface="Arial" pitchFamily="34" charset="-120"/>
              </a:rPr>
              <a:t>employés actifs, 7 rôles : direction, managers, RH, comptabilité, dev, commerciaux, admin</a:t>
            </a:r>
            <a:endParaRPr lang="en-US" sz="1500" dirty="0"/>
          </a:p>
        </p:txBody>
      </p:sp>
      <p:sp>
        <p:nvSpPr>
          <p:cNvPr id="7" name="Chiffre 2"/>
          <p:cNvSpPr/>
          <p:nvPr/>
        </p:nvSpPr>
        <p:spPr>
          <a:xfrm>
            <a:off x="4368698" y="1874520"/>
            <a:ext cx="3454298" cy="2286000"/>
          </a:xfrm>
          <a:prstGeom prst="roundRect">
            <a:avLst>
              <a:gd name="adj" fmla="val 2400"/>
            </a:avLst>
          </a:prstGeom>
          <a:solidFill>
            <a:srgbClr val="E6E2D8"/>
          </a:solidFill>
          <a:ln w="12700">
            <a:solidFill>
              <a:srgbClr val="E6E2D8"/>
            </a:solidFill>
            <a:prstDash val="solid"/>
          </a:ln>
        </p:spPr>
      </p:sp>
      <p:sp>
        <p:nvSpPr>
          <p:cNvPr id="8" name="Text 6"/>
          <p:cNvSpPr txBox="1"/>
          <p:nvPr/>
        </p:nvSpPr>
        <p:spPr>
          <a:xfrm>
            <a:off x="4643018" y="2057400"/>
            <a:ext cx="2905658" cy="822960"/>
          </a:xfrm>
          <a:prstGeom prst="rect">
            <a:avLst/>
          </a:prstGeom>
          <a:noFill/>
          <a:ln/>
        </p:spPr>
        <p:txBody>
          <a:bodyPr wrap="square" lIns="0" tIns="0" rIns="0" bIns="0" rtlCol="0" anchor="t"/>
          <a:lstStyle/>
          <a:p>
            <a:pPr indent="0" marL="0">
              <a:buNone/>
            </a:pPr>
            <a:r>
              <a:rPr lang="en-US" sz="4400" b="1" dirty="0">
                <a:solidFill>
                  <a:srgbClr val="14213D"/>
                </a:solidFill>
                <a:latin typeface="Arial" pitchFamily="34" charset="0"/>
                <a:ea typeface="Arial" pitchFamily="34" charset="-122"/>
                <a:cs typeface="Arial" pitchFamily="34" charset="-120"/>
              </a:rPr>
              <a:t>0</a:t>
            </a:r>
            <a:endParaRPr lang="en-US" sz="4400" dirty="0"/>
          </a:p>
        </p:txBody>
      </p:sp>
      <p:sp>
        <p:nvSpPr>
          <p:cNvPr id="9" name="Text 7"/>
          <p:cNvSpPr txBox="1"/>
          <p:nvPr/>
        </p:nvSpPr>
        <p:spPr>
          <a:xfrm>
            <a:off x="4643018" y="2971800"/>
            <a:ext cx="2905658" cy="1051560"/>
          </a:xfrm>
          <a:prstGeom prst="rect">
            <a:avLst/>
          </a:prstGeom>
          <a:noFill/>
          <a:ln/>
        </p:spPr>
        <p:txBody>
          <a:bodyPr wrap="square" lIns="0" tIns="0" rIns="0" bIns="0" rtlCol="0" anchor="t"/>
          <a:lstStyle/>
          <a:p>
            <a:pPr indent="0" marL="0">
              <a:buNone/>
            </a:pPr>
            <a:r>
              <a:rPr lang="en-US" sz="1500" dirty="0">
                <a:solidFill>
                  <a:srgbClr val="3A4660"/>
                </a:solidFill>
                <a:latin typeface="Arial" pitchFamily="34" charset="0"/>
                <a:ea typeface="Arial" pitchFamily="34" charset="-122"/>
                <a:cs typeface="Arial" pitchFamily="34" charset="-120"/>
              </a:rPr>
              <a:t>traçabilité : le manager valide en répondant au mail, le statut est changé à la main</a:t>
            </a:r>
            <a:endParaRPr lang="en-US" sz="1500" dirty="0"/>
          </a:p>
        </p:txBody>
      </p:sp>
      <p:sp>
        <p:nvSpPr>
          <p:cNvPr id="10" name="Chiffre 3"/>
          <p:cNvSpPr/>
          <p:nvPr/>
        </p:nvSpPr>
        <p:spPr>
          <a:xfrm>
            <a:off x="8097317" y="1874520"/>
            <a:ext cx="3454298" cy="2286000"/>
          </a:xfrm>
          <a:prstGeom prst="roundRect">
            <a:avLst>
              <a:gd name="adj" fmla="val 2400"/>
            </a:avLst>
          </a:prstGeom>
          <a:solidFill>
            <a:srgbClr val="E6E2D8"/>
          </a:solidFill>
          <a:ln w="12700">
            <a:solidFill>
              <a:srgbClr val="E6E2D8"/>
            </a:solidFill>
            <a:prstDash val="solid"/>
          </a:ln>
        </p:spPr>
      </p:sp>
      <p:sp>
        <p:nvSpPr>
          <p:cNvPr id="11" name="Text 9"/>
          <p:cNvSpPr txBox="1"/>
          <p:nvPr/>
        </p:nvSpPr>
        <p:spPr>
          <a:xfrm>
            <a:off x="8371637" y="2057400"/>
            <a:ext cx="2905658" cy="822960"/>
          </a:xfrm>
          <a:prstGeom prst="rect">
            <a:avLst/>
          </a:prstGeom>
          <a:noFill/>
          <a:ln/>
        </p:spPr>
        <p:txBody>
          <a:bodyPr wrap="square" lIns="0" tIns="0" rIns="0" bIns="0" rtlCol="0" anchor="t"/>
          <a:lstStyle/>
          <a:p>
            <a:pPr indent="0" marL="0">
              <a:buNone/>
            </a:pPr>
            <a:r>
              <a:rPr lang="en-US" sz="4400" b="1" dirty="0">
                <a:solidFill>
                  <a:srgbClr val="14213D"/>
                </a:solidFill>
                <a:latin typeface="Arial" pitchFamily="34" charset="0"/>
                <a:ea typeface="Arial" pitchFamily="34" charset="-122"/>
                <a:cs typeface="Arial" pitchFamily="34" charset="-120"/>
              </a:rPr>
              <a:t>Aucun</a:t>
            </a:r>
            <a:endParaRPr lang="en-US" sz="4400" dirty="0"/>
          </a:p>
        </p:txBody>
      </p:sp>
      <p:sp>
        <p:nvSpPr>
          <p:cNvPr id="12" name="Text 10"/>
          <p:cNvSpPr txBox="1"/>
          <p:nvPr/>
        </p:nvSpPr>
        <p:spPr>
          <a:xfrm>
            <a:off x="8371637" y="2971800"/>
            <a:ext cx="2905658" cy="1051560"/>
          </a:xfrm>
          <a:prstGeom prst="rect">
            <a:avLst/>
          </a:prstGeom>
          <a:noFill/>
          <a:ln/>
        </p:spPr>
        <p:txBody>
          <a:bodyPr wrap="square" lIns="0" tIns="0" rIns="0" bIns="0" rtlCol="0" anchor="t"/>
          <a:lstStyle/>
          <a:p>
            <a:pPr indent="0" marL="0">
              <a:buNone/>
            </a:pPr>
            <a:r>
              <a:rPr lang="en-US" sz="1500" dirty="0">
                <a:solidFill>
                  <a:srgbClr val="3A4660"/>
                </a:solidFill>
                <a:latin typeface="Arial" pitchFamily="34" charset="0"/>
                <a:ea typeface="Arial" pitchFamily="34" charset="-122"/>
                <a:cs typeface="Arial" pitchFamily="34" charset="-120"/>
              </a:rPr>
              <a:t>délai : pas de date limite, les relances se font par téléphone</a:t>
            </a:r>
            <a:endParaRPr lang="en-US" sz="1500" dirty="0"/>
          </a:p>
        </p:txBody>
      </p:sp>
      <p:sp>
        <p:nvSpPr>
          <p:cNvPr id="13" name="Fil rouge"/>
          <p:cNvSpPr/>
          <p:nvPr/>
        </p:nvSpPr>
        <p:spPr>
          <a:xfrm>
            <a:off x="640080" y="4480560"/>
            <a:ext cx="10911535" cy="1691640"/>
          </a:xfrm>
          <a:prstGeom prst="roundRect">
            <a:avLst>
              <a:gd name="adj" fmla="val 3243"/>
            </a:avLst>
          </a:prstGeom>
          <a:solidFill>
            <a:srgbClr val="14213D"/>
          </a:solidFill>
          <a:ln w="12700">
            <a:solidFill>
              <a:srgbClr val="14213D"/>
            </a:solidFill>
            <a:prstDash val="solid"/>
          </a:ln>
        </p:spPr>
      </p:sp>
      <p:sp>
        <p:nvSpPr>
          <p:cNvPr id="14" name="Text 12"/>
          <p:cNvSpPr txBox="1"/>
          <p:nvPr/>
        </p:nvSpPr>
        <p:spPr>
          <a:xfrm>
            <a:off x="960120" y="4663440"/>
            <a:ext cx="4572000" cy="274320"/>
          </a:xfrm>
          <a:prstGeom prst="rect">
            <a:avLst/>
          </a:prstGeom>
          <a:noFill/>
          <a:ln/>
        </p:spPr>
        <p:txBody>
          <a:bodyPr wrap="square" lIns="0" tIns="0" rIns="0" bIns="0" rtlCol="0" anchor="t"/>
          <a:lstStyle/>
          <a:p>
            <a:pPr indent="0" marL="0">
              <a:buNone/>
            </a:pPr>
            <a:r>
              <a:rPr lang="en-US" sz="1200" b="1" dirty="0">
                <a:solidFill>
                  <a:srgbClr val="FCA311"/>
                </a:solidFill>
                <a:latin typeface="Arial" pitchFamily="34" charset="0"/>
                <a:ea typeface="Arial" pitchFamily="34" charset="-122"/>
                <a:cs typeface="Arial" pitchFamily="34" charset="-120"/>
              </a:rPr>
              <a:t>Le fil rouge</a:t>
            </a:r>
            <a:endParaRPr lang="en-US" sz="1200" dirty="0"/>
          </a:p>
        </p:txBody>
      </p:sp>
      <p:sp>
        <p:nvSpPr>
          <p:cNvPr id="15" name="Text 13"/>
          <p:cNvSpPr txBox="1"/>
          <p:nvPr/>
        </p:nvSpPr>
        <p:spPr>
          <a:xfrm>
            <a:off x="960120" y="4983480"/>
            <a:ext cx="10271455" cy="1005840"/>
          </a:xfrm>
          <a:prstGeom prst="rect">
            <a:avLst/>
          </a:prstGeom>
          <a:noFill/>
          <a:ln/>
        </p:spPr>
        <p:txBody>
          <a:bodyPr wrap="square" lIns="0" tIns="0" rIns="0" bIns="0" rtlCol="0" anchor="t"/>
          <a:lstStyle/>
          <a:p>
            <a:pPr indent="0" marL="0">
              <a:buNone/>
            </a:pPr>
            <a:r>
              <a:rPr lang="en-US" sz="1500" dirty="0">
                <a:solidFill>
                  <a:srgbClr val="FFFFFF"/>
                </a:solidFill>
                <a:latin typeface="Arial" pitchFamily="34" charset="0"/>
                <a:ea typeface="Arial" pitchFamily="34" charset="-122"/>
                <a:cs typeface="Arial" pitchFamily="34" charset="-120"/>
              </a:rPr>
              <a:t>Une demande créée dans l’application doit déclencher le workflow, la notification doit arriver, et un agent doit pouvoir répondre aux questions RH. Scénario imposé S1 (notifier le manager), et nous avons aussi couvert S2 à S5 : validation à deux niveaux, relances, récapitulatif, onboarding.</a:t>
            </a:r>
            <a:endParaRPr lang="en-US" sz="15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A6373"/>
                </a:solidFill>
                <a:latin typeface="Arial"/>
                <a:ea typeface="Arial"/>
                <a:cs typeface="Aria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640080" y="457200"/>
            <a:ext cx="10911535" cy="731520"/>
          </a:xfrm>
          <a:prstGeom prst="rect">
            <a:avLst/>
          </a:prstGeom>
          <a:noFill/>
          <a:ln/>
        </p:spPr>
        <p:txBody>
          <a:bodyPr wrap="square" lIns="0" tIns="0" rIns="0" bIns="0" rtlCol="0" anchor="t"/>
          <a:lstStyle/>
          <a:p>
            <a:pPr algn="l" indent="0" marL="0">
              <a:buNone/>
            </a:pPr>
            <a:r>
              <a:rPr lang="en-US" sz="3200" b="1" dirty="0">
                <a:solidFill>
                  <a:srgbClr val="FFFFFF"/>
                </a:solidFill>
                <a:latin typeface="Arial" pitchFamily="34" charset="0"/>
                <a:ea typeface="Arial" pitchFamily="34" charset="-122"/>
                <a:cs typeface="Arial" pitchFamily="34" charset="-120"/>
              </a:rPr>
              <a:t>Ce que nous avons livré</a:t>
            </a:r>
            <a:endParaRPr lang="en-US" sz="3200" dirty="0"/>
          </a:p>
        </p:txBody>
      </p:sp>
      <p:sp>
        <p:nvSpPr>
          <p:cNvPr id="3" name="Text 0"/>
          <p:cNvSpPr/>
          <p:nvPr>
            <p:ph idx="101" type="body" hasCustomPrompt="1"/>
          </p:nvPr>
        </p:nvSpPr>
        <p:spPr>
          <a:xfrm>
            <a:off x="640080" y="1170432"/>
            <a:ext cx="10911535" cy="365760"/>
          </a:xfrm>
          <a:prstGeom prst="rect">
            <a:avLst/>
          </a:prstGeom>
          <a:noFill/>
          <a:ln/>
        </p:spPr>
        <p:txBody>
          <a:bodyPr wrap="square" lIns="0" tIns="0" rIns="0" bIns="0" rtlCol="0" anchor="ctr"/>
          <a:lstStyle/>
          <a:p>
            <a:pPr algn="l" indent="0" marL="0">
              <a:buNone/>
            </a:pPr>
            <a:r>
              <a:rPr lang="en-US" sz="1500" b="1" dirty="0">
                <a:solidFill>
                  <a:srgbClr val="FCA311"/>
                </a:solidFill>
                <a:latin typeface="Arial" pitchFamily="34" charset="0"/>
                <a:ea typeface="Arial" pitchFamily="34" charset="-122"/>
                <a:cs typeface="Arial" pitchFamily="34" charset="-120"/>
              </a:rPr>
              <a:t>Six résultats, tous démontrables dans l’application</a:t>
            </a:r>
            <a:endParaRPr lang="en-US" sz="1500" dirty="0"/>
          </a:p>
        </p:txBody>
      </p:sp>
      <p:sp>
        <p:nvSpPr>
          <p:cNvPr id="4" name="Circuit de validation"/>
          <p:cNvSpPr/>
          <p:nvPr/>
        </p:nvSpPr>
        <p:spPr>
          <a:xfrm>
            <a:off x="640080" y="1783080"/>
            <a:ext cx="3454298" cy="2057400"/>
          </a:xfrm>
          <a:prstGeom prst="roundRect">
            <a:avLst>
              <a:gd name="adj" fmla="val 2667"/>
            </a:avLst>
          </a:prstGeom>
          <a:solidFill>
            <a:srgbClr val="1F3160"/>
          </a:solidFill>
          <a:ln w="12700">
            <a:solidFill>
              <a:srgbClr val="1F3160"/>
            </a:solidFill>
            <a:prstDash val="solid"/>
          </a:ln>
        </p:spPr>
      </p:sp>
      <p:sp>
        <p:nvSpPr>
          <p:cNvPr id="5" name="Shape 3"/>
          <p:cNvSpPr/>
          <p:nvPr/>
        </p:nvSpPr>
        <p:spPr>
          <a:xfrm>
            <a:off x="914400" y="2057400"/>
            <a:ext cx="384048" cy="384048"/>
          </a:xfrm>
          <a:prstGeom prst="ellipse">
            <a:avLst/>
          </a:prstGeom>
          <a:solidFill>
            <a:srgbClr val="FCA311"/>
          </a:solidFill>
          <a:ln w="12700">
            <a:solidFill>
              <a:srgbClr val="FCA311"/>
            </a:solidFill>
            <a:prstDash val="solid"/>
          </a:ln>
        </p:spPr>
      </p:sp>
      <p:sp>
        <p:nvSpPr>
          <p:cNvPr id="6" name="Text 4"/>
          <p:cNvSpPr txBox="1"/>
          <p:nvPr/>
        </p:nvSpPr>
        <p:spPr>
          <a:xfrm>
            <a:off x="914400" y="2057400"/>
            <a:ext cx="384048" cy="384048"/>
          </a:xfrm>
          <a:prstGeom prst="rect">
            <a:avLst/>
          </a:prstGeom>
          <a:noFill/>
          <a:ln/>
        </p:spPr>
        <p:txBody>
          <a:bodyPr wrap="square" lIns="0" tIns="0" rIns="0" bIns="0" rtlCol="0" anchor="ctr"/>
          <a:lstStyle/>
          <a:p>
            <a:pPr algn="ctr" indent="0" marL="0">
              <a:buNone/>
            </a:pPr>
            <a:r>
              <a:rPr lang="en-US" sz="1500" b="1" dirty="0">
                <a:solidFill>
                  <a:srgbClr val="14213D"/>
                </a:solidFill>
                <a:latin typeface="Arial" pitchFamily="34" charset="0"/>
                <a:ea typeface="Arial" pitchFamily="34" charset="-122"/>
                <a:cs typeface="Arial" pitchFamily="34" charset="-120"/>
              </a:rPr>
              <a:t>1</a:t>
            </a:r>
            <a:endParaRPr lang="en-US" sz="1500" dirty="0"/>
          </a:p>
        </p:txBody>
      </p:sp>
      <p:sp>
        <p:nvSpPr>
          <p:cNvPr id="7" name="Text 5"/>
          <p:cNvSpPr txBox="1"/>
          <p:nvPr/>
        </p:nvSpPr>
        <p:spPr>
          <a:xfrm>
            <a:off x="1463040" y="2057400"/>
            <a:ext cx="2402738" cy="384048"/>
          </a:xfrm>
          <a:prstGeom prst="rect">
            <a:avLst/>
          </a:prstGeom>
          <a:noFill/>
          <a:ln/>
        </p:spPr>
        <p:txBody>
          <a:bodyPr wrap="square" lIns="0" tIns="0" rIns="0" bIns="0" rtlCol="0" anchor="ctr"/>
          <a:lstStyle/>
          <a:p>
            <a:pPr indent="0" marL="0">
              <a:buNone/>
            </a:pPr>
            <a:r>
              <a:rPr lang="en-US" sz="1600" b="1" dirty="0">
                <a:solidFill>
                  <a:srgbClr val="FFFFFF"/>
                </a:solidFill>
                <a:latin typeface="Arial" pitchFamily="34" charset="0"/>
                <a:ea typeface="Arial" pitchFamily="34" charset="-122"/>
                <a:cs typeface="Arial" pitchFamily="34" charset="-120"/>
              </a:rPr>
              <a:t>Circuit de validation</a:t>
            </a:r>
            <a:endParaRPr lang="en-US" sz="1600" dirty="0"/>
          </a:p>
        </p:txBody>
      </p:sp>
      <p:sp>
        <p:nvSpPr>
          <p:cNvPr id="8" name="Text 6"/>
          <p:cNvSpPr txBox="1"/>
          <p:nvPr/>
        </p:nvSpPr>
        <p:spPr>
          <a:xfrm>
            <a:off x="914400" y="2606040"/>
            <a:ext cx="2905658" cy="1051560"/>
          </a:xfrm>
          <a:prstGeom prst="rect">
            <a:avLst/>
          </a:prstGeom>
          <a:noFill/>
          <a:ln/>
        </p:spPr>
        <p:txBody>
          <a:bodyPr wrap="square" lIns="0" tIns="0" rIns="0" bIns="0" rtlCol="0" anchor="t"/>
          <a:lstStyle/>
          <a:p>
            <a:pPr indent="0" marL="0">
              <a:buNone/>
            </a:pPr>
            <a:r>
              <a:rPr lang="en-US" sz="1300" dirty="0">
                <a:solidFill>
                  <a:srgbClr val="C9D1DE"/>
                </a:solidFill>
                <a:latin typeface="Arial" pitchFamily="34" charset="0"/>
                <a:ea typeface="Arial" pitchFamily="34" charset="-122"/>
                <a:cs typeface="Arial" pitchFamily="34" charset="-120"/>
              </a:rPr>
              <a:t>Manager, puis RH ou comptabilité selon la durée ou le montant. Décision en un clic depuis le mail.</a:t>
            </a:r>
            <a:endParaRPr lang="en-US" sz="1300" dirty="0"/>
          </a:p>
        </p:txBody>
      </p:sp>
      <p:sp>
        <p:nvSpPr>
          <p:cNvPr id="9" name="Relances automatiques"/>
          <p:cNvSpPr/>
          <p:nvPr/>
        </p:nvSpPr>
        <p:spPr>
          <a:xfrm>
            <a:off x="4368698" y="1783080"/>
            <a:ext cx="3454298" cy="2057400"/>
          </a:xfrm>
          <a:prstGeom prst="roundRect">
            <a:avLst>
              <a:gd name="adj" fmla="val 2667"/>
            </a:avLst>
          </a:prstGeom>
          <a:solidFill>
            <a:srgbClr val="1F3160"/>
          </a:solidFill>
          <a:ln w="12700">
            <a:solidFill>
              <a:srgbClr val="1F3160"/>
            </a:solidFill>
            <a:prstDash val="solid"/>
          </a:ln>
        </p:spPr>
      </p:sp>
      <p:sp>
        <p:nvSpPr>
          <p:cNvPr id="10" name="Shape 8"/>
          <p:cNvSpPr/>
          <p:nvPr/>
        </p:nvSpPr>
        <p:spPr>
          <a:xfrm>
            <a:off x="4643018" y="2057400"/>
            <a:ext cx="384048" cy="384048"/>
          </a:xfrm>
          <a:prstGeom prst="ellipse">
            <a:avLst/>
          </a:prstGeom>
          <a:solidFill>
            <a:srgbClr val="FCA311"/>
          </a:solidFill>
          <a:ln w="12700">
            <a:solidFill>
              <a:srgbClr val="FCA311"/>
            </a:solidFill>
            <a:prstDash val="solid"/>
          </a:ln>
        </p:spPr>
      </p:sp>
      <p:sp>
        <p:nvSpPr>
          <p:cNvPr id="11" name="Text 9"/>
          <p:cNvSpPr txBox="1"/>
          <p:nvPr/>
        </p:nvSpPr>
        <p:spPr>
          <a:xfrm>
            <a:off x="4643018" y="2057400"/>
            <a:ext cx="384048" cy="384048"/>
          </a:xfrm>
          <a:prstGeom prst="rect">
            <a:avLst/>
          </a:prstGeom>
          <a:noFill/>
          <a:ln/>
        </p:spPr>
        <p:txBody>
          <a:bodyPr wrap="square" lIns="0" tIns="0" rIns="0" bIns="0" rtlCol="0" anchor="ctr"/>
          <a:lstStyle/>
          <a:p>
            <a:pPr algn="ctr" indent="0" marL="0">
              <a:buNone/>
            </a:pPr>
            <a:r>
              <a:rPr lang="en-US" sz="1500" b="1" dirty="0">
                <a:solidFill>
                  <a:srgbClr val="14213D"/>
                </a:solidFill>
                <a:latin typeface="Arial" pitchFamily="34" charset="0"/>
                <a:ea typeface="Arial" pitchFamily="34" charset="-122"/>
                <a:cs typeface="Arial" pitchFamily="34" charset="-120"/>
              </a:rPr>
              <a:t>2</a:t>
            </a:r>
            <a:endParaRPr lang="en-US" sz="1500" dirty="0"/>
          </a:p>
        </p:txBody>
      </p:sp>
      <p:sp>
        <p:nvSpPr>
          <p:cNvPr id="12" name="Text 10"/>
          <p:cNvSpPr txBox="1"/>
          <p:nvPr/>
        </p:nvSpPr>
        <p:spPr>
          <a:xfrm>
            <a:off x="5191658" y="2057400"/>
            <a:ext cx="2402738" cy="384048"/>
          </a:xfrm>
          <a:prstGeom prst="rect">
            <a:avLst/>
          </a:prstGeom>
          <a:noFill/>
          <a:ln/>
        </p:spPr>
        <p:txBody>
          <a:bodyPr wrap="square" lIns="0" tIns="0" rIns="0" bIns="0" rtlCol="0" anchor="ctr"/>
          <a:lstStyle/>
          <a:p>
            <a:pPr indent="0" marL="0">
              <a:buNone/>
            </a:pPr>
            <a:r>
              <a:rPr lang="en-US" sz="1600" b="1" dirty="0">
                <a:solidFill>
                  <a:srgbClr val="FFFFFF"/>
                </a:solidFill>
                <a:latin typeface="Arial" pitchFamily="34" charset="0"/>
                <a:ea typeface="Arial" pitchFamily="34" charset="-122"/>
                <a:cs typeface="Arial" pitchFamily="34" charset="-120"/>
              </a:rPr>
              <a:t>Relances automatiques</a:t>
            </a:r>
            <a:endParaRPr lang="en-US" sz="1600" dirty="0"/>
          </a:p>
        </p:txBody>
      </p:sp>
      <p:sp>
        <p:nvSpPr>
          <p:cNvPr id="13" name="Text 11"/>
          <p:cNvSpPr txBox="1"/>
          <p:nvPr/>
        </p:nvSpPr>
        <p:spPr>
          <a:xfrm>
            <a:off x="4643018" y="2606040"/>
            <a:ext cx="2905658" cy="1051560"/>
          </a:xfrm>
          <a:prstGeom prst="rect">
            <a:avLst/>
          </a:prstGeom>
          <a:noFill/>
          <a:ln/>
        </p:spPr>
        <p:txBody>
          <a:bodyPr wrap="square" lIns="0" tIns="0" rIns="0" bIns="0" rtlCol="0" anchor="t"/>
          <a:lstStyle/>
          <a:p>
            <a:pPr indent="0" marL="0">
              <a:buNone/>
            </a:pPr>
            <a:r>
              <a:rPr lang="en-US" sz="1300" dirty="0">
                <a:solidFill>
                  <a:srgbClr val="C9D1DE"/>
                </a:solidFill>
                <a:latin typeface="Arial" pitchFamily="34" charset="0"/>
                <a:ea typeface="Arial" pitchFamily="34" charset="-122"/>
                <a:cs typeface="Arial" pitchFamily="34" charset="-120"/>
              </a:rPr>
              <a:t>Relance, rappel, escalade (RH + N+2), puis expiration. Délais réglables par la RH, en jours ouvrés.</a:t>
            </a:r>
            <a:endParaRPr lang="en-US" sz="1300" dirty="0"/>
          </a:p>
        </p:txBody>
      </p:sp>
      <p:sp>
        <p:nvSpPr>
          <p:cNvPr id="14" name="Traçabilité"/>
          <p:cNvSpPr/>
          <p:nvPr/>
        </p:nvSpPr>
        <p:spPr>
          <a:xfrm>
            <a:off x="8097317" y="1783080"/>
            <a:ext cx="3454298" cy="2057400"/>
          </a:xfrm>
          <a:prstGeom prst="roundRect">
            <a:avLst>
              <a:gd name="adj" fmla="val 2667"/>
            </a:avLst>
          </a:prstGeom>
          <a:solidFill>
            <a:srgbClr val="1F3160"/>
          </a:solidFill>
          <a:ln w="12700">
            <a:solidFill>
              <a:srgbClr val="1F3160"/>
            </a:solidFill>
            <a:prstDash val="solid"/>
          </a:ln>
        </p:spPr>
      </p:sp>
      <p:sp>
        <p:nvSpPr>
          <p:cNvPr id="15" name="Shape 13"/>
          <p:cNvSpPr/>
          <p:nvPr/>
        </p:nvSpPr>
        <p:spPr>
          <a:xfrm>
            <a:off x="8371637" y="2057400"/>
            <a:ext cx="384048" cy="384048"/>
          </a:xfrm>
          <a:prstGeom prst="ellipse">
            <a:avLst/>
          </a:prstGeom>
          <a:solidFill>
            <a:srgbClr val="FCA311"/>
          </a:solidFill>
          <a:ln w="12700">
            <a:solidFill>
              <a:srgbClr val="FCA311"/>
            </a:solidFill>
            <a:prstDash val="solid"/>
          </a:ln>
        </p:spPr>
      </p:sp>
      <p:sp>
        <p:nvSpPr>
          <p:cNvPr id="16" name="Text 14"/>
          <p:cNvSpPr txBox="1"/>
          <p:nvPr/>
        </p:nvSpPr>
        <p:spPr>
          <a:xfrm>
            <a:off x="8371637" y="2057400"/>
            <a:ext cx="384048" cy="384048"/>
          </a:xfrm>
          <a:prstGeom prst="rect">
            <a:avLst/>
          </a:prstGeom>
          <a:noFill/>
          <a:ln/>
        </p:spPr>
        <p:txBody>
          <a:bodyPr wrap="square" lIns="0" tIns="0" rIns="0" bIns="0" rtlCol="0" anchor="ctr"/>
          <a:lstStyle/>
          <a:p>
            <a:pPr algn="ctr" indent="0" marL="0">
              <a:buNone/>
            </a:pPr>
            <a:r>
              <a:rPr lang="en-US" sz="1500" b="1" dirty="0">
                <a:solidFill>
                  <a:srgbClr val="14213D"/>
                </a:solidFill>
                <a:latin typeface="Arial" pitchFamily="34" charset="0"/>
                <a:ea typeface="Arial" pitchFamily="34" charset="-122"/>
                <a:cs typeface="Arial" pitchFamily="34" charset="-120"/>
              </a:rPr>
              <a:t>3</a:t>
            </a:r>
            <a:endParaRPr lang="en-US" sz="1500" dirty="0"/>
          </a:p>
        </p:txBody>
      </p:sp>
      <p:sp>
        <p:nvSpPr>
          <p:cNvPr id="17" name="Text 15"/>
          <p:cNvSpPr txBox="1"/>
          <p:nvPr/>
        </p:nvSpPr>
        <p:spPr>
          <a:xfrm>
            <a:off x="8920277" y="2057400"/>
            <a:ext cx="2402738" cy="384048"/>
          </a:xfrm>
          <a:prstGeom prst="rect">
            <a:avLst/>
          </a:prstGeom>
          <a:noFill/>
          <a:ln/>
        </p:spPr>
        <p:txBody>
          <a:bodyPr wrap="square" lIns="0" tIns="0" rIns="0" bIns="0" rtlCol="0" anchor="ctr"/>
          <a:lstStyle/>
          <a:p>
            <a:pPr indent="0" marL="0">
              <a:buNone/>
            </a:pPr>
            <a:r>
              <a:rPr lang="en-US" sz="1600" b="1" dirty="0">
                <a:solidFill>
                  <a:srgbClr val="FFFFFF"/>
                </a:solidFill>
                <a:latin typeface="Arial" pitchFamily="34" charset="0"/>
                <a:ea typeface="Arial" pitchFamily="34" charset="-122"/>
                <a:cs typeface="Arial" pitchFamily="34" charset="-120"/>
              </a:rPr>
              <a:t>Traçabilité</a:t>
            </a:r>
            <a:endParaRPr lang="en-US" sz="1600" dirty="0"/>
          </a:p>
        </p:txBody>
      </p:sp>
      <p:sp>
        <p:nvSpPr>
          <p:cNvPr id="18" name="Text 16"/>
          <p:cNvSpPr txBox="1"/>
          <p:nvPr/>
        </p:nvSpPr>
        <p:spPr>
          <a:xfrm>
            <a:off x="8371637" y="2606040"/>
            <a:ext cx="2905658" cy="1051560"/>
          </a:xfrm>
          <a:prstGeom prst="rect">
            <a:avLst/>
          </a:prstGeom>
          <a:noFill/>
          <a:ln/>
        </p:spPr>
        <p:txBody>
          <a:bodyPr wrap="square" lIns="0" tIns="0" rIns="0" bIns="0" rtlCol="0" anchor="t"/>
          <a:lstStyle/>
          <a:p>
            <a:pPr indent="0" marL="0">
              <a:buNone/>
            </a:pPr>
            <a:r>
              <a:rPr lang="en-US" sz="1300" dirty="0">
                <a:solidFill>
                  <a:srgbClr val="C9D1DE"/>
                </a:solidFill>
                <a:latin typeface="Arial" pitchFamily="34" charset="0"/>
                <a:ea typeface="Arial" pitchFamily="34" charset="-122"/>
                <a:cs typeface="Arial" pitchFamily="34" charset="-120"/>
              </a:rPr>
              <a:t>Chaque changement de statut est historisé : qui, quand, par quel canal, avec quel motif.</a:t>
            </a:r>
            <a:endParaRPr lang="en-US" sz="1300" dirty="0"/>
          </a:p>
        </p:txBody>
      </p:sp>
      <p:sp>
        <p:nvSpPr>
          <p:cNvPr id="19" name="Notifications"/>
          <p:cNvSpPr/>
          <p:nvPr/>
        </p:nvSpPr>
        <p:spPr>
          <a:xfrm>
            <a:off x="640080" y="4114800"/>
            <a:ext cx="3454298" cy="2057400"/>
          </a:xfrm>
          <a:prstGeom prst="roundRect">
            <a:avLst>
              <a:gd name="adj" fmla="val 2667"/>
            </a:avLst>
          </a:prstGeom>
          <a:solidFill>
            <a:srgbClr val="1F3160"/>
          </a:solidFill>
          <a:ln w="12700">
            <a:solidFill>
              <a:srgbClr val="1F3160"/>
            </a:solidFill>
            <a:prstDash val="solid"/>
          </a:ln>
        </p:spPr>
      </p:sp>
      <p:sp>
        <p:nvSpPr>
          <p:cNvPr id="20" name="Shape 18"/>
          <p:cNvSpPr/>
          <p:nvPr/>
        </p:nvSpPr>
        <p:spPr>
          <a:xfrm>
            <a:off x="914400" y="4389120"/>
            <a:ext cx="384048" cy="384048"/>
          </a:xfrm>
          <a:prstGeom prst="ellipse">
            <a:avLst/>
          </a:prstGeom>
          <a:solidFill>
            <a:srgbClr val="FCA311"/>
          </a:solidFill>
          <a:ln w="12700">
            <a:solidFill>
              <a:srgbClr val="FCA311"/>
            </a:solidFill>
            <a:prstDash val="solid"/>
          </a:ln>
        </p:spPr>
      </p:sp>
      <p:sp>
        <p:nvSpPr>
          <p:cNvPr id="21" name="Text 19"/>
          <p:cNvSpPr txBox="1"/>
          <p:nvPr/>
        </p:nvSpPr>
        <p:spPr>
          <a:xfrm>
            <a:off x="914400" y="4389120"/>
            <a:ext cx="384048" cy="384048"/>
          </a:xfrm>
          <a:prstGeom prst="rect">
            <a:avLst/>
          </a:prstGeom>
          <a:noFill/>
          <a:ln/>
        </p:spPr>
        <p:txBody>
          <a:bodyPr wrap="square" lIns="0" tIns="0" rIns="0" bIns="0" rtlCol="0" anchor="ctr"/>
          <a:lstStyle/>
          <a:p>
            <a:pPr algn="ctr" indent="0" marL="0">
              <a:buNone/>
            </a:pPr>
            <a:r>
              <a:rPr lang="en-US" sz="1500" b="1" dirty="0">
                <a:solidFill>
                  <a:srgbClr val="14213D"/>
                </a:solidFill>
                <a:latin typeface="Arial" pitchFamily="34" charset="0"/>
                <a:ea typeface="Arial" pitchFamily="34" charset="-122"/>
                <a:cs typeface="Arial" pitchFamily="34" charset="-120"/>
              </a:rPr>
              <a:t>4</a:t>
            </a:r>
            <a:endParaRPr lang="en-US" sz="1500" dirty="0"/>
          </a:p>
        </p:txBody>
      </p:sp>
      <p:sp>
        <p:nvSpPr>
          <p:cNvPr id="22" name="Text 20"/>
          <p:cNvSpPr txBox="1"/>
          <p:nvPr/>
        </p:nvSpPr>
        <p:spPr>
          <a:xfrm>
            <a:off x="1463040" y="4389120"/>
            <a:ext cx="2402738" cy="384048"/>
          </a:xfrm>
          <a:prstGeom prst="rect">
            <a:avLst/>
          </a:prstGeom>
          <a:noFill/>
          <a:ln/>
        </p:spPr>
        <p:txBody>
          <a:bodyPr wrap="square" lIns="0" tIns="0" rIns="0" bIns="0" rtlCol="0" anchor="ctr"/>
          <a:lstStyle/>
          <a:p>
            <a:pPr indent="0" marL="0">
              <a:buNone/>
            </a:pPr>
            <a:r>
              <a:rPr lang="en-US" sz="1600" b="1" dirty="0">
                <a:solidFill>
                  <a:srgbClr val="FFFFFF"/>
                </a:solidFill>
                <a:latin typeface="Arial" pitchFamily="34" charset="0"/>
                <a:ea typeface="Arial" pitchFamily="34" charset="-122"/>
                <a:cs typeface="Arial" pitchFamily="34" charset="-120"/>
              </a:rPr>
              <a:t>Notifications</a:t>
            </a:r>
            <a:endParaRPr lang="en-US" sz="1600" dirty="0"/>
          </a:p>
        </p:txBody>
      </p:sp>
      <p:sp>
        <p:nvSpPr>
          <p:cNvPr id="23" name="Text 21"/>
          <p:cNvSpPr txBox="1"/>
          <p:nvPr/>
        </p:nvSpPr>
        <p:spPr>
          <a:xfrm>
            <a:off x="914400" y="4937760"/>
            <a:ext cx="2905658" cy="1051560"/>
          </a:xfrm>
          <a:prstGeom prst="rect">
            <a:avLst/>
          </a:prstGeom>
          <a:noFill/>
          <a:ln/>
        </p:spPr>
        <p:txBody>
          <a:bodyPr wrap="square" lIns="0" tIns="0" rIns="0" bIns="0" rtlCol="0" anchor="t"/>
          <a:lstStyle/>
          <a:p>
            <a:pPr indent="0" marL="0">
              <a:buNone/>
            </a:pPr>
            <a:r>
              <a:rPr lang="en-US" sz="1300" dirty="0">
                <a:solidFill>
                  <a:srgbClr val="C9D1DE"/>
                </a:solidFill>
                <a:latin typeface="Arial" pitchFamily="34" charset="0"/>
                <a:ea typeface="Arial" pitchFamily="34" charset="-122"/>
                <a:cs typeface="Arial" pitchFamily="34" charset="-120"/>
              </a:rPr>
              <a:t>24 types de mails passent par une file d’envoi : 82 envoyés, aucun en échec.</a:t>
            </a:r>
            <a:endParaRPr lang="en-US" sz="1300" dirty="0"/>
          </a:p>
        </p:txBody>
      </p:sp>
      <p:sp>
        <p:nvSpPr>
          <p:cNvPr id="24" name="IA au service des RH"/>
          <p:cNvSpPr/>
          <p:nvPr/>
        </p:nvSpPr>
        <p:spPr>
          <a:xfrm>
            <a:off x="4368698" y="4114800"/>
            <a:ext cx="3454298" cy="2057400"/>
          </a:xfrm>
          <a:prstGeom prst="roundRect">
            <a:avLst>
              <a:gd name="adj" fmla="val 2667"/>
            </a:avLst>
          </a:prstGeom>
          <a:solidFill>
            <a:srgbClr val="1F3160"/>
          </a:solidFill>
          <a:ln w="12700">
            <a:solidFill>
              <a:srgbClr val="1F3160"/>
            </a:solidFill>
            <a:prstDash val="solid"/>
          </a:ln>
        </p:spPr>
      </p:sp>
      <p:sp>
        <p:nvSpPr>
          <p:cNvPr id="25" name="Shape 23"/>
          <p:cNvSpPr/>
          <p:nvPr/>
        </p:nvSpPr>
        <p:spPr>
          <a:xfrm>
            <a:off x="4643018" y="4389120"/>
            <a:ext cx="384048" cy="384048"/>
          </a:xfrm>
          <a:prstGeom prst="ellipse">
            <a:avLst/>
          </a:prstGeom>
          <a:solidFill>
            <a:srgbClr val="FCA311"/>
          </a:solidFill>
          <a:ln w="12700">
            <a:solidFill>
              <a:srgbClr val="FCA311"/>
            </a:solidFill>
            <a:prstDash val="solid"/>
          </a:ln>
        </p:spPr>
      </p:sp>
      <p:sp>
        <p:nvSpPr>
          <p:cNvPr id="26" name="Text 24"/>
          <p:cNvSpPr txBox="1"/>
          <p:nvPr/>
        </p:nvSpPr>
        <p:spPr>
          <a:xfrm>
            <a:off x="4643018" y="4389120"/>
            <a:ext cx="384048" cy="384048"/>
          </a:xfrm>
          <a:prstGeom prst="rect">
            <a:avLst/>
          </a:prstGeom>
          <a:noFill/>
          <a:ln/>
        </p:spPr>
        <p:txBody>
          <a:bodyPr wrap="square" lIns="0" tIns="0" rIns="0" bIns="0" rtlCol="0" anchor="ctr"/>
          <a:lstStyle/>
          <a:p>
            <a:pPr algn="ctr" indent="0" marL="0">
              <a:buNone/>
            </a:pPr>
            <a:r>
              <a:rPr lang="en-US" sz="1500" b="1" dirty="0">
                <a:solidFill>
                  <a:srgbClr val="14213D"/>
                </a:solidFill>
                <a:latin typeface="Arial" pitchFamily="34" charset="0"/>
                <a:ea typeface="Arial" pitchFamily="34" charset="-122"/>
                <a:cs typeface="Arial" pitchFamily="34" charset="-120"/>
              </a:rPr>
              <a:t>5</a:t>
            </a:r>
            <a:endParaRPr lang="en-US" sz="1500" dirty="0"/>
          </a:p>
        </p:txBody>
      </p:sp>
      <p:sp>
        <p:nvSpPr>
          <p:cNvPr id="27" name="Text 25"/>
          <p:cNvSpPr txBox="1"/>
          <p:nvPr/>
        </p:nvSpPr>
        <p:spPr>
          <a:xfrm>
            <a:off x="5191658" y="4389120"/>
            <a:ext cx="2402738" cy="384048"/>
          </a:xfrm>
          <a:prstGeom prst="rect">
            <a:avLst/>
          </a:prstGeom>
          <a:noFill/>
          <a:ln/>
        </p:spPr>
        <p:txBody>
          <a:bodyPr wrap="square" lIns="0" tIns="0" rIns="0" bIns="0" rtlCol="0" anchor="ctr"/>
          <a:lstStyle/>
          <a:p>
            <a:pPr indent="0" marL="0">
              <a:buNone/>
            </a:pPr>
            <a:r>
              <a:rPr lang="en-US" sz="1600" b="1" dirty="0">
                <a:solidFill>
                  <a:srgbClr val="FFFFFF"/>
                </a:solidFill>
                <a:latin typeface="Arial" pitchFamily="34" charset="0"/>
                <a:ea typeface="Arial" pitchFamily="34" charset="-122"/>
                <a:cs typeface="Arial" pitchFamily="34" charset="-120"/>
              </a:rPr>
              <a:t>IA au service des RH</a:t>
            </a:r>
            <a:endParaRPr lang="en-US" sz="1600" dirty="0"/>
          </a:p>
        </p:txBody>
      </p:sp>
      <p:sp>
        <p:nvSpPr>
          <p:cNvPr id="28" name="Text 26"/>
          <p:cNvSpPr txBox="1"/>
          <p:nvPr/>
        </p:nvSpPr>
        <p:spPr>
          <a:xfrm>
            <a:off x="4643018" y="4937760"/>
            <a:ext cx="2905658" cy="1051560"/>
          </a:xfrm>
          <a:prstGeom prst="rect">
            <a:avLst/>
          </a:prstGeom>
          <a:noFill/>
          <a:ln/>
        </p:spPr>
        <p:txBody>
          <a:bodyPr wrap="square" lIns="0" tIns="0" rIns="0" bIns="0" rtlCol="0" anchor="t"/>
          <a:lstStyle/>
          <a:p>
            <a:pPr indent="0" marL="0">
              <a:buNone/>
            </a:pPr>
            <a:r>
              <a:rPr lang="en-US" sz="1300" dirty="0">
                <a:solidFill>
                  <a:srgbClr val="C9D1DE"/>
                </a:solidFill>
                <a:latin typeface="Arial" pitchFamily="34" charset="0"/>
                <a:ea typeface="Arial" pitchFamily="34" charset="-122"/>
                <a:cs typeface="Arial" pitchFamily="34" charset="-120"/>
              </a:rPr>
              <a:t>Résumé et points d’attention à chaque demande, brouillon de réponse, assistant RH sur la documentation interne.</a:t>
            </a:r>
            <a:endParaRPr lang="en-US" sz="1300" dirty="0"/>
          </a:p>
        </p:txBody>
      </p:sp>
      <p:sp>
        <p:nvSpPr>
          <p:cNvPr id="29" name="Pilotage"/>
          <p:cNvSpPr/>
          <p:nvPr/>
        </p:nvSpPr>
        <p:spPr>
          <a:xfrm>
            <a:off x="8097317" y="4114800"/>
            <a:ext cx="3454298" cy="2057400"/>
          </a:xfrm>
          <a:prstGeom prst="roundRect">
            <a:avLst>
              <a:gd name="adj" fmla="val 2667"/>
            </a:avLst>
          </a:prstGeom>
          <a:solidFill>
            <a:srgbClr val="1F3160"/>
          </a:solidFill>
          <a:ln w="12700">
            <a:solidFill>
              <a:srgbClr val="1F3160"/>
            </a:solidFill>
            <a:prstDash val="solid"/>
          </a:ln>
        </p:spPr>
      </p:sp>
      <p:sp>
        <p:nvSpPr>
          <p:cNvPr id="30" name="Shape 28"/>
          <p:cNvSpPr/>
          <p:nvPr/>
        </p:nvSpPr>
        <p:spPr>
          <a:xfrm>
            <a:off x="8371637" y="4389120"/>
            <a:ext cx="384048" cy="384048"/>
          </a:xfrm>
          <a:prstGeom prst="ellipse">
            <a:avLst/>
          </a:prstGeom>
          <a:solidFill>
            <a:srgbClr val="FCA311"/>
          </a:solidFill>
          <a:ln w="12700">
            <a:solidFill>
              <a:srgbClr val="FCA311"/>
            </a:solidFill>
            <a:prstDash val="solid"/>
          </a:ln>
        </p:spPr>
      </p:sp>
      <p:sp>
        <p:nvSpPr>
          <p:cNvPr id="31" name="Text 29"/>
          <p:cNvSpPr txBox="1"/>
          <p:nvPr/>
        </p:nvSpPr>
        <p:spPr>
          <a:xfrm>
            <a:off x="8371637" y="4389120"/>
            <a:ext cx="384048" cy="384048"/>
          </a:xfrm>
          <a:prstGeom prst="rect">
            <a:avLst/>
          </a:prstGeom>
          <a:noFill/>
          <a:ln/>
        </p:spPr>
        <p:txBody>
          <a:bodyPr wrap="square" lIns="0" tIns="0" rIns="0" bIns="0" rtlCol="0" anchor="ctr"/>
          <a:lstStyle/>
          <a:p>
            <a:pPr algn="ctr" indent="0" marL="0">
              <a:buNone/>
            </a:pPr>
            <a:r>
              <a:rPr lang="en-US" sz="1500" b="1" dirty="0">
                <a:solidFill>
                  <a:srgbClr val="14213D"/>
                </a:solidFill>
                <a:latin typeface="Arial" pitchFamily="34" charset="0"/>
                <a:ea typeface="Arial" pitchFamily="34" charset="-122"/>
                <a:cs typeface="Arial" pitchFamily="34" charset="-120"/>
              </a:rPr>
              <a:t>6</a:t>
            </a:r>
            <a:endParaRPr lang="en-US" sz="1500" dirty="0"/>
          </a:p>
        </p:txBody>
      </p:sp>
      <p:sp>
        <p:nvSpPr>
          <p:cNvPr id="32" name="Text 30"/>
          <p:cNvSpPr txBox="1"/>
          <p:nvPr/>
        </p:nvSpPr>
        <p:spPr>
          <a:xfrm>
            <a:off x="8920277" y="4389120"/>
            <a:ext cx="2402738" cy="384048"/>
          </a:xfrm>
          <a:prstGeom prst="rect">
            <a:avLst/>
          </a:prstGeom>
          <a:noFill/>
          <a:ln/>
        </p:spPr>
        <p:txBody>
          <a:bodyPr wrap="square" lIns="0" tIns="0" rIns="0" bIns="0" rtlCol="0" anchor="ctr"/>
          <a:lstStyle/>
          <a:p>
            <a:pPr indent="0" marL="0">
              <a:buNone/>
            </a:pPr>
            <a:r>
              <a:rPr lang="en-US" sz="1600" b="1" dirty="0">
                <a:solidFill>
                  <a:srgbClr val="FFFFFF"/>
                </a:solidFill>
                <a:latin typeface="Arial" pitchFamily="34" charset="0"/>
                <a:ea typeface="Arial" pitchFamily="34" charset="-122"/>
                <a:cs typeface="Arial" pitchFamily="34" charset="-120"/>
              </a:rPr>
              <a:t>Pilotage</a:t>
            </a:r>
            <a:endParaRPr lang="en-US" sz="1600" dirty="0"/>
          </a:p>
        </p:txBody>
      </p:sp>
      <p:sp>
        <p:nvSpPr>
          <p:cNvPr id="33" name="Text 31"/>
          <p:cNvSpPr txBox="1"/>
          <p:nvPr/>
        </p:nvSpPr>
        <p:spPr>
          <a:xfrm>
            <a:off x="8371637" y="4937760"/>
            <a:ext cx="2905658" cy="1051560"/>
          </a:xfrm>
          <a:prstGeom prst="rect">
            <a:avLst/>
          </a:prstGeom>
          <a:noFill/>
          <a:ln/>
        </p:spPr>
        <p:txBody>
          <a:bodyPr wrap="square" lIns="0" tIns="0" rIns="0" bIns="0" rtlCol="0" anchor="t"/>
          <a:lstStyle/>
          <a:p>
            <a:pPr indent="0" marL="0">
              <a:buNone/>
            </a:pPr>
            <a:r>
              <a:rPr lang="en-US" sz="1300" dirty="0">
                <a:solidFill>
                  <a:srgbClr val="C9D1DE"/>
                </a:solidFill>
                <a:latin typeface="Arial" pitchFamily="34" charset="0"/>
                <a:ea typeface="Arial" pitchFamily="34" charset="-122"/>
                <a:cs typeface="Arial" pitchFamily="34" charset="-120"/>
              </a:rPr>
              <a:t>Statistiques par équipe et entreprise, application Flutter en temps réel, bilan de santé chaque matin.</a:t>
            </a:r>
            <a:endParaRPr lang="en-US" sz="13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AA3B2"/>
                </a:solidFill>
                <a:latin typeface="Arial"/>
                <a:ea typeface="Arial"/>
                <a:cs typeface="Aria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640080" y="457200"/>
            <a:ext cx="10911535" cy="731520"/>
          </a:xfrm>
          <a:prstGeom prst="rect">
            <a:avLst/>
          </a:prstGeom>
          <a:noFill/>
          <a:ln/>
        </p:spPr>
        <p:txBody>
          <a:bodyPr wrap="square" lIns="0" tIns="0" rIns="0" bIns="0" rtlCol="0" anchor="t"/>
          <a:lstStyle/>
          <a:p>
            <a:pPr algn="l" indent="0" marL="0">
              <a:buNone/>
            </a:pPr>
            <a:r>
              <a:rPr lang="en-US" sz="3200" b="1" dirty="0">
                <a:solidFill>
                  <a:srgbClr val="14213D"/>
                </a:solidFill>
                <a:latin typeface="Arial" pitchFamily="34" charset="0"/>
                <a:ea typeface="Arial" pitchFamily="34" charset="-122"/>
                <a:cs typeface="Arial" pitchFamily="34" charset="-120"/>
              </a:rPr>
              <a:t>Architecture : la base est le chef d’orchestre</a:t>
            </a:r>
            <a:endParaRPr lang="en-US" sz="3200" dirty="0"/>
          </a:p>
        </p:txBody>
      </p:sp>
      <p:sp>
        <p:nvSpPr>
          <p:cNvPr id="3" name="Text 0"/>
          <p:cNvSpPr/>
          <p:nvPr>
            <p:ph idx="101" type="body" hasCustomPrompt="1"/>
          </p:nvPr>
        </p:nvSpPr>
        <p:spPr>
          <a:xfrm>
            <a:off x="640080" y="1170432"/>
            <a:ext cx="10911535" cy="365760"/>
          </a:xfrm>
          <a:prstGeom prst="rect">
            <a:avLst/>
          </a:prstGeom>
          <a:noFill/>
          <a:ln/>
        </p:spPr>
        <p:txBody>
          <a:bodyPr wrap="square" lIns="0" tIns="0" rIns="0" bIns="0" rtlCol="0" anchor="ctr"/>
          <a:lstStyle/>
          <a:p>
            <a:pPr algn="l" indent="0" marL="0">
              <a:buNone/>
            </a:pPr>
            <a:r>
              <a:rPr lang="en-US" sz="1500" b="1" dirty="0">
                <a:solidFill>
                  <a:srgbClr val="B45F06"/>
                </a:solidFill>
                <a:latin typeface="Arial" pitchFamily="34" charset="0"/>
                <a:ea typeface="Arial" pitchFamily="34" charset="-122"/>
                <a:cs typeface="Arial" pitchFamily="34" charset="-120"/>
              </a:rPr>
              <a:t>Supabase porte les règles ; le site, l’envoi des mails et l’IA réagissent à ses changements</a:t>
            </a:r>
            <a:endParaRPr lang="en-US" sz="1500" dirty="0"/>
          </a:p>
        </p:txBody>
      </p:sp>
      <p:sp>
        <p:nvSpPr>
          <p:cNvPr id="4" name="Laravel"/>
          <p:cNvSpPr/>
          <p:nvPr/>
        </p:nvSpPr>
        <p:spPr>
          <a:xfrm>
            <a:off x="640080" y="1828800"/>
            <a:ext cx="2514600" cy="2377440"/>
          </a:xfrm>
          <a:prstGeom prst="roundRect">
            <a:avLst>
              <a:gd name="adj" fmla="val 2308"/>
            </a:avLst>
          </a:prstGeom>
          <a:solidFill>
            <a:srgbClr val="14213D"/>
          </a:solidFill>
          <a:ln w="12700">
            <a:solidFill>
              <a:srgbClr val="14213D"/>
            </a:solidFill>
            <a:prstDash val="solid"/>
          </a:ln>
        </p:spPr>
      </p:sp>
      <p:sp>
        <p:nvSpPr>
          <p:cNvPr id="5" name="Text 3"/>
          <p:cNvSpPr txBox="1"/>
          <p:nvPr/>
        </p:nvSpPr>
        <p:spPr>
          <a:xfrm>
            <a:off x="868680" y="1965960"/>
            <a:ext cx="2103120" cy="320040"/>
          </a:xfrm>
          <a:prstGeom prst="rect">
            <a:avLst/>
          </a:prstGeom>
          <a:noFill/>
          <a:ln/>
        </p:spPr>
        <p:txBody>
          <a:bodyPr wrap="square" lIns="0" tIns="0" rIns="0" bIns="0" rtlCol="0" anchor="t"/>
          <a:lstStyle/>
          <a:p>
            <a:pPr indent="0" marL="0">
              <a:buNone/>
            </a:pPr>
            <a:r>
              <a:rPr lang="en-US" sz="1500" b="1" dirty="0">
                <a:solidFill>
                  <a:srgbClr val="FCA311"/>
                </a:solidFill>
                <a:latin typeface="Arial" pitchFamily="34" charset="0"/>
                <a:ea typeface="Arial" pitchFamily="34" charset="-122"/>
                <a:cs typeface="Arial" pitchFamily="34" charset="-120"/>
              </a:rPr>
              <a:t>Site Laravel 13</a:t>
            </a:r>
            <a:endParaRPr lang="en-US" sz="1500" dirty="0"/>
          </a:p>
        </p:txBody>
      </p:sp>
      <p:sp>
        <p:nvSpPr>
          <p:cNvPr id="6" name="Text 4"/>
          <p:cNvSpPr txBox="1"/>
          <p:nvPr/>
        </p:nvSpPr>
        <p:spPr>
          <a:xfrm>
            <a:off x="868680" y="2377440"/>
            <a:ext cx="2148840" cy="1737360"/>
          </a:xfrm>
          <a:prstGeom prst="rect">
            <a:avLst/>
          </a:prstGeom>
          <a:noFill/>
          <a:ln/>
        </p:spPr>
        <p:txBody>
          <a:bodyPr wrap="square" lIns="0" tIns="0" rIns="0" bIns="0" rtlCol="0" anchor="t"/>
          <a:lstStyle/>
          <a:p>
            <a:pPr marL="177800" indent="-177800">
              <a:spcAft>
                <a:spcPts val="500"/>
              </a:spcAft>
              <a:buSzPct val="100000"/>
              <a:buChar char="•"/>
            </a:pPr>
            <a:r>
              <a:rPr lang="en-US" sz="1200" dirty="0">
                <a:solidFill>
                  <a:srgbClr val="FFFFFF"/>
                </a:solidFill>
                <a:latin typeface="Arial" pitchFamily="34" charset="0"/>
                <a:ea typeface="Arial" pitchFamily="34" charset="-122"/>
                <a:cs typeface="Arial" pitchFamily="34" charset="-120"/>
              </a:rPr>
              <a:t>Hébergé sur Render</a:t>
            </a:r>
            <a:endParaRPr lang="en-US" sz="1200" dirty="0"/>
          </a:p>
          <a:p>
            <a:pPr marL="177800" indent="-177800">
              <a:spcAft>
                <a:spcPts val="500"/>
              </a:spcAft>
              <a:buSzPct val="100000"/>
              <a:buChar char="•"/>
            </a:pPr>
            <a:r>
              <a:rPr lang="en-US" sz="1200" dirty="0">
                <a:solidFill>
                  <a:srgbClr val="FFFFFF"/>
                </a:solidFill>
                <a:latin typeface="Arial" pitchFamily="34" charset="0"/>
                <a:ea typeface="Arial" pitchFamily="34" charset="-122"/>
                <a:cs typeface="Arial" pitchFamily="34" charset="-120"/>
              </a:rPr>
              <a:t>Vues Blade par rôle</a:t>
            </a:r>
            <a:endParaRPr lang="en-US" sz="1200" dirty="0"/>
          </a:p>
          <a:p>
            <a:pPr marL="177800" indent="-177800">
              <a:spcAft>
                <a:spcPts val="500"/>
              </a:spcAft>
              <a:buSzPct val="100000"/>
              <a:buChar char="•"/>
            </a:pPr>
            <a:r>
              <a:rPr lang="en-US" sz="1200" dirty="0">
                <a:solidFill>
                  <a:srgbClr val="FFFFFF"/>
                </a:solidFill>
                <a:latin typeface="Arial" pitchFamily="34" charset="0"/>
                <a:ea typeface="Arial" pitchFamily="34" charset="-122"/>
                <a:cs typeface="Arial" pitchFamily="34" charset="-120"/>
              </a:rPr>
              <a:t>Bulle de l’assistant RH</a:t>
            </a:r>
            <a:endParaRPr lang="en-US" sz="1200" dirty="0"/>
          </a:p>
          <a:p>
            <a:pPr marL="177800" indent="-177800">
              <a:spcAft>
                <a:spcPts val="500"/>
              </a:spcAft>
              <a:buSzPct val="100000"/>
              <a:buChar char="•"/>
            </a:pPr>
            <a:r>
              <a:rPr lang="en-US" sz="1200" dirty="0">
                <a:solidFill>
                  <a:srgbClr val="FFFFFF"/>
                </a:solidFill>
                <a:latin typeface="Arial" pitchFamily="34" charset="0"/>
                <a:ea typeface="Arial" pitchFamily="34" charset="-122"/>
                <a:cs typeface="Arial" pitchFamily="34" charset="-120"/>
              </a:rPr>
              <a:t>Brouillon IA</a:t>
            </a:r>
            <a:endParaRPr lang="en-US" sz="1200" dirty="0"/>
          </a:p>
        </p:txBody>
      </p:sp>
      <p:sp>
        <p:nvSpPr>
          <p:cNvPr id="7" name="Flutter"/>
          <p:cNvSpPr/>
          <p:nvPr/>
        </p:nvSpPr>
        <p:spPr>
          <a:xfrm>
            <a:off x="640080" y="4526280"/>
            <a:ext cx="2514600" cy="1234440"/>
          </a:xfrm>
          <a:prstGeom prst="roundRect">
            <a:avLst>
              <a:gd name="adj" fmla="val 4444"/>
            </a:avLst>
          </a:prstGeom>
          <a:solidFill>
            <a:srgbClr val="E6E2D8"/>
          </a:solidFill>
          <a:ln w="12700">
            <a:solidFill>
              <a:srgbClr val="E6E2D8"/>
            </a:solidFill>
            <a:prstDash val="solid"/>
          </a:ln>
        </p:spPr>
      </p:sp>
      <p:sp>
        <p:nvSpPr>
          <p:cNvPr id="8" name="Text 6"/>
          <p:cNvSpPr txBox="1"/>
          <p:nvPr/>
        </p:nvSpPr>
        <p:spPr>
          <a:xfrm>
            <a:off x="868680" y="4645152"/>
            <a:ext cx="2103120" cy="274320"/>
          </a:xfrm>
          <a:prstGeom prst="rect">
            <a:avLst/>
          </a:prstGeom>
          <a:noFill/>
          <a:ln/>
        </p:spPr>
        <p:txBody>
          <a:bodyPr wrap="square" lIns="0" tIns="0" rIns="0" bIns="0" rtlCol="0" anchor="t"/>
          <a:lstStyle/>
          <a:p>
            <a:pPr indent="0" marL="0">
              <a:buNone/>
            </a:pPr>
            <a:r>
              <a:rPr lang="en-US" sz="1400" b="1" dirty="0">
                <a:solidFill>
                  <a:srgbClr val="14213D"/>
                </a:solidFill>
                <a:latin typeface="Arial" pitchFamily="34" charset="0"/>
                <a:ea typeface="Arial" pitchFamily="34" charset="-122"/>
                <a:cs typeface="Arial" pitchFamily="34" charset="-120"/>
              </a:rPr>
              <a:t>Appli Flutter</a:t>
            </a:r>
            <a:endParaRPr lang="en-US" sz="1400" dirty="0"/>
          </a:p>
        </p:txBody>
      </p:sp>
      <p:sp>
        <p:nvSpPr>
          <p:cNvPr id="9" name="Text 7"/>
          <p:cNvSpPr txBox="1"/>
          <p:nvPr/>
        </p:nvSpPr>
        <p:spPr>
          <a:xfrm>
            <a:off x="868680" y="4983480"/>
            <a:ext cx="2103120" cy="640080"/>
          </a:xfrm>
          <a:prstGeom prst="rect">
            <a:avLst/>
          </a:prstGeom>
          <a:noFill/>
          <a:ln/>
        </p:spPr>
        <p:txBody>
          <a:bodyPr wrap="square" lIns="0" tIns="0" rIns="0" bIns="0" rtlCol="0" anchor="t"/>
          <a:lstStyle/>
          <a:p>
            <a:pPr indent="0" marL="0">
              <a:buNone/>
            </a:pPr>
            <a:r>
              <a:rPr lang="en-US" sz="1200" dirty="0">
                <a:solidFill>
                  <a:srgbClr val="3A4660"/>
                </a:solidFill>
                <a:latin typeface="Arial" pitchFamily="34" charset="0"/>
                <a:ea typeface="Arial" pitchFamily="34" charset="-122"/>
                <a:cs typeface="Arial" pitchFamily="34" charset="-120"/>
              </a:rPr>
              <a:t>Tableau de bord en temps réel (Realtime)</a:t>
            </a:r>
            <a:endParaRPr lang="en-US" sz="1200" dirty="0"/>
          </a:p>
        </p:txBody>
      </p:sp>
      <p:sp>
        <p:nvSpPr>
          <p:cNvPr id="10" name="Supabase"/>
          <p:cNvSpPr/>
          <p:nvPr/>
        </p:nvSpPr>
        <p:spPr>
          <a:xfrm>
            <a:off x="3657600" y="1828800"/>
            <a:ext cx="4800600" cy="3931920"/>
          </a:xfrm>
          <a:prstGeom prst="roundRect">
            <a:avLst>
              <a:gd name="adj" fmla="val 1395"/>
            </a:avLst>
          </a:prstGeom>
          <a:solidFill>
            <a:srgbClr val="14213D"/>
          </a:solidFill>
          <a:ln w="12700">
            <a:solidFill>
              <a:srgbClr val="14213D"/>
            </a:solidFill>
            <a:prstDash val="solid"/>
          </a:ln>
        </p:spPr>
      </p:sp>
      <p:sp>
        <p:nvSpPr>
          <p:cNvPr id="11" name="Text 9"/>
          <p:cNvSpPr txBox="1"/>
          <p:nvPr/>
        </p:nvSpPr>
        <p:spPr>
          <a:xfrm>
            <a:off x="3886200" y="1947672"/>
            <a:ext cx="4343400" cy="320040"/>
          </a:xfrm>
          <a:prstGeom prst="rect">
            <a:avLst/>
          </a:prstGeom>
          <a:noFill/>
          <a:ln/>
        </p:spPr>
        <p:txBody>
          <a:bodyPr wrap="square" lIns="0" tIns="0" rIns="0" bIns="0" rtlCol="0" anchor="t"/>
          <a:lstStyle/>
          <a:p>
            <a:pPr indent="0" marL="0">
              <a:buNone/>
            </a:pPr>
            <a:r>
              <a:rPr lang="en-US" sz="1500" b="1" dirty="0">
                <a:solidFill>
                  <a:srgbClr val="FCA311"/>
                </a:solidFill>
                <a:latin typeface="Arial" pitchFamily="34" charset="0"/>
                <a:ea typeface="Arial" pitchFamily="34" charset="-122"/>
                <a:cs typeface="Arial" pitchFamily="34" charset="-120"/>
              </a:rPr>
              <a:t>Supabase (PostgreSQL 17)</a:t>
            </a:r>
            <a:endParaRPr lang="en-US" sz="1500" dirty="0"/>
          </a:p>
        </p:txBody>
      </p:sp>
      <p:sp>
        <p:nvSpPr>
          <p:cNvPr id="12" name="19 tables, RLS partout"/>
          <p:cNvSpPr/>
          <p:nvPr/>
        </p:nvSpPr>
        <p:spPr>
          <a:xfrm>
            <a:off x="3886200" y="2377440"/>
            <a:ext cx="2080260" cy="987552"/>
          </a:xfrm>
          <a:prstGeom prst="roundRect">
            <a:avLst>
              <a:gd name="adj" fmla="val 5556"/>
            </a:avLst>
          </a:prstGeom>
          <a:solidFill>
            <a:srgbClr val="1F3160"/>
          </a:solidFill>
          <a:ln w="12700">
            <a:solidFill>
              <a:srgbClr val="1F3160"/>
            </a:solidFill>
            <a:prstDash val="solid"/>
          </a:ln>
        </p:spPr>
      </p:sp>
      <p:sp>
        <p:nvSpPr>
          <p:cNvPr id="13" name="Text 11"/>
          <p:cNvSpPr txBox="1"/>
          <p:nvPr/>
        </p:nvSpPr>
        <p:spPr>
          <a:xfrm>
            <a:off x="4023360" y="2487168"/>
            <a:ext cx="1805940" cy="274320"/>
          </a:xfrm>
          <a:prstGeom prst="rect">
            <a:avLst/>
          </a:prstGeom>
          <a:noFill/>
          <a:ln/>
        </p:spPr>
        <p:txBody>
          <a:bodyPr wrap="square" lIns="0" tIns="0" rIns="0" bIns="0" rtlCol="0" anchor="t"/>
          <a:lstStyle/>
          <a:p>
            <a:pPr indent="0" marL="0">
              <a:buNone/>
            </a:pPr>
            <a:r>
              <a:rPr lang="en-US" sz="1200" b="1" dirty="0">
                <a:solidFill>
                  <a:srgbClr val="FFFFFF"/>
                </a:solidFill>
                <a:latin typeface="Arial" pitchFamily="34" charset="0"/>
                <a:ea typeface="Arial" pitchFamily="34" charset="-122"/>
                <a:cs typeface="Arial" pitchFamily="34" charset="-120"/>
              </a:rPr>
              <a:t>19 tables, RLS partout</a:t>
            </a:r>
            <a:endParaRPr lang="en-US" sz="1200" dirty="0"/>
          </a:p>
        </p:txBody>
      </p:sp>
      <p:sp>
        <p:nvSpPr>
          <p:cNvPr id="14" name="Text 12"/>
          <p:cNvSpPr txBox="1"/>
          <p:nvPr/>
        </p:nvSpPr>
        <p:spPr>
          <a:xfrm>
            <a:off x="4023360" y="2816352"/>
            <a:ext cx="1805940" cy="457200"/>
          </a:xfrm>
          <a:prstGeom prst="rect">
            <a:avLst/>
          </a:prstGeom>
          <a:noFill/>
          <a:ln/>
        </p:spPr>
        <p:txBody>
          <a:bodyPr wrap="square" lIns="0" tIns="0" rIns="0" bIns="0" rtlCol="0" anchor="t"/>
          <a:lstStyle/>
          <a:p>
            <a:pPr indent="0" marL="0">
              <a:buNone/>
            </a:pPr>
            <a:r>
              <a:rPr lang="en-US" sz="1100" dirty="0">
                <a:solidFill>
                  <a:srgbClr val="C9D1DE"/>
                </a:solidFill>
                <a:latin typeface="Arial" pitchFamily="34" charset="0"/>
                <a:ea typeface="Arial" pitchFamily="34" charset="-122"/>
                <a:cs typeface="Arial" pitchFamily="34" charset="-120"/>
              </a:rPr>
              <a:t>demandes, tâches, historique…</a:t>
            </a:r>
            <a:endParaRPr lang="en-US" sz="1100" dirty="0"/>
          </a:p>
        </p:txBody>
      </p:sp>
      <p:sp>
        <p:nvSpPr>
          <p:cNvPr id="15" name="Triggers"/>
          <p:cNvSpPr/>
          <p:nvPr/>
        </p:nvSpPr>
        <p:spPr>
          <a:xfrm>
            <a:off x="6149340" y="2377440"/>
            <a:ext cx="2080260" cy="987552"/>
          </a:xfrm>
          <a:prstGeom prst="roundRect">
            <a:avLst>
              <a:gd name="adj" fmla="val 5556"/>
            </a:avLst>
          </a:prstGeom>
          <a:solidFill>
            <a:srgbClr val="1F3160"/>
          </a:solidFill>
          <a:ln w="12700">
            <a:solidFill>
              <a:srgbClr val="1F3160"/>
            </a:solidFill>
            <a:prstDash val="solid"/>
          </a:ln>
        </p:spPr>
      </p:sp>
      <p:sp>
        <p:nvSpPr>
          <p:cNvPr id="16" name="Text 14"/>
          <p:cNvSpPr txBox="1"/>
          <p:nvPr/>
        </p:nvSpPr>
        <p:spPr>
          <a:xfrm>
            <a:off x="6286500" y="2487168"/>
            <a:ext cx="1805940" cy="274320"/>
          </a:xfrm>
          <a:prstGeom prst="rect">
            <a:avLst/>
          </a:prstGeom>
          <a:noFill/>
          <a:ln/>
        </p:spPr>
        <p:txBody>
          <a:bodyPr wrap="square" lIns="0" tIns="0" rIns="0" bIns="0" rtlCol="0" anchor="t"/>
          <a:lstStyle/>
          <a:p>
            <a:pPr indent="0" marL="0">
              <a:buNone/>
            </a:pPr>
            <a:r>
              <a:rPr lang="en-US" sz="1200" b="1" dirty="0">
                <a:solidFill>
                  <a:srgbClr val="FFFFFF"/>
                </a:solidFill>
                <a:latin typeface="Arial" pitchFamily="34" charset="0"/>
                <a:ea typeface="Arial" pitchFamily="34" charset="-122"/>
                <a:cs typeface="Arial" pitchFamily="34" charset="-120"/>
              </a:rPr>
              <a:t>Triggers</a:t>
            </a:r>
            <a:endParaRPr lang="en-US" sz="1200" dirty="0"/>
          </a:p>
        </p:txBody>
      </p:sp>
      <p:sp>
        <p:nvSpPr>
          <p:cNvPr id="17" name="Text 15"/>
          <p:cNvSpPr txBox="1"/>
          <p:nvPr/>
        </p:nvSpPr>
        <p:spPr>
          <a:xfrm>
            <a:off x="6286500" y="2816352"/>
            <a:ext cx="1805940" cy="457200"/>
          </a:xfrm>
          <a:prstGeom prst="rect">
            <a:avLst/>
          </a:prstGeom>
          <a:noFill/>
          <a:ln/>
        </p:spPr>
        <p:txBody>
          <a:bodyPr wrap="square" lIns="0" tIns="0" rIns="0" bIns="0" rtlCol="0" anchor="t"/>
          <a:lstStyle/>
          <a:p>
            <a:pPr indent="0" marL="0">
              <a:buNone/>
            </a:pPr>
            <a:r>
              <a:rPr lang="en-US" sz="1100" dirty="0">
                <a:solidFill>
                  <a:srgbClr val="C9D1DE"/>
                </a:solidFill>
                <a:latin typeface="Arial" pitchFamily="34" charset="0"/>
                <a:ea typeface="Arial" pitchFamily="34" charset="-122"/>
                <a:cs typeface="Arial" pitchFamily="34" charset="-120"/>
              </a:rPr>
              <a:t>circuit, statuts, mails, historique</a:t>
            </a:r>
            <a:endParaRPr lang="en-US" sz="1100" dirty="0"/>
          </a:p>
        </p:txBody>
      </p:sp>
      <p:sp>
        <p:nvSpPr>
          <p:cNvPr id="18" name="pg_cron : 10 tâches"/>
          <p:cNvSpPr/>
          <p:nvPr/>
        </p:nvSpPr>
        <p:spPr>
          <a:xfrm>
            <a:off x="3886200" y="3483864"/>
            <a:ext cx="2080260" cy="987552"/>
          </a:xfrm>
          <a:prstGeom prst="roundRect">
            <a:avLst>
              <a:gd name="adj" fmla="val 5556"/>
            </a:avLst>
          </a:prstGeom>
          <a:solidFill>
            <a:srgbClr val="1F3160"/>
          </a:solidFill>
          <a:ln w="12700">
            <a:solidFill>
              <a:srgbClr val="1F3160"/>
            </a:solidFill>
            <a:prstDash val="solid"/>
          </a:ln>
        </p:spPr>
      </p:sp>
      <p:sp>
        <p:nvSpPr>
          <p:cNvPr id="19" name="Text 17"/>
          <p:cNvSpPr txBox="1"/>
          <p:nvPr/>
        </p:nvSpPr>
        <p:spPr>
          <a:xfrm>
            <a:off x="4023360" y="3593592"/>
            <a:ext cx="1805940" cy="274320"/>
          </a:xfrm>
          <a:prstGeom prst="rect">
            <a:avLst/>
          </a:prstGeom>
          <a:noFill/>
          <a:ln/>
        </p:spPr>
        <p:txBody>
          <a:bodyPr wrap="square" lIns="0" tIns="0" rIns="0" bIns="0" rtlCol="0" anchor="t"/>
          <a:lstStyle/>
          <a:p>
            <a:pPr indent="0" marL="0">
              <a:buNone/>
            </a:pPr>
            <a:r>
              <a:rPr lang="en-US" sz="1200" b="1" dirty="0">
                <a:solidFill>
                  <a:srgbClr val="FFFFFF"/>
                </a:solidFill>
                <a:latin typeface="Arial" pitchFamily="34" charset="0"/>
                <a:ea typeface="Arial" pitchFamily="34" charset="-122"/>
                <a:cs typeface="Arial" pitchFamily="34" charset="-120"/>
              </a:rPr>
              <a:t>pg_cron : 10 tâches</a:t>
            </a:r>
            <a:endParaRPr lang="en-US" sz="1200" dirty="0"/>
          </a:p>
        </p:txBody>
      </p:sp>
      <p:sp>
        <p:nvSpPr>
          <p:cNvPr id="20" name="Text 18"/>
          <p:cNvSpPr txBox="1"/>
          <p:nvPr/>
        </p:nvSpPr>
        <p:spPr>
          <a:xfrm>
            <a:off x="4023360" y="3922776"/>
            <a:ext cx="1805940" cy="457200"/>
          </a:xfrm>
          <a:prstGeom prst="rect">
            <a:avLst/>
          </a:prstGeom>
          <a:noFill/>
          <a:ln/>
        </p:spPr>
        <p:txBody>
          <a:bodyPr wrap="square" lIns="0" tIns="0" rIns="0" bIns="0" rtlCol="0" anchor="t"/>
          <a:lstStyle/>
          <a:p>
            <a:pPr indent="0" marL="0">
              <a:buNone/>
            </a:pPr>
            <a:r>
              <a:rPr lang="en-US" sz="1100" dirty="0">
                <a:solidFill>
                  <a:srgbClr val="C9D1DE"/>
                </a:solidFill>
                <a:latin typeface="Arial" pitchFamily="34" charset="0"/>
                <a:ea typeface="Arial" pitchFamily="34" charset="-122"/>
                <a:cs typeface="Arial" pitchFamily="34" charset="-120"/>
              </a:rPr>
              <a:t>relances, expiration, récaps</a:t>
            </a:r>
            <a:endParaRPr lang="en-US" sz="1100" dirty="0"/>
          </a:p>
        </p:txBody>
      </p:sp>
      <p:sp>
        <p:nvSpPr>
          <p:cNvPr id="21" name="Edge Function"/>
          <p:cNvSpPr/>
          <p:nvPr/>
        </p:nvSpPr>
        <p:spPr>
          <a:xfrm>
            <a:off x="6149340" y="3483864"/>
            <a:ext cx="2080260" cy="987552"/>
          </a:xfrm>
          <a:prstGeom prst="roundRect">
            <a:avLst>
              <a:gd name="adj" fmla="val 5556"/>
            </a:avLst>
          </a:prstGeom>
          <a:solidFill>
            <a:srgbClr val="1F3160"/>
          </a:solidFill>
          <a:ln w="12700">
            <a:solidFill>
              <a:srgbClr val="1F3160"/>
            </a:solidFill>
            <a:prstDash val="solid"/>
          </a:ln>
        </p:spPr>
      </p:sp>
      <p:sp>
        <p:nvSpPr>
          <p:cNvPr id="22" name="Text 20"/>
          <p:cNvSpPr txBox="1"/>
          <p:nvPr/>
        </p:nvSpPr>
        <p:spPr>
          <a:xfrm>
            <a:off x="6286500" y="3593592"/>
            <a:ext cx="1805940" cy="274320"/>
          </a:xfrm>
          <a:prstGeom prst="rect">
            <a:avLst/>
          </a:prstGeom>
          <a:noFill/>
          <a:ln/>
        </p:spPr>
        <p:txBody>
          <a:bodyPr wrap="square" lIns="0" tIns="0" rIns="0" bIns="0" rtlCol="0" anchor="t"/>
          <a:lstStyle/>
          <a:p>
            <a:pPr indent="0" marL="0">
              <a:buNone/>
            </a:pPr>
            <a:r>
              <a:rPr lang="en-US" sz="1200" b="1" dirty="0">
                <a:solidFill>
                  <a:srgbClr val="FFFFFF"/>
                </a:solidFill>
                <a:latin typeface="Arial" pitchFamily="34" charset="0"/>
                <a:ea typeface="Arial" pitchFamily="34" charset="-122"/>
                <a:cs typeface="Arial" pitchFamily="34" charset="-120"/>
              </a:rPr>
              <a:t>Edge Function</a:t>
            </a:r>
            <a:endParaRPr lang="en-US" sz="1200" dirty="0"/>
          </a:p>
        </p:txBody>
      </p:sp>
      <p:sp>
        <p:nvSpPr>
          <p:cNvPr id="23" name="Text 21"/>
          <p:cNvSpPr txBox="1"/>
          <p:nvPr/>
        </p:nvSpPr>
        <p:spPr>
          <a:xfrm>
            <a:off x="6286500" y="3922776"/>
            <a:ext cx="1805940" cy="457200"/>
          </a:xfrm>
          <a:prstGeom prst="rect">
            <a:avLst/>
          </a:prstGeom>
          <a:noFill/>
          <a:ln/>
        </p:spPr>
        <p:txBody>
          <a:bodyPr wrap="square" lIns="0" tIns="0" rIns="0" bIns="0" rtlCol="0" anchor="t"/>
          <a:lstStyle/>
          <a:p>
            <a:pPr indent="0" marL="0">
              <a:buNone/>
            </a:pPr>
            <a:r>
              <a:rPr lang="en-US" sz="1100" dirty="0">
                <a:solidFill>
                  <a:srgbClr val="C9D1DE"/>
                </a:solidFill>
                <a:latin typeface="Arial" pitchFamily="34" charset="0"/>
                <a:ea typeface="Arial" pitchFamily="34" charset="-122"/>
                <a:cs typeface="Arial" pitchFamily="34" charset="-120"/>
              </a:rPr>
              <a:t>envoyer-mails (chaque minute)</a:t>
            </a:r>
            <a:endParaRPr lang="en-US" sz="1100" dirty="0"/>
          </a:p>
        </p:txBody>
      </p:sp>
      <p:sp>
        <p:nvSpPr>
          <p:cNvPr id="24" name="Vault"/>
          <p:cNvSpPr/>
          <p:nvPr/>
        </p:nvSpPr>
        <p:spPr>
          <a:xfrm>
            <a:off x="3886200" y="4590288"/>
            <a:ext cx="2080260" cy="987552"/>
          </a:xfrm>
          <a:prstGeom prst="roundRect">
            <a:avLst>
              <a:gd name="adj" fmla="val 5556"/>
            </a:avLst>
          </a:prstGeom>
          <a:solidFill>
            <a:srgbClr val="1F3160"/>
          </a:solidFill>
          <a:ln w="12700">
            <a:solidFill>
              <a:srgbClr val="1F3160"/>
            </a:solidFill>
            <a:prstDash val="solid"/>
          </a:ln>
        </p:spPr>
      </p:sp>
      <p:sp>
        <p:nvSpPr>
          <p:cNvPr id="25" name="Text 23"/>
          <p:cNvSpPr txBox="1"/>
          <p:nvPr/>
        </p:nvSpPr>
        <p:spPr>
          <a:xfrm>
            <a:off x="4023360" y="4700016"/>
            <a:ext cx="1805940" cy="274320"/>
          </a:xfrm>
          <a:prstGeom prst="rect">
            <a:avLst/>
          </a:prstGeom>
          <a:noFill/>
          <a:ln/>
        </p:spPr>
        <p:txBody>
          <a:bodyPr wrap="square" lIns="0" tIns="0" rIns="0" bIns="0" rtlCol="0" anchor="t"/>
          <a:lstStyle/>
          <a:p>
            <a:pPr indent="0" marL="0">
              <a:buNone/>
            </a:pPr>
            <a:r>
              <a:rPr lang="en-US" sz="1200" b="1" dirty="0">
                <a:solidFill>
                  <a:srgbClr val="FFFFFF"/>
                </a:solidFill>
                <a:latin typeface="Arial" pitchFamily="34" charset="0"/>
                <a:ea typeface="Arial" pitchFamily="34" charset="-122"/>
                <a:cs typeface="Arial" pitchFamily="34" charset="-120"/>
              </a:rPr>
              <a:t>Vault</a:t>
            </a:r>
            <a:endParaRPr lang="en-US" sz="1200" dirty="0"/>
          </a:p>
        </p:txBody>
      </p:sp>
      <p:sp>
        <p:nvSpPr>
          <p:cNvPr id="26" name="Text 24"/>
          <p:cNvSpPr txBox="1"/>
          <p:nvPr/>
        </p:nvSpPr>
        <p:spPr>
          <a:xfrm>
            <a:off x="4023360" y="5029200"/>
            <a:ext cx="1805940" cy="457200"/>
          </a:xfrm>
          <a:prstGeom prst="rect">
            <a:avLst/>
          </a:prstGeom>
          <a:noFill/>
          <a:ln/>
        </p:spPr>
        <p:txBody>
          <a:bodyPr wrap="square" lIns="0" tIns="0" rIns="0" bIns="0" rtlCol="0" anchor="t"/>
          <a:lstStyle/>
          <a:p>
            <a:pPr indent="0" marL="0">
              <a:buNone/>
            </a:pPr>
            <a:r>
              <a:rPr lang="en-US" sz="1100" dirty="0">
                <a:solidFill>
                  <a:srgbClr val="C9D1DE"/>
                </a:solidFill>
                <a:latin typeface="Arial" pitchFamily="34" charset="0"/>
                <a:ea typeface="Arial" pitchFamily="34" charset="-122"/>
                <a:cs typeface="Arial" pitchFamily="34" charset="-120"/>
              </a:rPr>
              <a:t>secrets des appels sortants</a:t>
            </a:r>
            <a:endParaRPr lang="en-US" sz="1100" dirty="0"/>
          </a:p>
        </p:txBody>
      </p:sp>
      <p:sp>
        <p:nvSpPr>
          <p:cNvPr id="27" name="Storage + pgvector"/>
          <p:cNvSpPr/>
          <p:nvPr/>
        </p:nvSpPr>
        <p:spPr>
          <a:xfrm>
            <a:off x="6149340" y="4590288"/>
            <a:ext cx="2080260" cy="987552"/>
          </a:xfrm>
          <a:prstGeom prst="roundRect">
            <a:avLst>
              <a:gd name="adj" fmla="val 5556"/>
            </a:avLst>
          </a:prstGeom>
          <a:solidFill>
            <a:srgbClr val="1F3160"/>
          </a:solidFill>
          <a:ln w="12700">
            <a:solidFill>
              <a:srgbClr val="1F3160"/>
            </a:solidFill>
            <a:prstDash val="solid"/>
          </a:ln>
        </p:spPr>
      </p:sp>
      <p:sp>
        <p:nvSpPr>
          <p:cNvPr id="28" name="Text 26"/>
          <p:cNvSpPr txBox="1"/>
          <p:nvPr/>
        </p:nvSpPr>
        <p:spPr>
          <a:xfrm>
            <a:off x="6286500" y="4700016"/>
            <a:ext cx="1805940" cy="274320"/>
          </a:xfrm>
          <a:prstGeom prst="rect">
            <a:avLst/>
          </a:prstGeom>
          <a:noFill/>
          <a:ln/>
        </p:spPr>
        <p:txBody>
          <a:bodyPr wrap="square" lIns="0" tIns="0" rIns="0" bIns="0" rtlCol="0" anchor="t"/>
          <a:lstStyle/>
          <a:p>
            <a:pPr indent="0" marL="0">
              <a:buNone/>
            </a:pPr>
            <a:r>
              <a:rPr lang="en-US" sz="1200" b="1" dirty="0">
                <a:solidFill>
                  <a:srgbClr val="FFFFFF"/>
                </a:solidFill>
                <a:latin typeface="Arial" pitchFamily="34" charset="0"/>
                <a:ea typeface="Arial" pitchFamily="34" charset="-122"/>
                <a:cs typeface="Arial" pitchFamily="34" charset="-120"/>
              </a:rPr>
              <a:t>Storage + pgvector</a:t>
            </a:r>
            <a:endParaRPr lang="en-US" sz="1200" dirty="0"/>
          </a:p>
        </p:txBody>
      </p:sp>
      <p:sp>
        <p:nvSpPr>
          <p:cNvPr id="29" name="Text 27"/>
          <p:cNvSpPr txBox="1"/>
          <p:nvPr/>
        </p:nvSpPr>
        <p:spPr>
          <a:xfrm>
            <a:off x="6286500" y="5029200"/>
            <a:ext cx="1805940" cy="457200"/>
          </a:xfrm>
          <a:prstGeom prst="rect">
            <a:avLst/>
          </a:prstGeom>
          <a:noFill/>
          <a:ln/>
        </p:spPr>
        <p:txBody>
          <a:bodyPr wrap="square" lIns="0" tIns="0" rIns="0" bIns="0" rtlCol="0" anchor="t"/>
          <a:lstStyle/>
          <a:p>
            <a:pPr indent="0" marL="0">
              <a:buNone/>
            </a:pPr>
            <a:r>
              <a:rPr lang="en-US" sz="1100" dirty="0">
                <a:solidFill>
                  <a:srgbClr val="C9D1DE"/>
                </a:solidFill>
                <a:latin typeface="Arial" pitchFamily="34" charset="0"/>
                <a:ea typeface="Arial" pitchFamily="34" charset="-122"/>
                <a:cs typeface="Arial" pitchFamily="34" charset="-120"/>
              </a:rPr>
              <a:t>pièces jointes, docs RH</a:t>
            </a:r>
            <a:endParaRPr lang="en-US" sz="1100" dirty="0"/>
          </a:p>
        </p:txBody>
      </p:sp>
      <p:sp>
        <p:nvSpPr>
          <p:cNvPr id="30" name="Resend"/>
          <p:cNvSpPr/>
          <p:nvPr/>
        </p:nvSpPr>
        <p:spPr>
          <a:xfrm>
            <a:off x="9281160" y="1828800"/>
            <a:ext cx="2270455" cy="1417320"/>
          </a:xfrm>
          <a:prstGeom prst="roundRect">
            <a:avLst>
              <a:gd name="adj" fmla="val 3871"/>
            </a:avLst>
          </a:prstGeom>
          <a:solidFill>
            <a:srgbClr val="FCA311"/>
          </a:solidFill>
          <a:ln w="12700">
            <a:solidFill>
              <a:srgbClr val="FCA311"/>
            </a:solidFill>
            <a:prstDash val="solid"/>
          </a:ln>
        </p:spPr>
      </p:sp>
      <p:sp>
        <p:nvSpPr>
          <p:cNvPr id="31" name="Text 29"/>
          <p:cNvSpPr txBox="1"/>
          <p:nvPr/>
        </p:nvSpPr>
        <p:spPr>
          <a:xfrm>
            <a:off x="9464040" y="1938528"/>
            <a:ext cx="1904695" cy="274320"/>
          </a:xfrm>
          <a:prstGeom prst="rect">
            <a:avLst/>
          </a:prstGeom>
          <a:noFill/>
          <a:ln/>
        </p:spPr>
        <p:txBody>
          <a:bodyPr wrap="square" lIns="0" tIns="0" rIns="0" bIns="0" rtlCol="0" anchor="t"/>
          <a:lstStyle/>
          <a:p>
            <a:pPr indent="0" marL="0">
              <a:buNone/>
            </a:pPr>
            <a:r>
              <a:rPr lang="en-US" sz="1400" b="1" dirty="0">
                <a:solidFill>
                  <a:srgbClr val="14213D"/>
                </a:solidFill>
                <a:latin typeface="Arial" pitchFamily="34" charset="0"/>
                <a:ea typeface="Arial" pitchFamily="34" charset="-122"/>
                <a:cs typeface="Arial" pitchFamily="34" charset="-120"/>
              </a:rPr>
              <a:t>Resend</a:t>
            </a:r>
            <a:endParaRPr lang="en-US" sz="1400" dirty="0"/>
          </a:p>
        </p:txBody>
      </p:sp>
      <p:sp>
        <p:nvSpPr>
          <p:cNvPr id="32" name="Text 30"/>
          <p:cNvSpPr txBox="1"/>
          <p:nvPr/>
        </p:nvSpPr>
        <p:spPr>
          <a:xfrm>
            <a:off x="9464040" y="2286000"/>
            <a:ext cx="1904695" cy="868680"/>
          </a:xfrm>
          <a:prstGeom prst="rect">
            <a:avLst/>
          </a:prstGeom>
          <a:noFill/>
          <a:ln/>
        </p:spPr>
        <p:txBody>
          <a:bodyPr wrap="square" lIns="0" tIns="0" rIns="0" bIns="0" rtlCol="0" anchor="t"/>
          <a:lstStyle/>
          <a:p>
            <a:pPr indent="0" marL="0">
              <a:buNone/>
            </a:pPr>
            <a:r>
              <a:rPr lang="en-US" sz="1150" dirty="0">
                <a:solidFill>
                  <a:srgbClr val="14213D"/>
                </a:solidFill>
                <a:latin typeface="Arial" pitchFamily="34" charset="0"/>
                <a:ea typeface="Arial" pitchFamily="34" charset="-122"/>
                <a:cs typeface="Arial" pitchFamily="34" charset="-120"/>
              </a:rPr>
              <a:t>API d’envoi : mails aux employés, managers, services</a:t>
            </a:r>
            <a:endParaRPr lang="en-US" sz="1150" dirty="0"/>
          </a:p>
        </p:txBody>
      </p:sp>
      <p:sp>
        <p:nvSpPr>
          <p:cNvPr id="33" name="n8n"/>
          <p:cNvSpPr/>
          <p:nvPr/>
        </p:nvSpPr>
        <p:spPr>
          <a:xfrm>
            <a:off x="9281160" y="3520440"/>
            <a:ext cx="2270455" cy="2240280"/>
          </a:xfrm>
          <a:prstGeom prst="roundRect">
            <a:avLst>
              <a:gd name="adj" fmla="val 2449"/>
            </a:avLst>
          </a:prstGeom>
          <a:solidFill>
            <a:srgbClr val="E6E2D8"/>
          </a:solidFill>
          <a:ln w="12700">
            <a:solidFill>
              <a:srgbClr val="E6E2D8"/>
            </a:solidFill>
            <a:prstDash val="solid"/>
          </a:ln>
        </p:spPr>
      </p:sp>
      <p:sp>
        <p:nvSpPr>
          <p:cNvPr id="34" name="Text 32"/>
          <p:cNvSpPr txBox="1"/>
          <p:nvPr/>
        </p:nvSpPr>
        <p:spPr>
          <a:xfrm>
            <a:off x="9464040" y="3630168"/>
            <a:ext cx="1904695" cy="274320"/>
          </a:xfrm>
          <a:prstGeom prst="rect">
            <a:avLst/>
          </a:prstGeom>
          <a:noFill/>
          <a:ln/>
        </p:spPr>
        <p:txBody>
          <a:bodyPr wrap="square" lIns="0" tIns="0" rIns="0" bIns="0" rtlCol="0" anchor="t"/>
          <a:lstStyle/>
          <a:p>
            <a:pPr indent="0" marL="0">
              <a:buNone/>
            </a:pPr>
            <a:r>
              <a:rPr lang="en-US" sz="1400" b="1" dirty="0">
                <a:solidFill>
                  <a:srgbClr val="14213D"/>
                </a:solidFill>
                <a:latin typeface="Arial" pitchFamily="34" charset="0"/>
                <a:ea typeface="Arial" pitchFamily="34" charset="-122"/>
                <a:cs typeface="Arial" pitchFamily="34" charset="-120"/>
              </a:rPr>
              <a:t>n8n (PC + ngrok)</a:t>
            </a:r>
            <a:endParaRPr lang="en-US" sz="1400" dirty="0"/>
          </a:p>
        </p:txBody>
      </p:sp>
      <p:sp>
        <p:nvSpPr>
          <p:cNvPr id="35" name="Text 33"/>
          <p:cNvSpPr txBox="1"/>
          <p:nvPr/>
        </p:nvSpPr>
        <p:spPr>
          <a:xfrm>
            <a:off x="9464040" y="3977640"/>
            <a:ext cx="1904695" cy="1691640"/>
          </a:xfrm>
          <a:prstGeom prst="rect">
            <a:avLst/>
          </a:prstGeom>
          <a:noFill/>
          <a:ln/>
        </p:spPr>
        <p:txBody>
          <a:bodyPr wrap="square" lIns="0" tIns="0" rIns="0" bIns="0" rtlCol="0" anchor="t"/>
          <a:lstStyle/>
          <a:p>
            <a:pPr marL="177800" indent="-177800">
              <a:spcAft>
                <a:spcPts val="500"/>
              </a:spcAft>
              <a:buSzPct val="100000"/>
              <a:buChar char="•"/>
            </a:pPr>
            <a:r>
              <a:rPr lang="en-US" sz="1150" dirty="0">
                <a:solidFill>
                  <a:srgbClr val="3A4660"/>
                </a:solidFill>
                <a:latin typeface="Arial" pitchFamily="34" charset="0"/>
                <a:ea typeface="Arial" pitchFamily="34" charset="-122"/>
                <a:cs typeface="Arial" pitchFamily="34" charset="-120"/>
              </a:rPr>
              <a:t>Résumé + points d’attention</a:t>
            </a:r>
            <a:endParaRPr lang="en-US" sz="1150" dirty="0"/>
          </a:p>
          <a:p>
            <a:pPr marL="177800" indent="-177800">
              <a:spcAft>
                <a:spcPts val="500"/>
              </a:spcAft>
              <a:buSzPct val="100000"/>
              <a:buChar char="•"/>
            </a:pPr>
            <a:r>
              <a:rPr lang="en-US" sz="1150" dirty="0">
                <a:solidFill>
                  <a:srgbClr val="3A4660"/>
                </a:solidFill>
                <a:latin typeface="Arial" pitchFamily="34" charset="0"/>
                <a:ea typeface="Arial" pitchFamily="34" charset="-122"/>
                <a:cs typeface="Arial" pitchFamily="34" charset="-120"/>
              </a:rPr>
              <a:t>Brouillon de réponse</a:t>
            </a:r>
            <a:endParaRPr lang="en-US" sz="1150" dirty="0"/>
          </a:p>
          <a:p>
            <a:pPr marL="177800" indent="-177800">
              <a:spcAft>
                <a:spcPts val="500"/>
              </a:spcAft>
              <a:buSzPct val="100000"/>
              <a:buChar char="•"/>
            </a:pPr>
            <a:r>
              <a:rPr lang="en-US" sz="1150" dirty="0">
                <a:solidFill>
                  <a:srgbClr val="3A4660"/>
                </a:solidFill>
                <a:latin typeface="Arial" pitchFamily="34" charset="0"/>
                <a:ea typeface="Arial" pitchFamily="34" charset="-122"/>
                <a:cs typeface="Arial" pitchFamily="34" charset="-120"/>
              </a:rPr>
              <a:t>Assistant RH (RAG)</a:t>
            </a:r>
            <a:endParaRPr lang="en-US" sz="1150" dirty="0"/>
          </a:p>
          <a:p>
            <a:pPr marL="177800" indent="-177800">
              <a:spcAft>
                <a:spcPts val="500"/>
              </a:spcAft>
              <a:buSzPct val="100000"/>
              <a:buChar char="•"/>
            </a:pPr>
            <a:r>
              <a:rPr lang="en-US" sz="1150" dirty="0">
                <a:solidFill>
                  <a:srgbClr val="3A4660"/>
                </a:solidFill>
                <a:latin typeface="Arial" pitchFamily="34" charset="0"/>
                <a:ea typeface="Arial" pitchFamily="34" charset="-122"/>
                <a:cs typeface="Arial" pitchFamily="34" charset="-120"/>
              </a:rPr>
              <a:t>LLM : gpt-4o-mini via OpenRouter</a:t>
            </a:r>
            <a:endParaRPr lang="en-US" sz="1150" dirty="0"/>
          </a:p>
        </p:txBody>
      </p:sp>
      <p:sp>
        <p:nvSpPr>
          <p:cNvPr id="36" name="Shape 34"/>
          <p:cNvSpPr/>
          <p:nvPr/>
        </p:nvSpPr>
        <p:spPr>
          <a:xfrm>
            <a:off x="3154680" y="2834640"/>
            <a:ext cx="502920" cy="0"/>
          </a:xfrm>
          <a:prstGeom prst="line">
            <a:avLst/>
          </a:prstGeom>
          <a:noFill/>
          <a:ln w="22225">
            <a:solidFill>
              <a:srgbClr val="B45F06"/>
            </a:solidFill>
            <a:prstDash val="solid"/>
            <a:tailEnd type="triangle"/>
          </a:ln>
        </p:spPr>
      </p:sp>
      <p:sp>
        <p:nvSpPr>
          <p:cNvPr id="37" name="Text 35"/>
          <p:cNvSpPr txBox="1"/>
          <p:nvPr/>
        </p:nvSpPr>
        <p:spPr>
          <a:xfrm>
            <a:off x="3200400" y="2542032"/>
            <a:ext cx="548640" cy="228600"/>
          </a:xfrm>
          <a:prstGeom prst="rect">
            <a:avLst/>
          </a:prstGeom>
          <a:noFill/>
          <a:ln/>
        </p:spPr>
        <p:txBody>
          <a:bodyPr wrap="square" lIns="0" tIns="0" rIns="0" bIns="0" rtlCol="0" anchor="t"/>
          <a:lstStyle/>
          <a:p>
            <a:pPr indent="0" marL="0">
              <a:buNone/>
            </a:pPr>
            <a:r>
              <a:rPr lang="en-US" sz="950" b="1" dirty="0">
                <a:solidFill>
                  <a:srgbClr val="B45F06"/>
                </a:solidFill>
                <a:latin typeface="Arial" pitchFamily="34" charset="0"/>
                <a:ea typeface="Arial" pitchFamily="34" charset="-122"/>
                <a:cs typeface="Arial" pitchFamily="34" charset="-120"/>
              </a:rPr>
              <a:t>SQL</a:t>
            </a:r>
            <a:endParaRPr lang="en-US" sz="950" dirty="0"/>
          </a:p>
        </p:txBody>
      </p:sp>
      <p:sp>
        <p:nvSpPr>
          <p:cNvPr id="38" name="Shape 36"/>
          <p:cNvSpPr/>
          <p:nvPr/>
        </p:nvSpPr>
        <p:spPr>
          <a:xfrm>
            <a:off x="3154680" y="5120640"/>
            <a:ext cx="502920" cy="0"/>
          </a:xfrm>
          <a:prstGeom prst="line">
            <a:avLst/>
          </a:prstGeom>
          <a:noFill/>
          <a:ln w="22225">
            <a:solidFill>
              <a:srgbClr val="B45F06"/>
            </a:solidFill>
            <a:prstDash val="solid"/>
            <a:tailEnd type="triangle"/>
          </a:ln>
        </p:spPr>
      </p:sp>
      <p:sp>
        <p:nvSpPr>
          <p:cNvPr id="39" name="Shape 37"/>
          <p:cNvSpPr/>
          <p:nvPr/>
        </p:nvSpPr>
        <p:spPr>
          <a:xfrm>
            <a:off x="8458200" y="2514600"/>
            <a:ext cx="822960" cy="0"/>
          </a:xfrm>
          <a:prstGeom prst="line">
            <a:avLst/>
          </a:prstGeom>
          <a:noFill/>
          <a:ln w="22225">
            <a:solidFill>
              <a:srgbClr val="B45F06"/>
            </a:solidFill>
            <a:prstDash val="solid"/>
            <a:tailEnd type="triangle"/>
          </a:ln>
        </p:spPr>
      </p:sp>
      <p:sp>
        <p:nvSpPr>
          <p:cNvPr id="40" name="Shape 38"/>
          <p:cNvSpPr/>
          <p:nvPr/>
        </p:nvSpPr>
        <p:spPr>
          <a:xfrm>
            <a:off x="8458200" y="4480560"/>
            <a:ext cx="822960" cy="0"/>
          </a:xfrm>
          <a:prstGeom prst="line">
            <a:avLst/>
          </a:prstGeom>
          <a:noFill/>
          <a:ln w="22225">
            <a:solidFill>
              <a:srgbClr val="B45F06"/>
            </a:solidFill>
            <a:prstDash val="solid"/>
            <a:tailEnd type="triangle"/>
          </a:ln>
        </p:spPr>
      </p:sp>
      <p:sp>
        <p:nvSpPr>
          <p:cNvPr id="41" name="Text 39"/>
          <p:cNvSpPr txBox="1"/>
          <p:nvPr/>
        </p:nvSpPr>
        <p:spPr>
          <a:xfrm>
            <a:off x="8503920" y="4187952"/>
            <a:ext cx="777240" cy="228600"/>
          </a:xfrm>
          <a:prstGeom prst="rect">
            <a:avLst/>
          </a:prstGeom>
          <a:noFill/>
          <a:ln/>
        </p:spPr>
        <p:txBody>
          <a:bodyPr wrap="square" lIns="0" tIns="0" rIns="0" bIns="0" rtlCol="0" anchor="t"/>
          <a:lstStyle/>
          <a:p>
            <a:pPr indent="0" marL="0">
              <a:buNone/>
            </a:pPr>
            <a:r>
              <a:rPr lang="en-US" sz="950" b="1" dirty="0">
                <a:solidFill>
                  <a:srgbClr val="B45F06"/>
                </a:solidFill>
                <a:latin typeface="Arial" pitchFamily="34" charset="0"/>
                <a:ea typeface="Arial" pitchFamily="34" charset="-122"/>
                <a:cs typeface="Arial" pitchFamily="34" charset="-120"/>
              </a:rPr>
              <a:t>webhook</a:t>
            </a:r>
            <a:endParaRPr lang="en-US" sz="950" dirty="0"/>
          </a:p>
        </p:txBody>
      </p:sp>
      <p:sp>
        <p:nvSpPr>
          <p:cNvPr id="42" name="Text 40"/>
          <p:cNvSpPr txBox="1"/>
          <p:nvPr/>
        </p:nvSpPr>
        <p:spPr>
          <a:xfrm>
            <a:off x="640080" y="5897880"/>
            <a:ext cx="10362895" cy="457200"/>
          </a:xfrm>
          <a:prstGeom prst="rect">
            <a:avLst/>
          </a:prstGeom>
          <a:noFill/>
          <a:ln/>
        </p:spPr>
        <p:txBody>
          <a:bodyPr wrap="square" lIns="0" tIns="0" rIns="0" bIns="0" rtlCol="0" anchor="t"/>
          <a:lstStyle/>
          <a:p>
            <a:pPr indent="0" marL="0">
              <a:buNone/>
            </a:pPr>
            <a:r>
              <a:rPr lang="en-US" sz="1200" i="1" dirty="0">
                <a:solidFill>
                  <a:srgbClr val="5A6373"/>
                </a:solidFill>
                <a:latin typeface="Arial" pitchFamily="34" charset="0"/>
                <a:ea typeface="Arial" pitchFamily="34" charset="-122"/>
                <a:cs typeface="Arial" pitchFamily="34" charset="-120"/>
              </a:rPr>
              <a:t>Le site appelle aussi n8n en direct pour le chat et le brouillon (secret partagé). Le cœur est en base : une règle s’applique pareil depuis l’appli, le lien du mail ou le cron.</a:t>
            </a:r>
            <a:endParaRPr lang="en-US" sz="12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A6373"/>
                </a:solidFill>
                <a:latin typeface="Arial"/>
                <a:ea typeface="Arial"/>
                <a:cs typeface="Aria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640080" y="457200"/>
            <a:ext cx="10911535" cy="731520"/>
          </a:xfrm>
          <a:prstGeom prst="rect">
            <a:avLst/>
          </a:prstGeom>
          <a:noFill/>
          <a:ln/>
        </p:spPr>
        <p:txBody>
          <a:bodyPr wrap="square" lIns="0" tIns="0" rIns="0" bIns="0" rtlCol="0" anchor="t"/>
          <a:lstStyle/>
          <a:p>
            <a:pPr algn="l" indent="0" marL="0">
              <a:buNone/>
            </a:pPr>
            <a:r>
              <a:rPr lang="en-US" sz="3200" b="1" dirty="0">
                <a:solidFill>
                  <a:srgbClr val="14213D"/>
                </a:solidFill>
                <a:latin typeface="Arial" pitchFamily="34" charset="0"/>
                <a:ea typeface="Arial" pitchFamily="34" charset="-122"/>
                <a:cs typeface="Arial" pitchFamily="34" charset="-120"/>
              </a:rPr>
              <a:t>Nos choix, et pourquoi</a:t>
            </a:r>
            <a:endParaRPr lang="en-US" sz="3200" dirty="0"/>
          </a:p>
        </p:txBody>
      </p:sp>
      <p:sp>
        <p:nvSpPr>
          <p:cNvPr id="3" name="Text 0"/>
          <p:cNvSpPr/>
          <p:nvPr>
            <p:ph idx="101" type="body" hasCustomPrompt="1"/>
          </p:nvPr>
        </p:nvSpPr>
        <p:spPr>
          <a:xfrm>
            <a:off x="640080" y="1170432"/>
            <a:ext cx="10911535" cy="365760"/>
          </a:xfrm>
          <a:prstGeom prst="rect">
            <a:avLst/>
          </a:prstGeom>
          <a:noFill/>
          <a:ln/>
        </p:spPr>
        <p:txBody>
          <a:bodyPr wrap="square" lIns="0" tIns="0" rIns="0" bIns="0" rtlCol="0" anchor="ctr"/>
          <a:lstStyle/>
          <a:p>
            <a:pPr algn="l" indent="0" marL="0">
              <a:buNone/>
            </a:pPr>
            <a:r>
              <a:rPr lang="en-US" sz="1500" b="1" dirty="0">
                <a:solidFill>
                  <a:srgbClr val="B45F06"/>
                </a:solidFill>
                <a:latin typeface="Arial" pitchFamily="34" charset="0"/>
                <a:ea typeface="Arial" pitchFamily="34" charset="-122"/>
                <a:cs typeface="Arial" pitchFamily="34" charset="-120"/>
              </a:rPr>
              <a:t>Chaque décision a une raison, et une limite que nous assumons</a:t>
            </a:r>
            <a:endParaRPr lang="en-US" sz="15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640080" y="1783080"/>
          <a:ext cx="10911535" cy="914400"/>
        </p:xfrm>
        <a:graphic>
          <a:graphicData uri="http://schemas.openxmlformats.org/drawingml/2006/table">
            <a:tbl>
              <a:tblPr/>
              <a:tblGrid>
                <a:gridCol w="3566160"/>
                <a:gridCol w="4754880"/>
                <a:gridCol w="2590495"/>
              </a:tblGrid>
              <a:tr h="566928">
                <a:tc>
                  <a:txBody>
                    <a:bodyPr/>
                    <a:lstStyle/>
                    <a:p>
                      <a:pPr indent="0" marL="0">
                        <a:buNone/>
                      </a:pPr>
                      <a:r>
                        <a:rPr lang="en-US" sz="1250" b="1" dirty="0">
                          <a:solidFill>
                            <a:srgbClr val="14213D"/>
                          </a:solidFill>
                          <a:latin typeface="Arial" pitchFamily="34" charset="0"/>
                          <a:ea typeface="Arial" pitchFamily="34" charset="-122"/>
                          <a:cs typeface="Arial" pitchFamily="34" charset="-120"/>
                        </a:rPr>
                        <a:t>Nous avons choisi…</a:t>
                      </a:r>
                      <a:endParaRPr lang="en-US" sz="1250" dirty="0">
                        <a:latin typeface="Arial" charset="0"/>
                        <a:ea typeface="Arial" charset="0"/>
                        <a:cs typeface="Arial" charset="0"/>
                      </a:endParaRPr>
                    </a:p>
                  </a:txBody>
                  <a:tcPr marL="101600" marR="101600" marT="63500" marB="63500" anchor="ctr">
                    <a:lnL w="12700" cap="flat" cmpd="sng" algn="ctr">
                      <a:solidFill>
                        <a:srgbClr val="F5F3EE"/>
                      </a:solidFill>
                      <a:prstDash val="solid"/>
                      <a:round/>
                      <a:headEnd type="none" w="med" len="med"/>
                      <a:tailEnd type="none" w="med" len="med"/>
                    </a:lnL>
                    <a:lnR w="12700" cap="flat" cmpd="sng" algn="ctr">
                      <a:solidFill>
                        <a:srgbClr val="F5F3EE"/>
                      </a:solidFill>
                      <a:prstDash val="solid"/>
                      <a:round/>
                      <a:headEnd type="none" w="med" len="med"/>
                      <a:tailEnd type="none" w="med" len="med"/>
                    </a:lnR>
                    <a:lnT w="12700" cap="flat" cmpd="sng" algn="ctr">
                      <a:solidFill>
                        <a:srgbClr val="F5F3EE"/>
                      </a:solidFill>
                      <a:prstDash val="solid"/>
                      <a:round/>
                      <a:headEnd type="none" w="med" len="med"/>
                      <a:tailEnd type="none" w="med" len="med"/>
                    </a:lnT>
                    <a:lnB w="12700" cap="flat" cmpd="sng" algn="ctr">
                      <a:solidFill>
                        <a:srgbClr val="F5F3EE"/>
                      </a:solidFill>
                      <a:prstDash val="solid"/>
                      <a:round/>
                      <a:headEnd type="none" w="med" len="med"/>
                      <a:tailEnd type="none" w="med" len="med"/>
                    </a:lnB>
                    <a:solidFill>
                      <a:srgbClr val="FCA311"/>
                    </a:solidFill>
                  </a:tcPr>
                </a:tc>
                <a:tc>
                  <a:txBody>
                    <a:bodyPr/>
                    <a:lstStyle/>
                    <a:p>
                      <a:pPr indent="0" marL="0">
                        <a:buNone/>
                      </a:pPr>
                      <a:r>
                        <a:rPr lang="en-US" sz="1250" b="1" dirty="0">
                          <a:solidFill>
                            <a:srgbClr val="14213D"/>
                          </a:solidFill>
                          <a:latin typeface="Arial" pitchFamily="34" charset="0"/>
                          <a:ea typeface="Arial" pitchFamily="34" charset="-122"/>
                          <a:cs typeface="Arial" pitchFamily="34" charset="-120"/>
                        </a:rPr>
                        <a:t>… parce que</a:t>
                      </a:r>
                      <a:endParaRPr lang="en-US" sz="1250" dirty="0">
                        <a:latin typeface="Arial" charset="0"/>
                        <a:ea typeface="Arial" charset="0"/>
                        <a:cs typeface="Arial" charset="0"/>
                      </a:endParaRPr>
                    </a:p>
                  </a:txBody>
                  <a:tcPr marL="101600" marR="101600" marT="63500" marB="63500" anchor="ctr">
                    <a:lnL w="12700" cap="flat" cmpd="sng" algn="ctr">
                      <a:solidFill>
                        <a:srgbClr val="F5F3EE"/>
                      </a:solidFill>
                      <a:prstDash val="solid"/>
                      <a:round/>
                      <a:headEnd type="none" w="med" len="med"/>
                      <a:tailEnd type="none" w="med" len="med"/>
                    </a:lnL>
                    <a:lnR w="12700" cap="flat" cmpd="sng" algn="ctr">
                      <a:solidFill>
                        <a:srgbClr val="F5F3EE"/>
                      </a:solidFill>
                      <a:prstDash val="solid"/>
                      <a:round/>
                      <a:headEnd type="none" w="med" len="med"/>
                      <a:tailEnd type="none" w="med" len="med"/>
                    </a:lnR>
                    <a:lnT w="12700" cap="flat" cmpd="sng" algn="ctr">
                      <a:solidFill>
                        <a:srgbClr val="F5F3EE"/>
                      </a:solidFill>
                      <a:prstDash val="solid"/>
                      <a:round/>
                      <a:headEnd type="none" w="med" len="med"/>
                      <a:tailEnd type="none" w="med" len="med"/>
                    </a:lnT>
                    <a:lnB w="12700" cap="flat" cmpd="sng" algn="ctr">
                      <a:solidFill>
                        <a:srgbClr val="F5F3EE"/>
                      </a:solidFill>
                      <a:prstDash val="solid"/>
                      <a:round/>
                      <a:headEnd type="none" w="med" len="med"/>
                      <a:tailEnd type="none" w="med" len="med"/>
                    </a:lnB>
                    <a:solidFill>
                      <a:srgbClr val="FCA311"/>
                    </a:solidFill>
                  </a:tcPr>
                </a:tc>
                <a:tc>
                  <a:txBody>
                    <a:bodyPr/>
                    <a:lstStyle/>
                    <a:p>
                      <a:pPr indent="0" marL="0">
                        <a:buNone/>
                      </a:pPr>
                      <a:r>
                        <a:rPr lang="en-US" sz="1250" b="1" dirty="0">
                          <a:solidFill>
                            <a:srgbClr val="14213D"/>
                          </a:solidFill>
                          <a:latin typeface="Arial" pitchFamily="34" charset="0"/>
                          <a:ea typeface="Arial" pitchFamily="34" charset="-122"/>
                          <a:cs typeface="Arial" pitchFamily="34" charset="-120"/>
                        </a:rPr>
                        <a:t>Limite assumée</a:t>
                      </a:r>
                      <a:endParaRPr lang="en-US" sz="1250" dirty="0">
                        <a:latin typeface="Arial" charset="0"/>
                        <a:ea typeface="Arial" charset="0"/>
                        <a:cs typeface="Arial" charset="0"/>
                      </a:endParaRPr>
                    </a:p>
                  </a:txBody>
                  <a:tcPr marL="101600" marR="101600" marT="63500" marB="63500" anchor="ctr">
                    <a:lnL w="12700" cap="flat" cmpd="sng" algn="ctr">
                      <a:solidFill>
                        <a:srgbClr val="F5F3EE"/>
                      </a:solidFill>
                      <a:prstDash val="solid"/>
                      <a:round/>
                      <a:headEnd type="none" w="med" len="med"/>
                      <a:tailEnd type="none" w="med" len="med"/>
                    </a:lnL>
                    <a:lnR w="12700" cap="flat" cmpd="sng" algn="ctr">
                      <a:solidFill>
                        <a:srgbClr val="F5F3EE"/>
                      </a:solidFill>
                      <a:prstDash val="solid"/>
                      <a:round/>
                      <a:headEnd type="none" w="med" len="med"/>
                      <a:tailEnd type="none" w="med" len="med"/>
                    </a:lnR>
                    <a:lnT w="12700" cap="flat" cmpd="sng" algn="ctr">
                      <a:solidFill>
                        <a:srgbClr val="F5F3EE"/>
                      </a:solidFill>
                      <a:prstDash val="solid"/>
                      <a:round/>
                      <a:headEnd type="none" w="med" len="med"/>
                      <a:tailEnd type="none" w="med" len="med"/>
                    </a:lnT>
                    <a:lnB w="12700" cap="flat" cmpd="sng" algn="ctr">
                      <a:solidFill>
                        <a:srgbClr val="F5F3EE"/>
                      </a:solidFill>
                      <a:prstDash val="solid"/>
                      <a:round/>
                      <a:headEnd type="none" w="med" len="med"/>
                      <a:tailEnd type="none" w="med" len="med"/>
                    </a:lnB>
                    <a:solidFill>
                      <a:srgbClr val="FCA311"/>
                    </a:solidFill>
                  </a:tcPr>
                </a:tc>
              </a:tr>
              <a:tr h="566928">
                <a:tc>
                  <a:txBody>
                    <a:bodyPr/>
                    <a:lstStyle/>
                    <a:p>
                      <a:pPr indent="0" marL="0">
                        <a:buNone/>
                      </a:pPr>
                      <a:r>
                        <a:rPr lang="en-US" sz="1250" b="1" dirty="0">
                          <a:solidFill>
                            <a:srgbClr val="B45F06"/>
                          </a:solidFill>
                          <a:latin typeface="Arial" pitchFamily="34" charset="0"/>
                          <a:ea typeface="Arial" pitchFamily="34" charset="-122"/>
                          <a:cs typeface="Arial" pitchFamily="34" charset="-120"/>
                        </a:rPr>
                        <a:t>Les règles métier dans la base (triggers + pg_cron)</a:t>
                      </a:r>
                      <a:endParaRPr lang="en-US" sz="1250" dirty="0">
                        <a:latin typeface="Arial" charset="0"/>
                        <a:ea typeface="Arial" charset="0"/>
                        <a:cs typeface="Arial" charset="0"/>
                      </a:endParaRPr>
                    </a:p>
                  </a:txBody>
                  <a:tcPr marL="101600" marR="101600" marT="63500" marB="63500" anchor="ctr">
                    <a:lnL w="12700" cap="flat" cmpd="sng" algn="ctr">
                      <a:solidFill>
                        <a:srgbClr val="F5F3EE"/>
                      </a:solidFill>
                      <a:prstDash val="solid"/>
                      <a:round/>
                      <a:headEnd type="none" w="med" len="med"/>
                      <a:tailEnd type="none" w="med" len="med"/>
                    </a:lnL>
                    <a:lnR w="12700" cap="flat" cmpd="sng" algn="ctr">
                      <a:solidFill>
                        <a:srgbClr val="F5F3EE"/>
                      </a:solidFill>
                      <a:prstDash val="solid"/>
                      <a:round/>
                      <a:headEnd type="none" w="med" len="med"/>
                      <a:tailEnd type="none" w="med" len="med"/>
                    </a:lnR>
                    <a:lnT w="12700" cap="flat" cmpd="sng" algn="ctr">
                      <a:solidFill>
                        <a:srgbClr val="F5F3EE"/>
                      </a:solidFill>
                      <a:prstDash val="solid"/>
                      <a:round/>
                      <a:headEnd type="none" w="med" len="med"/>
                      <a:tailEnd type="none" w="med" len="med"/>
                    </a:lnT>
                    <a:lnB w="12700" cap="flat" cmpd="sng" algn="ctr">
                      <a:solidFill>
                        <a:srgbClr val="F5F3EE"/>
                      </a:solidFill>
                      <a:prstDash val="solid"/>
                      <a:round/>
                      <a:headEnd type="none" w="med" len="med"/>
                      <a:tailEnd type="none" w="med" len="med"/>
                    </a:lnB>
                    <a:solidFill>
                      <a:srgbClr val="E6E2D8"/>
                    </a:solidFill>
                  </a:tcPr>
                </a:tc>
                <a:tc>
                  <a:txBody>
                    <a:bodyPr/>
                    <a:lstStyle/>
                    <a:p>
                      <a:pPr indent="0" marL="0">
                        <a:buNone/>
                      </a:pPr>
                      <a:r>
                        <a:rPr lang="en-US" sz="1250" dirty="0">
                          <a:solidFill>
                            <a:srgbClr val="14213D"/>
                          </a:solidFill>
                          <a:latin typeface="Arial" pitchFamily="34" charset="0"/>
                          <a:ea typeface="Arial" pitchFamily="34" charset="-122"/>
                          <a:cs typeface="Arial" pitchFamily="34" charset="-120"/>
                        </a:rPr>
                        <a:t>elles s’appliquent quel que soit le canal (appli, lien du mail, cron) et se testent en SQL</a:t>
                      </a:r>
                      <a:endParaRPr lang="en-US" sz="1250" dirty="0">
                        <a:latin typeface="Arial" charset="0"/>
                        <a:ea typeface="Arial" charset="0"/>
                        <a:cs typeface="Arial" charset="0"/>
                      </a:endParaRPr>
                    </a:p>
                  </a:txBody>
                  <a:tcPr marL="101600" marR="101600" marT="63500" marB="63500" anchor="ctr">
                    <a:lnL w="12700" cap="flat" cmpd="sng" algn="ctr">
                      <a:solidFill>
                        <a:srgbClr val="F5F3EE"/>
                      </a:solidFill>
                      <a:prstDash val="solid"/>
                      <a:round/>
                      <a:headEnd type="none" w="med" len="med"/>
                      <a:tailEnd type="none" w="med" len="med"/>
                    </a:lnL>
                    <a:lnR w="12700" cap="flat" cmpd="sng" algn="ctr">
                      <a:solidFill>
                        <a:srgbClr val="F5F3EE"/>
                      </a:solidFill>
                      <a:prstDash val="solid"/>
                      <a:round/>
                      <a:headEnd type="none" w="med" len="med"/>
                      <a:tailEnd type="none" w="med" len="med"/>
                    </a:lnR>
                    <a:lnT w="12700" cap="flat" cmpd="sng" algn="ctr">
                      <a:solidFill>
                        <a:srgbClr val="F5F3EE"/>
                      </a:solidFill>
                      <a:prstDash val="solid"/>
                      <a:round/>
                      <a:headEnd type="none" w="med" len="med"/>
                      <a:tailEnd type="none" w="med" len="med"/>
                    </a:lnT>
                    <a:lnB w="12700" cap="flat" cmpd="sng" algn="ctr">
                      <a:solidFill>
                        <a:srgbClr val="F5F3EE"/>
                      </a:solidFill>
                      <a:prstDash val="solid"/>
                      <a:round/>
                      <a:headEnd type="none" w="med" len="med"/>
                      <a:tailEnd type="none" w="med" len="med"/>
                    </a:lnB>
                    <a:solidFill>
                      <a:srgbClr val="E6E2D8"/>
                    </a:solidFill>
                  </a:tcPr>
                </a:tc>
                <a:tc>
                  <a:txBody>
                    <a:bodyPr/>
                    <a:lstStyle/>
                    <a:p>
                      <a:pPr indent="0" marL="0">
                        <a:buNone/>
                      </a:pPr>
                      <a:r>
                        <a:rPr lang="en-US" sz="1250" dirty="0">
                          <a:solidFill>
                            <a:srgbClr val="14213D"/>
                          </a:solidFill>
                          <a:latin typeface="Arial" pitchFamily="34" charset="0"/>
                          <a:ea typeface="Arial" pitchFamily="34" charset="-122"/>
                          <a:cs typeface="Arial" pitchFamily="34" charset="-120"/>
                        </a:rPr>
                        <a:t>moins visible qu’un workflow dessiné</a:t>
                      </a:r>
                      <a:endParaRPr lang="en-US" sz="1250" dirty="0">
                        <a:latin typeface="Arial" charset="0"/>
                        <a:ea typeface="Arial" charset="0"/>
                        <a:cs typeface="Arial" charset="0"/>
                      </a:endParaRPr>
                    </a:p>
                  </a:txBody>
                  <a:tcPr marL="101600" marR="101600" marT="63500" marB="63500" anchor="ctr">
                    <a:lnL w="12700" cap="flat" cmpd="sng" algn="ctr">
                      <a:solidFill>
                        <a:srgbClr val="F5F3EE"/>
                      </a:solidFill>
                      <a:prstDash val="solid"/>
                      <a:round/>
                      <a:headEnd type="none" w="med" len="med"/>
                      <a:tailEnd type="none" w="med" len="med"/>
                    </a:lnL>
                    <a:lnR w="12700" cap="flat" cmpd="sng" algn="ctr">
                      <a:solidFill>
                        <a:srgbClr val="F5F3EE"/>
                      </a:solidFill>
                      <a:prstDash val="solid"/>
                      <a:round/>
                      <a:headEnd type="none" w="med" len="med"/>
                      <a:tailEnd type="none" w="med" len="med"/>
                    </a:lnR>
                    <a:lnT w="12700" cap="flat" cmpd="sng" algn="ctr">
                      <a:solidFill>
                        <a:srgbClr val="F5F3EE"/>
                      </a:solidFill>
                      <a:prstDash val="solid"/>
                      <a:round/>
                      <a:headEnd type="none" w="med" len="med"/>
                      <a:tailEnd type="none" w="med" len="med"/>
                    </a:lnT>
                    <a:lnB w="12700" cap="flat" cmpd="sng" algn="ctr">
                      <a:solidFill>
                        <a:srgbClr val="F5F3EE"/>
                      </a:solidFill>
                      <a:prstDash val="solid"/>
                      <a:round/>
                      <a:headEnd type="none" w="med" len="med"/>
                      <a:tailEnd type="none" w="med" len="med"/>
                    </a:lnB>
                    <a:solidFill>
                      <a:srgbClr val="E6E2D8"/>
                    </a:solidFill>
                  </a:tcPr>
                </a:tc>
              </a:tr>
              <a:tr h="566928">
                <a:tc>
                  <a:txBody>
                    <a:bodyPr/>
                    <a:lstStyle/>
                    <a:p>
                      <a:pPr indent="0" marL="0">
                        <a:buNone/>
                      </a:pPr>
                      <a:r>
                        <a:rPr lang="en-US" sz="1250" b="1" dirty="0">
                          <a:solidFill>
                            <a:srgbClr val="B45F06"/>
                          </a:solidFill>
                          <a:latin typeface="Arial" pitchFamily="34" charset="0"/>
                          <a:ea typeface="Arial" pitchFamily="34" charset="-122"/>
                          <a:cs typeface="Arial" pitchFamily="34" charset="-120"/>
                        </a:rPr>
                        <a:t>Une file d’envoi des mails (table + Edge Function)</a:t>
                      </a:r>
                      <a:endParaRPr lang="en-US" sz="1250" dirty="0">
                        <a:latin typeface="Arial" charset="0"/>
                        <a:ea typeface="Arial" charset="0"/>
                        <a:cs typeface="Arial" charset="0"/>
                      </a:endParaRPr>
                    </a:p>
                  </a:txBody>
                  <a:tcPr marL="101600" marR="101600" marT="63500" marB="63500" anchor="ctr">
                    <a:lnL w="12700" cap="flat" cmpd="sng" algn="ctr">
                      <a:solidFill>
                        <a:srgbClr val="F5F3EE"/>
                      </a:solidFill>
                      <a:prstDash val="solid"/>
                      <a:round/>
                      <a:headEnd type="none" w="med" len="med"/>
                      <a:tailEnd type="none" w="med" len="med"/>
                    </a:lnL>
                    <a:lnR w="12700" cap="flat" cmpd="sng" algn="ctr">
                      <a:solidFill>
                        <a:srgbClr val="F5F3EE"/>
                      </a:solidFill>
                      <a:prstDash val="solid"/>
                      <a:round/>
                      <a:headEnd type="none" w="med" len="med"/>
                      <a:tailEnd type="none" w="med" len="med"/>
                    </a:lnR>
                    <a:lnT w="12700" cap="flat" cmpd="sng" algn="ctr">
                      <a:solidFill>
                        <a:srgbClr val="F5F3EE"/>
                      </a:solidFill>
                      <a:prstDash val="solid"/>
                      <a:round/>
                      <a:headEnd type="none" w="med" len="med"/>
                      <a:tailEnd type="none" w="med" len="med"/>
                    </a:lnT>
                    <a:lnB w="12700" cap="flat" cmpd="sng" algn="ctr">
                      <a:solidFill>
                        <a:srgbClr val="F5F3EE"/>
                      </a:solidFill>
                      <a:prstDash val="solid"/>
                      <a:round/>
                      <a:headEnd type="none" w="med" len="med"/>
                      <a:tailEnd type="none" w="med" len="med"/>
                    </a:lnB>
                    <a:solidFill>
                      <a:srgbClr val="F5F3EE"/>
                    </a:solidFill>
                  </a:tcPr>
                </a:tc>
                <a:tc>
                  <a:txBody>
                    <a:bodyPr/>
                    <a:lstStyle/>
                    <a:p>
                      <a:pPr indent="0" marL="0">
                        <a:buNone/>
                      </a:pPr>
                      <a:r>
                        <a:rPr lang="en-US" sz="1250" dirty="0">
                          <a:solidFill>
                            <a:srgbClr val="14213D"/>
                          </a:solidFill>
                          <a:latin typeface="Arial" pitchFamily="34" charset="0"/>
                          <a:ea typeface="Arial" pitchFamily="34" charset="-122"/>
                          <a:cs typeface="Arial" pitchFamily="34" charset="-120"/>
                        </a:rPr>
                        <a:t>aucun mail perdu ni en double : réessais, annulation si la demande a changé entre-temps</a:t>
                      </a:r>
                      <a:endParaRPr lang="en-US" sz="1250" dirty="0">
                        <a:latin typeface="Arial" charset="0"/>
                        <a:ea typeface="Arial" charset="0"/>
                        <a:cs typeface="Arial" charset="0"/>
                      </a:endParaRPr>
                    </a:p>
                  </a:txBody>
                  <a:tcPr marL="101600" marR="101600" marT="63500" marB="63500" anchor="ctr">
                    <a:lnL w="12700" cap="flat" cmpd="sng" algn="ctr">
                      <a:solidFill>
                        <a:srgbClr val="F5F3EE"/>
                      </a:solidFill>
                      <a:prstDash val="solid"/>
                      <a:round/>
                      <a:headEnd type="none" w="med" len="med"/>
                      <a:tailEnd type="none" w="med" len="med"/>
                    </a:lnL>
                    <a:lnR w="12700" cap="flat" cmpd="sng" algn="ctr">
                      <a:solidFill>
                        <a:srgbClr val="F5F3EE"/>
                      </a:solidFill>
                      <a:prstDash val="solid"/>
                      <a:round/>
                      <a:headEnd type="none" w="med" len="med"/>
                      <a:tailEnd type="none" w="med" len="med"/>
                    </a:lnR>
                    <a:lnT w="12700" cap="flat" cmpd="sng" algn="ctr">
                      <a:solidFill>
                        <a:srgbClr val="F5F3EE"/>
                      </a:solidFill>
                      <a:prstDash val="solid"/>
                      <a:round/>
                      <a:headEnd type="none" w="med" len="med"/>
                      <a:tailEnd type="none" w="med" len="med"/>
                    </a:lnT>
                    <a:lnB w="12700" cap="flat" cmpd="sng" algn="ctr">
                      <a:solidFill>
                        <a:srgbClr val="F5F3EE"/>
                      </a:solidFill>
                      <a:prstDash val="solid"/>
                      <a:round/>
                      <a:headEnd type="none" w="med" len="med"/>
                      <a:tailEnd type="none" w="med" len="med"/>
                    </a:lnB>
                    <a:solidFill>
                      <a:srgbClr val="F5F3EE"/>
                    </a:solidFill>
                  </a:tcPr>
                </a:tc>
                <a:tc>
                  <a:txBody>
                    <a:bodyPr/>
                    <a:lstStyle/>
                    <a:p>
                      <a:pPr indent="0" marL="0">
                        <a:buNone/>
                      </a:pPr>
                      <a:r>
                        <a:rPr lang="en-US" sz="1250" dirty="0">
                          <a:solidFill>
                            <a:srgbClr val="14213D"/>
                          </a:solidFill>
                          <a:latin typeface="Arial" pitchFamily="34" charset="0"/>
                          <a:ea typeface="Arial" pitchFamily="34" charset="-122"/>
                          <a:cs typeface="Arial" pitchFamily="34" charset="-120"/>
                        </a:rPr>
                        <a:t>envoi sous 1 minute, pas instantané</a:t>
                      </a:r>
                      <a:endParaRPr lang="en-US" sz="1250" dirty="0">
                        <a:latin typeface="Arial" charset="0"/>
                        <a:ea typeface="Arial" charset="0"/>
                        <a:cs typeface="Arial" charset="0"/>
                      </a:endParaRPr>
                    </a:p>
                  </a:txBody>
                  <a:tcPr marL="101600" marR="101600" marT="63500" marB="63500" anchor="ctr">
                    <a:lnL w="12700" cap="flat" cmpd="sng" algn="ctr">
                      <a:solidFill>
                        <a:srgbClr val="F5F3EE"/>
                      </a:solidFill>
                      <a:prstDash val="solid"/>
                      <a:round/>
                      <a:headEnd type="none" w="med" len="med"/>
                      <a:tailEnd type="none" w="med" len="med"/>
                    </a:lnL>
                    <a:lnR w="12700" cap="flat" cmpd="sng" algn="ctr">
                      <a:solidFill>
                        <a:srgbClr val="F5F3EE"/>
                      </a:solidFill>
                      <a:prstDash val="solid"/>
                      <a:round/>
                      <a:headEnd type="none" w="med" len="med"/>
                      <a:tailEnd type="none" w="med" len="med"/>
                    </a:lnR>
                    <a:lnT w="12700" cap="flat" cmpd="sng" algn="ctr">
                      <a:solidFill>
                        <a:srgbClr val="F5F3EE"/>
                      </a:solidFill>
                      <a:prstDash val="solid"/>
                      <a:round/>
                      <a:headEnd type="none" w="med" len="med"/>
                      <a:tailEnd type="none" w="med" len="med"/>
                    </a:lnT>
                    <a:lnB w="12700" cap="flat" cmpd="sng" algn="ctr">
                      <a:solidFill>
                        <a:srgbClr val="F5F3EE"/>
                      </a:solidFill>
                      <a:prstDash val="solid"/>
                      <a:round/>
                      <a:headEnd type="none" w="med" len="med"/>
                      <a:tailEnd type="none" w="med" len="med"/>
                    </a:lnB>
                    <a:solidFill>
                      <a:srgbClr val="F5F3EE"/>
                    </a:solidFill>
                  </a:tcPr>
                </a:tc>
              </a:tr>
              <a:tr h="566928">
                <a:tc>
                  <a:txBody>
                    <a:bodyPr/>
                    <a:lstStyle/>
                    <a:p>
                      <a:pPr indent="0" marL="0">
                        <a:buNone/>
                      </a:pPr>
                      <a:r>
                        <a:rPr lang="en-US" sz="1250" b="1" dirty="0">
                          <a:solidFill>
                            <a:srgbClr val="B45F06"/>
                          </a:solidFill>
                          <a:latin typeface="Arial" pitchFamily="34" charset="0"/>
                          <a:ea typeface="Arial" pitchFamily="34" charset="-122"/>
                          <a:cs typeface="Arial" pitchFamily="34" charset="-120"/>
                        </a:rPr>
                        <a:t>n8n pour l’IA seulement</a:t>
                      </a:r>
                      <a:endParaRPr lang="en-US" sz="1250" dirty="0">
                        <a:latin typeface="Arial" charset="0"/>
                        <a:ea typeface="Arial" charset="0"/>
                        <a:cs typeface="Arial" charset="0"/>
                      </a:endParaRPr>
                    </a:p>
                  </a:txBody>
                  <a:tcPr marL="101600" marR="101600" marT="63500" marB="63500" anchor="ctr">
                    <a:lnL w="12700" cap="flat" cmpd="sng" algn="ctr">
                      <a:solidFill>
                        <a:srgbClr val="F5F3EE"/>
                      </a:solidFill>
                      <a:prstDash val="solid"/>
                      <a:round/>
                      <a:headEnd type="none" w="med" len="med"/>
                      <a:tailEnd type="none" w="med" len="med"/>
                    </a:lnL>
                    <a:lnR w="12700" cap="flat" cmpd="sng" algn="ctr">
                      <a:solidFill>
                        <a:srgbClr val="F5F3EE"/>
                      </a:solidFill>
                      <a:prstDash val="solid"/>
                      <a:round/>
                      <a:headEnd type="none" w="med" len="med"/>
                      <a:tailEnd type="none" w="med" len="med"/>
                    </a:lnR>
                    <a:lnT w="12700" cap="flat" cmpd="sng" algn="ctr">
                      <a:solidFill>
                        <a:srgbClr val="F5F3EE"/>
                      </a:solidFill>
                      <a:prstDash val="solid"/>
                      <a:round/>
                      <a:headEnd type="none" w="med" len="med"/>
                      <a:tailEnd type="none" w="med" len="med"/>
                    </a:lnT>
                    <a:lnB w="12700" cap="flat" cmpd="sng" algn="ctr">
                      <a:solidFill>
                        <a:srgbClr val="F5F3EE"/>
                      </a:solidFill>
                      <a:prstDash val="solid"/>
                      <a:round/>
                      <a:headEnd type="none" w="med" len="med"/>
                      <a:tailEnd type="none" w="med" len="med"/>
                    </a:lnB>
                    <a:solidFill>
                      <a:srgbClr val="E6E2D8"/>
                    </a:solidFill>
                  </a:tcPr>
                </a:tc>
                <a:tc>
                  <a:txBody>
                    <a:bodyPr/>
                    <a:lstStyle/>
                    <a:p>
                      <a:pPr indent="0" marL="0">
                        <a:buNone/>
                      </a:pPr>
                      <a:r>
                        <a:rPr lang="en-US" sz="1250" dirty="0">
                          <a:solidFill>
                            <a:srgbClr val="14213D"/>
                          </a:solidFill>
                          <a:latin typeface="Arial" pitchFamily="34" charset="0"/>
                          <a:ea typeface="Arial" pitchFamily="34" charset="-122"/>
                          <a:cs typeface="Arial" pitchFamily="34" charset="-120"/>
                        </a:rPr>
                        <a:t>le low-code convient aux chaînes LLM et RAG ; les prompts se modifient sans redéployer</a:t>
                      </a:r>
                      <a:endParaRPr lang="en-US" sz="1250" dirty="0">
                        <a:latin typeface="Arial" charset="0"/>
                        <a:ea typeface="Arial" charset="0"/>
                        <a:cs typeface="Arial" charset="0"/>
                      </a:endParaRPr>
                    </a:p>
                  </a:txBody>
                  <a:tcPr marL="101600" marR="101600" marT="63500" marB="63500" anchor="ctr">
                    <a:lnL w="12700" cap="flat" cmpd="sng" algn="ctr">
                      <a:solidFill>
                        <a:srgbClr val="F5F3EE"/>
                      </a:solidFill>
                      <a:prstDash val="solid"/>
                      <a:round/>
                      <a:headEnd type="none" w="med" len="med"/>
                      <a:tailEnd type="none" w="med" len="med"/>
                    </a:lnL>
                    <a:lnR w="12700" cap="flat" cmpd="sng" algn="ctr">
                      <a:solidFill>
                        <a:srgbClr val="F5F3EE"/>
                      </a:solidFill>
                      <a:prstDash val="solid"/>
                      <a:round/>
                      <a:headEnd type="none" w="med" len="med"/>
                      <a:tailEnd type="none" w="med" len="med"/>
                    </a:lnR>
                    <a:lnT w="12700" cap="flat" cmpd="sng" algn="ctr">
                      <a:solidFill>
                        <a:srgbClr val="F5F3EE"/>
                      </a:solidFill>
                      <a:prstDash val="solid"/>
                      <a:round/>
                      <a:headEnd type="none" w="med" len="med"/>
                      <a:tailEnd type="none" w="med" len="med"/>
                    </a:lnT>
                    <a:lnB w="12700" cap="flat" cmpd="sng" algn="ctr">
                      <a:solidFill>
                        <a:srgbClr val="F5F3EE"/>
                      </a:solidFill>
                      <a:prstDash val="solid"/>
                      <a:round/>
                      <a:headEnd type="none" w="med" len="med"/>
                      <a:tailEnd type="none" w="med" len="med"/>
                    </a:lnB>
                    <a:solidFill>
                      <a:srgbClr val="E6E2D8"/>
                    </a:solidFill>
                  </a:tcPr>
                </a:tc>
                <a:tc>
                  <a:txBody>
                    <a:bodyPr/>
                    <a:lstStyle/>
                    <a:p>
                      <a:pPr indent="0" marL="0">
                        <a:buNone/>
                      </a:pPr>
                      <a:r>
                        <a:rPr lang="en-US" sz="1250" dirty="0">
                          <a:solidFill>
                            <a:srgbClr val="14213D"/>
                          </a:solidFill>
                          <a:latin typeface="Arial" pitchFamily="34" charset="0"/>
                          <a:ea typeface="Arial" pitchFamily="34" charset="-122"/>
                          <a:cs typeface="Arial" pitchFamily="34" charset="-120"/>
                        </a:rPr>
                        <a:t>un service de plus à héberger</a:t>
                      </a:r>
                      <a:endParaRPr lang="en-US" sz="1250" dirty="0">
                        <a:latin typeface="Arial" charset="0"/>
                        <a:ea typeface="Arial" charset="0"/>
                        <a:cs typeface="Arial" charset="0"/>
                      </a:endParaRPr>
                    </a:p>
                  </a:txBody>
                  <a:tcPr marL="101600" marR="101600" marT="63500" marB="63500" anchor="ctr">
                    <a:lnL w="12700" cap="flat" cmpd="sng" algn="ctr">
                      <a:solidFill>
                        <a:srgbClr val="F5F3EE"/>
                      </a:solidFill>
                      <a:prstDash val="solid"/>
                      <a:round/>
                      <a:headEnd type="none" w="med" len="med"/>
                      <a:tailEnd type="none" w="med" len="med"/>
                    </a:lnL>
                    <a:lnR w="12700" cap="flat" cmpd="sng" algn="ctr">
                      <a:solidFill>
                        <a:srgbClr val="F5F3EE"/>
                      </a:solidFill>
                      <a:prstDash val="solid"/>
                      <a:round/>
                      <a:headEnd type="none" w="med" len="med"/>
                      <a:tailEnd type="none" w="med" len="med"/>
                    </a:lnR>
                    <a:lnT w="12700" cap="flat" cmpd="sng" algn="ctr">
                      <a:solidFill>
                        <a:srgbClr val="F5F3EE"/>
                      </a:solidFill>
                      <a:prstDash val="solid"/>
                      <a:round/>
                      <a:headEnd type="none" w="med" len="med"/>
                      <a:tailEnd type="none" w="med" len="med"/>
                    </a:lnT>
                    <a:lnB w="12700" cap="flat" cmpd="sng" algn="ctr">
                      <a:solidFill>
                        <a:srgbClr val="F5F3EE"/>
                      </a:solidFill>
                      <a:prstDash val="solid"/>
                      <a:round/>
                      <a:headEnd type="none" w="med" len="med"/>
                      <a:tailEnd type="none" w="med" len="med"/>
                    </a:lnB>
                    <a:solidFill>
                      <a:srgbClr val="E6E2D8"/>
                    </a:solidFill>
                  </a:tcPr>
                </a:tc>
              </a:tr>
              <a:tr h="566928">
                <a:tc>
                  <a:txBody>
                    <a:bodyPr/>
                    <a:lstStyle/>
                    <a:p>
                      <a:pPr indent="0" marL="0">
                        <a:buNone/>
                      </a:pPr>
                      <a:r>
                        <a:rPr lang="en-US" sz="1250" b="1" dirty="0">
                          <a:solidFill>
                            <a:srgbClr val="B45F06"/>
                          </a:solidFill>
                          <a:latin typeface="Arial" pitchFamily="34" charset="0"/>
                          <a:ea typeface="Arial" pitchFamily="34" charset="-122"/>
                          <a:cs typeface="Arial" pitchFamily="34" charset="-120"/>
                        </a:rPr>
                        <a:t>gpt-4o-mini via OpenRouter</a:t>
                      </a:r>
                      <a:endParaRPr lang="en-US" sz="1250" dirty="0">
                        <a:latin typeface="Arial" charset="0"/>
                        <a:ea typeface="Arial" charset="0"/>
                        <a:cs typeface="Arial" charset="0"/>
                      </a:endParaRPr>
                    </a:p>
                  </a:txBody>
                  <a:tcPr marL="101600" marR="101600" marT="63500" marB="63500" anchor="ctr">
                    <a:lnL w="12700" cap="flat" cmpd="sng" algn="ctr">
                      <a:solidFill>
                        <a:srgbClr val="F5F3EE"/>
                      </a:solidFill>
                      <a:prstDash val="solid"/>
                      <a:round/>
                      <a:headEnd type="none" w="med" len="med"/>
                      <a:tailEnd type="none" w="med" len="med"/>
                    </a:lnL>
                    <a:lnR w="12700" cap="flat" cmpd="sng" algn="ctr">
                      <a:solidFill>
                        <a:srgbClr val="F5F3EE"/>
                      </a:solidFill>
                      <a:prstDash val="solid"/>
                      <a:round/>
                      <a:headEnd type="none" w="med" len="med"/>
                      <a:tailEnd type="none" w="med" len="med"/>
                    </a:lnR>
                    <a:lnT w="12700" cap="flat" cmpd="sng" algn="ctr">
                      <a:solidFill>
                        <a:srgbClr val="F5F3EE"/>
                      </a:solidFill>
                      <a:prstDash val="solid"/>
                      <a:round/>
                      <a:headEnd type="none" w="med" len="med"/>
                      <a:tailEnd type="none" w="med" len="med"/>
                    </a:lnT>
                    <a:lnB w="12700" cap="flat" cmpd="sng" algn="ctr">
                      <a:solidFill>
                        <a:srgbClr val="F5F3EE"/>
                      </a:solidFill>
                      <a:prstDash val="solid"/>
                      <a:round/>
                      <a:headEnd type="none" w="med" len="med"/>
                      <a:tailEnd type="none" w="med" len="med"/>
                    </a:lnB>
                    <a:solidFill>
                      <a:srgbClr val="F5F3EE"/>
                    </a:solidFill>
                  </a:tcPr>
                </a:tc>
                <a:tc>
                  <a:txBody>
                    <a:bodyPr/>
                    <a:lstStyle/>
                    <a:p>
                      <a:pPr indent="0" marL="0">
                        <a:buNone/>
                      </a:pPr>
                      <a:r>
                        <a:rPr lang="en-US" sz="1250" dirty="0">
                          <a:solidFill>
                            <a:srgbClr val="14213D"/>
                          </a:solidFill>
                          <a:latin typeface="Arial" pitchFamily="34" charset="0"/>
                          <a:ea typeface="Arial" pitchFamily="34" charset="-122"/>
                          <a:cs typeface="Arial" pitchFamily="34" charset="-120"/>
                        </a:rPr>
                        <a:t>peu coûteux et suffisant pour résumer et rédiger ; une seule clé pour plusieurs modèles</a:t>
                      </a:r>
                      <a:endParaRPr lang="en-US" sz="1250" dirty="0">
                        <a:latin typeface="Arial" charset="0"/>
                        <a:ea typeface="Arial" charset="0"/>
                        <a:cs typeface="Arial" charset="0"/>
                      </a:endParaRPr>
                    </a:p>
                  </a:txBody>
                  <a:tcPr marL="101600" marR="101600" marT="63500" marB="63500" anchor="ctr">
                    <a:lnL w="12700" cap="flat" cmpd="sng" algn="ctr">
                      <a:solidFill>
                        <a:srgbClr val="F5F3EE"/>
                      </a:solidFill>
                      <a:prstDash val="solid"/>
                      <a:round/>
                      <a:headEnd type="none" w="med" len="med"/>
                      <a:tailEnd type="none" w="med" len="med"/>
                    </a:lnL>
                    <a:lnR w="12700" cap="flat" cmpd="sng" algn="ctr">
                      <a:solidFill>
                        <a:srgbClr val="F5F3EE"/>
                      </a:solidFill>
                      <a:prstDash val="solid"/>
                      <a:round/>
                      <a:headEnd type="none" w="med" len="med"/>
                      <a:tailEnd type="none" w="med" len="med"/>
                    </a:lnR>
                    <a:lnT w="12700" cap="flat" cmpd="sng" algn="ctr">
                      <a:solidFill>
                        <a:srgbClr val="F5F3EE"/>
                      </a:solidFill>
                      <a:prstDash val="solid"/>
                      <a:round/>
                      <a:headEnd type="none" w="med" len="med"/>
                      <a:tailEnd type="none" w="med" len="med"/>
                    </a:lnT>
                    <a:lnB w="12700" cap="flat" cmpd="sng" algn="ctr">
                      <a:solidFill>
                        <a:srgbClr val="F5F3EE"/>
                      </a:solidFill>
                      <a:prstDash val="solid"/>
                      <a:round/>
                      <a:headEnd type="none" w="med" len="med"/>
                      <a:tailEnd type="none" w="med" len="med"/>
                    </a:lnB>
                    <a:solidFill>
                      <a:srgbClr val="F5F3EE"/>
                    </a:solidFill>
                  </a:tcPr>
                </a:tc>
                <a:tc>
                  <a:txBody>
                    <a:bodyPr/>
                    <a:lstStyle/>
                    <a:p>
                      <a:pPr indent="0" marL="0">
                        <a:buNone/>
                      </a:pPr>
                      <a:r>
                        <a:rPr lang="en-US" sz="1250" dirty="0">
                          <a:solidFill>
                            <a:srgbClr val="14213D"/>
                          </a:solidFill>
                          <a:latin typeface="Arial" pitchFamily="34" charset="0"/>
                          <a:ea typeface="Arial" pitchFamily="34" charset="-122"/>
                          <a:cs typeface="Arial" pitchFamily="34" charset="-120"/>
                        </a:rPr>
                        <a:t>données envoyées à un tiers (pas de données sensibles)</a:t>
                      </a:r>
                      <a:endParaRPr lang="en-US" sz="1250" dirty="0">
                        <a:latin typeface="Arial" charset="0"/>
                        <a:ea typeface="Arial" charset="0"/>
                        <a:cs typeface="Arial" charset="0"/>
                      </a:endParaRPr>
                    </a:p>
                  </a:txBody>
                  <a:tcPr marL="101600" marR="101600" marT="63500" marB="63500" anchor="ctr">
                    <a:lnL w="12700" cap="flat" cmpd="sng" algn="ctr">
                      <a:solidFill>
                        <a:srgbClr val="F5F3EE"/>
                      </a:solidFill>
                      <a:prstDash val="solid"/>
                      <a:round/>
                      <a:headEnd type="none" w="med" len="med"/>
                      <a:tailEnd type="none" w="med" len="med"/>
                    </a:lnL>
                    <a:lnR w="12700" cap="flat" cmpd="sng" algn="ctr">
                      <a:solidFill>
                        <a:srgbClr val="F5F3EE"/>
                      </a:solidFill>
                      <a:prstDash val="solid"/>
                      <a:round/>
                      <a:headEnd type="none" w="med" len="med"/>
                      <a:tailEnd type="none" w="med" len="med"/>
                    </a:lnR>
                    <a:lnT w="12700" cap="flat" cmpd="sng" algn="ctr">
                      <a:solidFill>
                        <a:srgbClr val="F5F3EE"/>
                      </a:solidFill>
                      <a:prstDash val="solid"/>
                      <a:round/>
                      <a:headEnd type="none" w="med" len="med"/>
                      <a:tailEnd type="none" w="med" len="med"/>
                    </a:lnT>
                    <a:lnB w="12700" cap="flat" cmpd="sng" algn="ctr">
                      <a:solidFill>
                        <a:srgbClr val="F5F3EE"/>
                      </a:solidFill>
                      <a:prstDash val="solid"/>
                      <a:round/>
                      <a:headEnd type="none" w="med" len="med"/>
                      <a:tailEnd type="none" w="med" len="med"/>
                    </a:lnB>
                    <a:solidFill>
                      <a:srgbClr val="F5F3EE"/>
                    </a:solidFill>
                  </a:tcPr>
                </a:tc>
              </a:tr>
              <a:tr h="566928">
                <a:tc>
                  <a:txBody>
                    <a:bodyPr/>
                    <a:lstStyle/>
                    <a:p>
                      <a:pPr indent="0" marL="0">
                        <a:buNone/>
                      </a:pPr>
                      <a:r>
                        <a:rPr lang="en-US" sz="1250" b="1" dirty="0">
                          <a:solidFill>
                            <a:srgbClr val="B45F06"/>
                          </a:solidFill>
                          <a:latin typeface="Arial" pitchFamily="34" charset="0"/>
                          <a:ea typeface="Arial" pitchFamily="34" charset="-122"/>
                          <a:cs typeface="Arial" pitchFamily="34" charset="-120"/>
                        </a:rPr>
                        <a:t>Garder Laravel + Blade</a:t>
                      </a:r>
                      <a:endParaRPr lang="en-US" sz="1250" dirty="0">
                        <a:latin typeface="Arial" charset="0"/>
                        <a:ea typeface="Arial" charset="0"/>
                        <a:cs typeface="Arial" charset="0"/>
                      </a:endParaRPr>
                    </a:p>
                  </a:txBody>
                  <a:tcPr marL="101600" marR="101600" marT="63500" marB="63500" anchor="ctr">
                    <a:lnL w="12700" cap="flat" cmpd="sng" algn="ctr">
                      <a:solidFill>
                        <a:srgbClr val="F5F3EE"/>
                      </a:solidFill>
                      <a:prstDash val="solid"/>
                      <a:round/>
                      <a:headEnd type="none" w="med" len="med"/>
                      <a:tailEnd type="none" w="med" len="med"/>
                    </a:lnL>
                    <a:lnR w="12700" cap="flat" cmpd="sng" algn="ctr">
                      <a:solidFill>
                        <a:srgbClr val="F5F3EE"/>
                      </a:solidFill>
                      <a:prstDash val="solid"/>
                      <a:round/>
                      <a:headEnd type="none" w="med" len="med"/>
                      <a:tailEnd type="none" w="med" len="med"/>
                    </a:lnR>
                    <a:lnT w="12700" cap="flat" cmpd="sng" algn="ctr">
                      <a:solidFill>
                        <a:srgbClr val="F5F3EE"/>
                      </a:solidFill>
                      <a:prstDash val="solid"/>
                      <a:round/>
                      <a:headEnd type="none" w="med" len="med"/>
                      <a:tailEnd type="none" w="med" len="med"/>
                    </a:lnT>
                    <a:lnB w="12700" cap="flat" cmpd="sng" algn="ctr">
                      <a:solidFill>
                        <a:srgbClr val="F5F3EE"/>
                      </a:solidFill>
                      <a:prstDash val="solid"/>
                      <a:round/>
                      <a:headEnd type="none" w="med" len="med"/>
                      <a:tailEnd type="none" w="med" len="med"/>
                    </a:lnB>
                    <a:solidFill>
                      <a:srgbClr val="E6E2D8"/>
                    </a:solidFill>
                  </a:tcPr>
                </a:tc>
                <a:tc>
                  <a:txBody>
                    <a:bodyPr/>
                    <a:lstStyle/>
                    <a:p>
                      <a:pPr indent="0" marL="0">
                        <a:buNone/>
                      </a:pPr>
                      <a:r>
                        <a:rPr lang="en-US" sz="1250" dirty="0">
                          <a:solidFill>
                            <a:srgbClr val="14213D"/>
                          </a:solidFill>
                          <a:latin typeface="Arial" pitchFamily="34" charset="0"/>
                          <a:ea typeface="Arial" pitchFamily="34" charset="-122"/>
                          <a:cs typeface="Arial" pitchFamily="34" charset="-120"/>
                        </a:rPr>
                        <a:t>le socle existait : on automatise autour plutôt que de tout réécrire</a:t>
                      </a:r>
                      <a:endParaRPr lang="en-US" sz="1250" dirty="0">
                        <a:latin typeface="Arial" charset="0"/>
                        <a:ea typeface="Arial" charset="0"/>
                        <a:cs typeface="Arial" charset="0"/>
                      </a:endParaRPr>
                    </a:p>
                  </a:txBody>
                  <a:tcPr marL="101600" marR="101600" marT="63500" marB="63500" anchor="ctr">
                    <a:lnL w="12700" cap="flat" cmpd="sng" algn="ctr">
                      <a:solidFill>
                        <a:srgbClr val="F5F3EE"/>
                      </a:solidFill>
                      <a:prstDash val="solid"/>
                      <a:round/>
                      <a:headEnd type="none" w="med" len="med"/>
                      <a:tailEnd type="none" w="med" len="med"/>
                    </a:lnL>
                    <a:lnR w="12700" cap="flat" cmpd="sng" algn="ctr">
                      <a:solidFill>
                        <a:srgbClr val="F5F3EE"/>
                      </a:solidFill>
                      <a:prstDash val="solid"/>
                      <a:round/>
                      <a:headEnd type="none" w="med" len="med"/>
                      <a:tailEnd type="none" w="med" len="med"/>
                    </a:lnR>
                    <a:lnT w="12700" cap="flat" cmpd="sng" algn="ctr">
                      <a:solidFill>
                        <a:srgbClr val="F5F3EE"/>
                      </a:solidFill>
                      <a:prstDash val="solid"/>
                      <a:round/>
                      <a:headEnd type="none" w="med" len="med"/>
                      <a:tailEnd type="none" w="med" len="med"/>
                    </a:lnT>
                    <a:lnB w="12700" cap="flat" cmpd="sng" algn="ctr">
                      <a:solidFill>
                        <a:srgbClr val="F5F3EE"/>
                      </a:solidFill>
                      <a:prstDash val="solid"/>
                      <a:round/>
                      <a:headEnd type="none" w="med" len="med"/>
                      <a:tailEnd type="none" w="med" len="med"/>
                    </a:lnB>
                    <a:solidFill>
                      <a:srgbClr val="E6E2D8"/>
                    </a:solidFill>
                  </a:tcPr>
                </a:tc>
                <a:tc>
                  <a:txBody>
                    <a:bodyPr/>
                    <a:lstStyle/>
                    <a:p>
                      <a:pPr indent="0" marL="0">
                        <a:buNone/>
                      </a:pPr>
                      <a:r>
                        <a:rPr lang="en-US" sz="1250" dirty="0">
                          <a:solidFill>
                            <a:srgbClr val="14213D"/>
                          </a:solidFill>
                          <a:latin typeface="Arial" pitchFamily="34" charset="0"/>
                          <a:ea typeface="Arial" pitchFamily="34" charset="-122"/>
                          <a:cs typeface="Arial" pitchFamily="34" charset="-120"/>
                        </a:rPr>
                        <a:t>interface simple, peu de JavaScript</a:t>
                      </a:r>
                      <a:endParaRPr lang="en-US" sz="1250" dirty="0">
                        <a:latin typeface="Arial" charset="0"/>
                        <a:ea typeface="Arial" charset="0"/>
                        <a:cs typeface="Arial" charset="0"/>
                      </a:endParaRPr>
                    </a:p>
                  </a:txBody>
                  <a:tcPr marL="101600" marR="101600" marT="63500" marB="63500" anchor="ctr">
                    <a:lnL w="12700" cap="flat" cmpd="sng" algn="ctr">
                      <a:solidFill>
                        <a:srgbClr val="F5F3EE"/>
                      </a:solidFill>
                      <a:prstDash val="solid"/>
                      <a:round/>
                      <a:headEnd type="none" w="med" len="med"/>
                      <a:tailEnd type="none" w="med" len="med"/>
                    </a:lnL>
                    <a:lnR w="12700" cap="flat" cmpd="sng" algn="ctr">
                      <a:solidFill>
                        <a:srgbClr val="F5F3EE"/>
                      </a:solidFill>
                      <a:prstDash val="solid"/>
                      <a:round/>
                      <a:headEnd type="none" w="med" len="med"/>
                      <a:tailEnd type="none" w="med" len="med"/>
                    </a:lnR>
                    <a:lnT w="12700" cap="flat" cmpd="sng" algn="ctr">
                      <a:solidFill>
                        <a:srgbClr val="F5F3EE"/>
                      </a:solidFill>
                      <a:prstDash val="solid"/>
                      <a:round/>
                      <a:headEnd type="none" w="med" len="med"/>
                      <a:tailEnd type="none" w="med" len="med"/>
                    </a:lnT>
                    <a:lnB w="12700" cap="flat" cmpd="sng" algn="ctr">
                      <a:solidFill>
                        <a:srgbClr val="F5F3EE"/>
                      </a:solidFill>
                      <a:prstDash val="solid"/>
                      <a:round/>
                      <a:headEnd type="none" w="med" len="med"/>
                      <a:tailEnd type="none" w="med" len="med"/>
                    </a:lnB>
                    <a:solidFill>
                      <a:srgbClr val="E6E2D8"/>
                    </a:solidFill>
                  </a:tcPr>
                </a:tc>
              </a:tr>
              <a:tr h="566928">
                <a:tc>
                  <a:txBody>
                    <a:bodyPr/>
                    <a:lstStyle/>
                    <a:p>
                      <a:pPr indent="0" marL="0">
                        <a:buNone/>
                      </a:pPr>
                      <a:r>
                        <a:rPr lang="en-US" sz="1250" b="1" dirty="0">
                          <a:solidFill>
                            <a:srgbClr val="B45F06"/>
                          </a:solidFill>
                          <a:latin typeface="Arial" pitchFamily="34" charset="0"/>
                          <a:ea typeface="Arial" pitchFamily="34" charset="-122"/>
                          <a:cs typeface="Arial" pitchFamily="34" charset="-120"/>
                        </a:rPr>
                        <a:t>Render et Supabase gratuits</a:t>
                      </a:r>
                      <a:endParaRPr lang="en-US" sz="1250" dirty="0">
                        <a:latin typeface="Arial" charset="0"/>
                        <a:ea typeface="Arial" charset="0"/>
                        <a:cs typeface="Arial" charset="0"/>
                      </a:endParaRPr>
                    </a:p>
                  </a:txBody>
                  <a:tcPr marL="101600" marR="101600" marT="63500" marB="63500" anchor="ctr">
                    <a:lnL w="12700" cap="flat" cmpd="sng" algn="ctr">
                      <a:solidFill>
                        <a:srgbClr val="F5F3EE"/>
                      </a:solidFill>
                      <a:prstDash val="solid"/>
                      <a:round/>
                      <a:headEnd type="none" w="med" len="med"/>
                      <a:tailEnd type="none" w="med" len="med"/>
                    </a:lnL>
                    <a:lnR w="12700" cap="flat" cmpd="sng" algn="ctr">
                      <a:solidFill>
                        <a:srgbClr val="F5F3EE"/>
                      </a:solidFill>
                      <a:prstDash val="solid"/>
                      <a:round/>
                      <a:headEnd type="none" w="med" len="med"/>
                      <a:tailEnd type="none" w="med" len="med"/>
                    </a:lnR>
                    <a:lnT w="12700" cap="flat" cmpd="sng" algn="ctr">
                      <a:solidFill>
                        <a:srgbClr val="F5F3EE"/>
                      </a:solidFill>
                      <a:prstDash val="solid"/>
                      <a:round/>
                      <a:headEnd type="none" w="med" len="med"/>
                      <a:tailEnd type="none" w="med" len="med"/>
                    </a:lnT>
                    <a:lnB w="12700" cap="flat" cmpd="sng" algn="ctr">
                      <a:solidFill>
                        <a:srgbClr val="F5F3EE"/>
                      </a:solidFill>
                      <a:prstDash val="solid"/>
                      <a:round/>
                      <a:headEnd type="none" w="med" len="med"/>
                      <a:tailEnd type="none" w="med" len="med"/>
                    </a:lnB>
                    <a:solidFill>
                      <a:srgbClr val="F5F3EE"/>
                    </a:solidFill>
                  </a:tcPr>
                </a:tc>
                <a:tc>
                  <a:txBody>
                    <a:bodyPr/>
                    <a:lstStyle/>
                    <a:p>
                      <a:pPr indent="0" marL="0">
                        <a:buNone/>
                      </a:pPr>
                      <a:r>
                        <a:rPr lang="en-US" sz="1250" dirty="0">
                          <a:solidFill>
                            <a:srgbClr val="14213D"/>
                          </a:solidFill>
                          <a:latin typeface="Arial" pitchFamily="34" charset="0"/>
                          <a:ea typeface="Arial" pitchFamily="34" charset="-122"/>
                          <a:cs typeface="Arial" pitchFamily="34" charset="-120"/>
                        </a:rPr>
                        <a:t>démontrable en ligne gratuitement</a:t>
                      </a:r>
                      <a:endParaRPr lang="en-US" sz="1250" dirty="0">
                        <a:latin typeface="Arial" charset="0"/>
                        <a:ea typeface="Arial" charset="0"/>
                        <a:cs typeface="Arial" charset="0"/>
                      </a:endParaRPr>
                    </a:p>
                  </a:txBody>
                  <a:tcPr marL="101600" marR="101600" marT="63500" marB="63500" anchor="ctr">
                    <a:lnL w="12700" cap="flat" cmpd="sng" algn="ctr">
                      <a:solidFill>
                        <a:srgbClr val="F5F3EE"/>
                      </a:solidFill>
                      <a:prstDash val="solid"/>
                      <a:round/>
                      <a:headEnd type="none" w="med" len="med"/>
                      <a:tailEnd type="none" w="med" len="med"/>
                    </a:lnL>
                    <a:lnR w="12700" cap="flat" cmpd="sng" algn="ctr">
                      <a:solidFill>
                        <a:srgbClr val="F5F3EE"/>
                      </a:solidFill>
                      <a:prstDash val="solid"/>
                      <a:round/>
                      <a:headEnd type="none" w="med" len="med"/>
                      <a:tailEnd type="none" w="med" len="med"/>
                    </a:lnR>
                    <a:lnT w="12700" cap="flat" cmpd="sng" algn="ctr">
                      <a:solidFill>
                        <a:srgbClr val="F5F3EE"/>
                      </a:solidFill>
                      <a:prstDash val="solid"/>
                      <a:round/>
                      <a:headEnd type="none" w="med" len="med"/>
                      <a:tailEnd type="none" w="med" len="med"/>
                    </a:lnT>
                    <a:lnB w="12700" cap="flat" cmpd="sng" algn="ctr">
                      <a:solidFill>
                        <a:srgbClr val="F5F3EE"/>
                      </a:solidFill>
                      <a:prstDash val="solid"/>
                      <a:round/>
                      <a:headEnd type="none" w="med" len="med"/>
                      <a:tailEnd type="none" w="med" len="med"/>
                    </a:lnB>
                    <a:solidFill>
                      <a:srgbClr val="F5F3EE"/>
                    </a:solidFill>
                  </a:tcPr>
                </a:tc>
                <a:tc>
                  <a:txBody>
                    <a:bodyPr/>
                    <a:lstStyle/>
                    <a:p>
                      <a:pPr indent="0" marL="0">
                        <a:buNone/>
                      </a:pPr>
                      <a:r>
                        <a:rPr lang="en-US" sz="1250" dirty="0">
                          <a:solidFill>
                            <a:srgbClr val="14213D"/>
                          </a:solidFill>
                          <a:latin typeface="Arial" pitchFamily="34" charset="0"/>
                          <a:ea typeface="Arial" pitchFamily="34" charset="-122"/>
                          <a:cs typeface="Arial" pitchFamily="34" charset="-120"/>
                        </a:rPr>
                        <a:t>veille de Render, n8n encore en local</a:t>
                      </a:r>
                      <a:endParaRPr lang="en-US" sz="1250" dirty="0">
                        <a:latin typeface="Arial" charset="0"/>
                        <a:ea typeface="Arial" charset="0"/>
                        <a:cs typeface="Arial" charset="0"/>
                      </a:endParaRPr>
                    </a:p>
                  </a:txBody>
                  <a:tcPr marL="101600" marR="101600" marT="63500" marB="63500" anchor="ctr">
                    <a:lnL w="12700" cap="flat" cmpd="sng" algn="ctr">
                      <a:solidFill>
                        <a:srgbClr val="F5F3EE"/>
                      </a:solidFill>
                      <a:prstDash val="solid"/>
                      <a:round/>
                      <a:headEnd type="none" w="med" len="med"/>
                      <a:tailEnd type="none" w="med" len="med"/>
                    </a:lnL>
                    <a:lnR w="12700" cap="flat" cmpd="sng" algn="ctr">
                      <a:solidFill>
                        <a:srgbClr val="F5F3EE"/>
                      </a:solidFill>
                      <a:prstDash val="solid"/>
                      <a:round/>
                      <a:headEnd type="none" w="med" len="med"/>
                      <a:tailEnd type="none" w="med" len="med"/>
                    </a:lnR>
                    <a:lnT w="12700" cap="flat" cmpd="sng" algn="ctr">
                      <a:solidFill>
                        <a:srgbClr val="F5F3EE"/>
                      </a:solidFill>
                      <a:prstDash val="solid"/>
                      <a:round/>
                      <a:headEnd type="none" w="med" len="med"/>
                      <a:tailEnd type="none" w="med" len="med"/>
                    </a:lnT>
                    <a:lnB w="12700" cap="flat" cmpd="sng" algn="ctr">
                      <a:solidFill>
                        <a:srgbClr val="F5F3EE"/>
                      </a:solidFill>
                      <a:prstDash val="solid"/>
                      <a:round/>
                      <a:headEnd type="none" w="med" len="med"/>
                      <a:tailEnd type="none" w="med" len="med"/>
                    </a:lnB>
                    <a:solidFill>
                      <a:srgbClr val="F5F3EE"/>
                    </a:solidFill>
                  </a:tcPr>
                </a:tc>
              </a:tr>
            </a:tbl>
          </a:graphicData>
        </a:graphic>
      </p:graphicFrame>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A6373"/>
                </a:solidFill>
                <a:latin typeface="Arial"/>
                <a:ea typeface="Arial"/>
                <a:cs typeface="Aria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640080" y="457200"/>
            <a:ext cx="10911535" cy="731520"/>
          </a:xfrm>
          <a:prstGeom prst="rect">
            <a:avLst/>
          </a:prstGeom>
          <a:noFill/>
          <a:ln/>
        </p:spPr>
        <p:txBody>
          <a:bodyPr wrap="square" lIns="0" tIns="0" rIns="0" bIns="0" rtlCol="0" anchor="t"/>
          <a:lstStyle/>
          <a:p>
            <a:pPr algn="l" indent="0" marL="0">
              <a:buNone/>
            </a:pPr>
            <a:r>
              <a:rPr lang="en-US" sz="3200" b="1" dirty="0">
                <a:solidFill>
                  <a:srgbClr val="FFFFFF"/>
                </a:solidFill>
                <a:latin typeface="Arial" pitchFamily="34" charset="0"/>
                <a:ea typeface="Arial" pitchFamily="34" charset="-122"/>
                <a:cs typeface="Arial" pitchFamily="34" charset="-120"/>
              </a:rPr>
              <a:t>Une demande, de bout en bout</a:t>
            </a:r>
            <a:endParaRPr lang="en-US" sz="3200" dirty="0"/>
          </a:p>
        </p:txBody>
      </p:sp>
      <p:sp>
        <p:nvSpPr>
          <p:cNvPr id="3" name="Text 0"/>
          <p:cNvSpPr/>
          <p:nvPr>
            <p:ph idx="101" type="body" hasCustomPrompt="1"/>
          </p:nvPr>
        </p:nvSpPr>
        <p:spPr>
          <a:xfrm>
            <a:off x="640080" y="1170432"/>
            <a:ext cx="10911535" cy="365760"/>
          </a:xfrm>
          <a:prstGeom prst="rect">
            <a:avLst/>
          </a:prstGeom>
          <a:noFill/>
          <a:ln/>
        </p:spPr>
        <p:txBody>
          <a:bodyPr wrap="square" lIns="0" tIns="0" rIns="0" bIns="0" rtlCol="0" anchor="ctr"/>
          <a:lstStyle/>
          <a:p>
            <a:pPr algn="l" indent="0" marL="0">
              <a:buNone/>
            </a:pPr>
            <a:r>
              <a:rPr lang="en-US" sz="1500" b="1" dirty="0">
                <a:solidFill>
                  <a:srgbClr val="FCA311"/>
                </a:solidFill>
                <a:latin typeface="Arial" pitchFamily="34" charset="0"/>
                <a:ea typeface="Arial" pitchFamily="34" charset="-122"/>
                <a:cs typeface="Arial" pitchFamily="34" charset="-120"/>
              </a:rPr>
              <a:t>Sans intervention manuelle : un trigger ou un cron déclenche chaque étape</a:t>
            </a:r>
            <a:endParaRPr lang="en-US" sz="1500" dirty="0"/>
          </a:p>
        </p:txBody>
      </p:sp>
      <p:sp>
        <p:nvSpPr>
          <p:cNvPr id="4" name="Création"/>
          <p:cNvSpPr/>
          <p:nvPr/>
        </p:nvSpPr>
        <p:spPr>
          <a:xfrm>
            <a:off x="640080" y="1783080"/>
            <a:ext cx="2487854" cy="3977640"/>
          </a:xfrm>
          <a:prstGeom prst="roundRect">
            <a:avLst>
              <a:gd name="adj" fmla="val 2205"/>
            </a:avLst>
          </a:prstGeom>
          <a:solidFill>
            <a:srgbClr val="1F3160"/>
          </a:solidFill>
          <a:ln w="12700">
            <a:solidFill>
              <a:srgbClr val="1F3160"/>
            </a:solidFill>
            <a:prstDash val="solid"/>
          </a:ln>
        </p:spPr>
      </p:sp>
      <p:sp>
        <p:nvSpPr>
          <p:cNvPr id="5" name="Shape 3"/>
          <p:cNvSpPr/>
          <p:nvPr/>
        </p:nvSpPr>
        <p:spPr>
          <a:xfrm>
            <a:off x="868680" y="2011680"/>
            <a:ext cx="438912" cy="438912"/>
          </a:xfrm>
          <a:prstGeom prst="ellipse">
            <a:avLst/>
          </a:prstGeom>
          <a:solidFill>
            <a:srgbClr val="FCA311"/>
          </a:solidFill>
          <a:ln w="12700">
            <a:solidFill>
              <a:srgbClr val="FCA311"/>
            </a:solidFill>
            <a:prstDash val="solid"/>
          </a:ln>
        </p:spPr>
      </p:sp>
      <p:sp>
        <p:nvSpPr>
          <p:cNvPr id="6" name="Text 4"/>
          <p:cNvSpPr txBox="1"/>
          <p:nvPr/>
        </p:nvSpPr>
        <p:spPr>
          <a:xfrm>
            <a:off x="868680" y="2011680"/>
            <a:ext cx="438912" cy="438912"/>
          </a:xfrm>
          <a:prstGeom prst="rect">
            <a:avLst/>
          </a:prstGeom>
          <a:noFill/>
          <a:ln/>
        </p:spPr>
        <p:txBody>
          <a:bodyPr wrap="square" lIns="0" tIns="0" rIns="0" bIns="0" rtlCol="0" anchor="ctr"/>
          <a:lstStyle/>
          <a:p>
            <a:pPr algn="ctr" indent="0" marL="0">
              <a:buNone/>
            </a:pPr>
            <a:r>
              <a:rPr lang="en-US" sz="1500" b="1" dirty="0">
                <a:solidFill>
                  <a:srgbClr val="14213D"/>
                </a:solidFill>
                <a:latin typeface="Arial" pitchFamily="34" charset="0"/>
                <a:ea typeface="Arial" pitchFamily="34" charset="-122"/>
                <a:cs typeface="Arial" pitchFamily="34" charset="-120"/>
              </a:rPr>
              <a:t>1</a:t>
            </a:r>
            <a:endParaRPr lang="en-US" sz="1500" dirty="0"/>
          </a:p>
        </p:txBody>
      </p:sp>
      <p:sp>
        <p:nvSpPr>
          <p:cNvPr id="7" name="Text 5"/>
          <p:cNvSpPr txBox="1"/>
          <p:nvPr/>
        </p:nvSpPr>
        <p:spPr>
          <a:xfrm>
            <a:off x="868680" y="2651760"/>
            <a:ext cx="2030654" cy="365760"/>
          </a:xfrm>
          <a:prstGeom prst="rect">
            <a:avLst/>
          </a:prstGeom>
          <a:noFill/>
          <a:ln/>
        </p:spPr>
        <p:txBody>
          <a:bodyPr wrap="square" lIns="0" tIns="0" rIns="0" bIns="0" rtlCol="0" anchor="t"/>
          <a:lstStyle/>
          <a:p>
            <a:pPr indent="0" marL="0">
              <a:buNone/>
            </a:pPr>
            <a:r>
              <a:rPr lang="en-US" sz="1800" b="1" dirty="0">
                <a:solidFill>
                  <a:srgbClr val="FFFFFF"/>
                </a:solidFill>
                <a:latin typeface="Arial" pitchFamily="34" charset="0"/>
                <a:ea typeface="Arial" pitchFamily="34" charset="-122"/>
                <a:cs typeface="Arial" pitchFamily="34" charset="-120"/>
              </a:rPr>
              <a:t>Création</a:t>
            </a:r>
            <a:endParaRPr lang="en-US" sz="1800" dirty="0"/>
          </a:p>
        </p:txBody>
      </p:sp>
      <p:sp>
        <p:nvSpPr>
          <p:cNvPr id="8" name="Text 6"/>
          <p:cNvSpPr txBox="1"/>
          <p:nvPr/>
        </p:nvSpPr>
        <p:spPr>
          <a:xfrm>
            <a:off x="868680" y="3108960"/>
            <a:ext cx="2030654" cy="1188720"/>
          </a:xfrm>
          <a:prstGeom prst="rect">
            <a:avLst/>
          </a:prstGeom>
          <a:noFill/>
          <a:ln/>
        </p:spPr>
        <p:txBody>
          <a:bodyPr wrap="square" lIns="0" tIns="0" rIns="0" bIns="0" rtlCol="0" anchor="t"/>
          <a:lstStyle/>
          <a:p>
            <a:pPr indent="0" marL="0">
              <a:buNone/>
            </a:pPr>
            <a:r>
              <a:rPr lang="en-US" sz="1300" dirty="0">
                <a:solidFill>
                  <a:srgbClr val="C9D1DE"/>
                </a:solidFill>
                <a:latin typeface="Arial" pitchFamily="34" charset="0"/>
                <a:ea typeface="Arial" pitchFamily="34" charset="-122"/>
                <a:cs typeface="Arial" pitchFamily="34" charset="-120"/>
              </a:rPr>
              <a:t>L’employé crée sa demande, avec ses pièces jointes.</a:t>
            </a:r>
            <a:endParaRPr lang="en-US" sz="1300" dirty="0"/>
          </a:p>
        </p:txBody>
      </p:sp>
      <p:sp>
        <p:nvSpPr>
          <p:cNvPr id="9" name="Text 7"/>
          <p:cNvSpPr txBox="1"/>
          <p:nvPr/>
        </p:nvSpPr>
        <p:spPr>
          <a:xfrm>
            <a:off x="868680" y="4389120"/>
            <a:ext cx="2030654" cy="1234440"/>
          </a:xfrm>
          <a:prstGeom prst="rect">
            <a:avLst/>
          </a:prstGeom>
          <a:noFill/>
          <a:ln/>
        </p:spPr>
        <p:txBody>
          <a:bodyPr wrap="square" lIns="0" tIns="0" rIns="0" bIns="0" rtlCol="0" anchor="t"/>
          <a:lstStyle/>
          <a:p>
            <a:pPr indent="0" marL="0">
              <a:buNone/>
            </a:pPr>
            <a:r>
              <a:rPr lang="en-US" sz="1250" b="1" dirty="0">
                <a:solidFill>
                  <a:srgbClr val="FCA311"/>
                </a:solidFill>
                <a:latin typeface="Arial" pitchFamily="34" charset="0"/>
                <a:ea typeface="Arial" pitchFamily="34" charset="-122"/>
                <a:cs typeface="Arial" pitchFamily="34" charset="-120"/>
              </a:rPr>
              <a:t>Manager (ou son suppléant) assigné, résumé IA, mail en moins d’une minute</a:t>
            </a:r>
            <a:endParaRPr lang="en-US" sz="1250" dirty="0"/>
          </a:p>
        </p:txBody>
      </p:sp>
      <p:sp>
        <p:nvSpPr>
          <p:cNvPr id="10" name="Shape 8"/>
          <p:cNvSpPr/>
          <p:nvPr/>
        </p:nvSpPr>
        <p:spPr>
          <a:xfrm>
            <a:off x="3173654" y="3771900"/>
            <a:ext cx="228600" cy="0"/>
          </a:xfrm>
          <a:prstGeom prst="line">
            <a:avLst/>
          </a:prstGeom>
          <a:noFill/>
          <a:ln w="22225">
            <a:solidFill>
              <a:srgbClr val="FCA311"/>
            </a:solidFill>
            <a:prstDash val="solid"/>
            <a:tailEnd type="triangle"/>
          </a:ln>
        </p:spPr>
      </p:sp>
      <p:sp>
        <p:nvSpPr>
          <p:cNvPr id="11" name="Décision"/>
          <p:cNvSpPr/>
          <p:nvPr/>
        </p:nvSpPr>
        <p:spPr>
          <a:xfrm>
            <a:off x="3447974" y="1783080"/>
            <a:ext cx="2487854" cy="3977640"/>
          </a:xfrm>
          <a:prstGeom prst="roundRect">
            <a:avLst>
              <a:gd name="adj" fmla="val 2205"/>
            </a:avLst>
          </a:prstGeom>
          <a:solidFill>
            <a:srgbClr val="1F3160"/>
          </a:solidFill>
          <a:ln w="12700">
            <a:solidFill>
              <a:srgbClr val="1F3160"/>
            </a:solidFill>
            <a:prstDash val="solid"/>
          </a:ln>
        </p:spPr>
      </p:sp>
      <p:sp>
        <p:nvSpPr>
          <p:cNvPr id="12" name="Shape 10"/>
          <p:cNvSpPr/>
          <p:nvPr/>
        </p:nvSpPr>
        <p:spPr>
          <a:xfrm>
            <a:off x="3676574" y="2011680"/>
            <a:ext cx="438912" cy="438912"/>
          </a:xfrm>
          <a:prstGeom prst="ellipse">
            <a:avLst/>
          </a:prstGeom>
          <a:solidFill>
            <a:srgbClr val="FCA311"/>
          </a:solidFill>
          <a:ln w="12700">
            <a:solidFill>
              <a:srgbClr val="FCA311"/>
            </a:solidFill>
            <a:prstDash val="solid"/>
          </a:ln>
        </p:spPr>
      </p:sp>
      <p:sp>
        <p:nvSpPr>
          <p:cNvPr id="13" name="Text 11"/>
          <p:cNvSpPr txBox="1"/>
          <p:nvPr/>
        </p:nvSpPr>
        <p:spPr>
          <a:xfrm>
            <a:off x="3676574" y="2011680"/>
            <a:ext cx="438912" cy="438912"/>
          </a:xfrm>
          <a:prstGeom prst="rect">
            <a:avLst/>
          </a:prstGeom>
          <a:noFill/>
          <a:ln/>
        </p:spPr>
        <p:txBody>
          <a:bodyPr wrap="square" lIns="0" tIns="0" rIns="0" bIns="0" rtlCol="0" anchor="ctr"/>
          <a:lstStyle/>
          <a:p>
            <a:pPr algn="ctr" indent="0" marL="0">
              <a:buNone/>
            </a:pPr>
            <a:r>
              <a:rPr lang="en-US" sz="1500" b="1" dirty="0">
                <a:solidFill>
                  <a:srgbClr val="14213D"/>
                </a:solidFill>
                <a:latin typeface="Arial" pitchFamily="34" charset="0"/>
                <a:ea typeface="Arial" pitchFamily="34" charset="-122"/>
                <a:cs typeface="Arial" pitchFamily="34" charset="-120"/>
              </a:rPr>
              <a:t>2</a:t>
            </a:r>
            <a:endParaRPr lang="en-US" sz="1500" dirty="0"/>
          </a:p>
        </p:txBody>
      </p:sp>
      <p:sp>
        <p:nvSpPr>
          <p:cNvPr id="14" name="Text 12"/>
          <p:cNvSpPr txBox="1"/>
          <p:nvPr/>
        </p:nvSpPr>
        <p:spPr>
          <a:xfrm>
            <a:off x="3676574" y="2651760"/>
            <a:ext cx="2030654" cy="365760"/>
          </a:xfrm>
          <a:prstGeom prst="rect">
            <a:avLst/>
          </a:prstGeom>
          <a:noFill/>
          <a:ln/>
        </p:spPr>
        <p:txBody>
          <a:bodyPr wrap="square" lIns="0" tIns="0" rIns="0" bIns="0" rtlCol="0" anchor="t"/>
          <a:lstStyle/>
          <a:p>
            <a:pPr indent="0" marL="0">
              <a:buNone/>
            </a:pPr>
            <a:r>
              <a:rPr lang="en-US" sz="1800" b="1" dirty="0">
                <a:solidFill>
                  <a:srgbClr val="FFFFFF"/>
                </a:solidFill>
                <a:latin typeface="Arial" pitchFamily="34" charset="0"/>
                <a:ea typeface="Arial" pitchFamily="34" charset="-122"/>
                <a:cs typeface="Arial" pitchFamily="34" charset="-120"/>
              </a:rPr>
              <a:t>Décision</a:t>
            </a:r>
            <a:endParaRPr lang="en-US" sz="1800" dirty="0"/>
          </a:p>
        </p:txBody>
      </p:sp>
      <p:sp>
        <p:nvSpPr>
          <p:cNvPr id="15" name="Text 13"/>
          <p:cNvSpPr txBox="1"/>
          <p:nvPr/>
        </p:nvSpPr>
        <p:spPr>
          <a:xfrm>
            <a:off x="3676574" y="3108960"/>
            <a:ext cx="2030654" cy="1188720"/>
          </a:xfrm>
          <a:prstGeom prst="rect">
            <a:avLst/>
          </a:prstGeom>
          <a:noFill/>
          <a:ln/>
        </p:spPr>
        <p:txBody>
          <a:bodyPr wrap="square" lIns="0" tIns="0" rIns="0" bIns="0" rtlCol="0" anchor="t"/>
          <a:lstStyle/>
          <a:p>
            <a:pPr indent="0" marL="0">
              <a:buNone/>
            </a:pPr>
            <a:r>
              <a:rPr lang="en-US" sz="1300" dirty="0">
                <a:solidFill>
                  <a:srgbClr val="C9D1DE"/>
                </a:solidFill>
                <a:latin typeface="Arial" pitchFamily="34" charset="0"/>
                <a:ea typeface="Arial" pitchFamily="34" charset="-122"/>
                <a:cs typeface="Arial" pitchFamily="34" charset="-120"/>
              </a:rPr>
              <a:t>Le manager valide, refuse ou demande un complément, en un clic depuis le mail.</a:t>
            </a:r>
            <a:endParaRPr lang="en-US" sz="1300" dirty="0"/>
          </a:p>
        </p:txBody>
      </p:sp>
      <p:sp>
        <p:nvSpPr>
          <p:cNvPr id="16" name="Text 14"/>
          <p:cNvSpPr txBox="1"/>
          <p:nvPr/>
        </p:nvSpPr>
        <p:spPr>
          <a:xfrm>
            <a:off x="3676574" y="4389120"/>
            <a:ext cx="2030654" cy="1234440"/>
          </a:xfrm>
          <a:prstGeom prst="rect">
            <a:avLst/>
          </a:prstGeom>
          <a:noFill/>
          <a:ln/>
        </p:spPr>
        <p:txBody>
          <a:bodyPr wrap="square" lIns="0" tIns="0" rIns="0" bIns="0" rtlCol="0" anchor="t"/>
          <a:lstStyle/>
          <a:p>
            <a:pPr indent="0" marL="0">
              <a:buNone/>
            </a:pPr>
            <a:r>
              <a:rPr lang="en-US" sz="1250" b="1" dirty="0">
                <a:solidFill>
                  <a:srgbClr val="FCA311"/>
                </a:solidFill>
                <a:latin typeface="Arial" pitchFamily="34" charset="0"/>
                <a:ea typeface="Arial" pitchFamily="34" charset="-122"/>
                <a:cs typeface="Arial" pitchFamily="34" charset="-120"/>
              </a:rPr>
              <a:t>Lien à usage unique ; 2e étape RH ou compta si la durée ou le montant le demande</a:t>
            </a:r>
            <a:endParaRPr lang="en-US" sz="1250" dirty="0"/>
          </a:p>
        </p:txBody>
      </p:sp>
      <p:sp>
        <p:nvSpPr>
          <p:cNvPr id="17" name="Shape 15"/>
          <p:cNvSpPr/>
          <p:nvPr/>
        </p:nvSpPr>
        <p:spPr>
          <a:xfrm>
            <a:off x="5981548" y="3771900"/>
            <a:ext cx="228600" cy="0"/>
          </a:xfrm>
          <a:prstGeom prst="line">
            <a:avLst/>
          </a:prstGeom>
          <a:noFill/>
          <a:ln w="22225">
            <a:solidFill>
              <a:srgbClr val="FCA311"/>
            </a:solidFill>
            <a:prstDash val="solid"/>
            <a:tailEnd type="triangle"/>
          </a:ln>
        </p:spPr>
      </p:sp>
      <p:sp>
        <p:nvSpPr>
          <p:cNvPr id="18" name="Relance"/>
          <p:cNvSpPr/>
          <p:nvPr/>
        </p:nvSpPr>
        <p:spPr>
          <a:xfrm>
            <a:off x="6255868" y="1783080"/>
            <a:ext cx="2487854" cy="3977640"/>
          </a:xfrm>
          <a:prstGeom prst="roundRect">
            <a:avLst>
              <a:gd name="adj" fmla="val 2205"/>
            </a:avLst>
          </a:prstGeom>
          <a:solidFill>
            <a:srgbClr val="1F3160"/>
          </a:solidFill>
          <a:ln w="12700">
            <a:solidFill>
              <a:srgbClr val="1F3160"/>
            </a:solidFill>
            <a:prstDash val="solid"/>
          </a:ln>
        </p:spPr>
      </p:sp>
      <p:sp>
        <p:nvSpPr>
          <p:cNvPr id="19" name="Shape 17"/>
          <p:cNvSpPr/>
          <p:nvPr/>
        </p:nvSpPr>
        <p:spPr>
          <a:xfrm>
            <a:off x="6484468" y="2011680"/>
            <a:ext cx="438912" cy="438912"/>
          </a:xfrm>
          <a:prstGeom prst="ellipse">
            <a:avLst/>
          </a:prstGeom>
          <a:solidFill>
            <a:srgbClr val="FCA311"/>
          </a:solidFill>
          <a:ln w="12700">
            <a:solidFill>
              <a:srgbClr val="FCA311"/>
            </a:solidFill>
            <a:prstDash val="solid"/>
          </a:ln>
        </p:spPr>
      </p:sp>
      <p:sp>
        <p:nvSpPr>
          <p:cNvPr id="20" name="Text 18"/>
          <p:cNvSpPr txBox="1"/>
          <p:nvPr/>
        </p:nvSpPr>
        <p:spPr>
          <a:xfrm>
            <a:off x="6484468" y="2011680"/>
            <a:ext cx="438912" cy="438912"/>
          </a:xfrm>
          <a:prstGeom prst="rect">
            <a:avLst/>
          </a:prstGeom>
          <a:noFill/>
          <a:ln/>
        </p:spPr>
        <p:txBody>
          <a:bodyPr wrap="square" lIns="0" tIns="0" rIns="0" bIns="0" rtlCol="0" anchor="ctr"/>
          <a:lstStyle/>
          <a:p>
            <a:pPr algn="ctr" indent="0" marL="0">
              <a:buNone/>
            </a:pPr>
            <a:r>
              <a:rPr lang="en-US" sz="1500" b="1" dirty="0">
                <a:solidFill>
                  <a:srgbClr val="14213D"/>
                </a:solidFill>
                <a:latin typeface="Arial" pitchFamily="34" charset="0"/>
                <a:ea typeface="Arial" pitchFamily="34" charset="-122"/>
                <a:cs typeface="Arial" pitchFamily="34" charset="-120"/>
              </a:rPr>
              <a:t>3</a:t>
            </a:r>
            <a:endParaRPr lang="en-US" sz="1500" dirty="0"/>
          </a:p>
        </p:txBody>
      </p:sp>
      <p:sp>
        <p:nvSpPr>
          <p:cNvPr id="21" name="Text 19"/>
          <p:cNvSpPr txBox="1"/>
          <p:nvPr/>
        </p:nvSpPr>
        <p:spPr>
          <a:xfrm>
            <a:off x="6484468" y="2651760"/>
            <a:ext cx="2030654" cy="365760"/>
          </a:xfrm>
          <a:prstGeom prst="rect">
            <a:avLst/>
          </a:prstGeom>
          <a:noFill/>
          <a:ln/>
        </p:spPr>
        <p:txBody>
          <a:bodyPr wrap="square" lIns="0" tIns="0" rIns="0" bIns="0" rtlCol="0" anchor="t"/>
          <a:lstStyle/>
          <a:p>
            <a:pPr indent="0" marL="0">
              <a:buNone/>
            </a:pPr>
            <a:r>
              <a:rPr lang="en-US" sz="1800" b="1" dirty="0">
                <a:solidFill>
                  <a:srgbClr val="FFFFFF"/>
                </a:solidFill>
                <a:latin typeface="Arial" pitchFamily="34" charset="0"/>
                <a:ea typeface="Arial" pitchFamily="34" charset="-122"/>
                <a:cs typeface="Arial" pitchFamily="34" charset="-120"/>
              </a:rPr>
              <a:t>Relance</a:t>
            </a:r>
            <a:endParaRPr lang="en-US" sz="1800" dirty="0"/>
          </a:p>
        </p:txBody>
      </p:sp>
      <p:sp>
        <p:nvSpPr>
          <p:cNvPr id="22" name="Text 20"/>
          <p:cNvSpPr txBox="1"/>
          <p:nvPr/>
        </p:nvSpPr>
        <p:spPr>
          <a:xfrm>
            <a:off x="6484468" y="3108960"/>
            <a:ext cx="2030654" cy="1188720"/>
          </a:xfrm>
          <a:prstGeom prst="rect">
            <a:avLst/>
          </a:prstGeom>
          <a:noFill/>
          <a:ln/>
        </p:spPr>
        <p:txBody>
          <a:bodyPr wrap="square" lIns="0" tIns="0" rIns="0" bIns="0" rtlCol="0" anchor="t"/>
          <a:lstStyle/>
          <a:p>
            <a:pPr indent="0" marL="0">
              <a:buNone/>
            </a:pPr>
            <a:r>
              <a:rPr lang="en-US" sz="1300" dirty="0">
                <a:solidFill>
                  <a:srgbClr val="C9D1DE"/>
                </a:solidFill>
                <a:latin typeface="Arial" pitchFamily="34" charset="0"/>
                <a:ea typeface="Arial" pitchFamily="34" charset="-122"/>
                <a:cs typeface="Arial" pitchFamily="34" charset="-120"/>
              </a:rPr>
              <a:t>Pas de réponse : relance, rappel la veille de l’échéance, puis escalade.</a:t>
            </a:r>
            <a:endParaRPr lang="en-US" sz="1300" dirty="0"/>
          </a:p>
        </p:txBody>
      </p:sp>
      <p:sp>
        <p:nvSpPr>
          <p:cNvPr id="23" name="Text 21"/>
          <p:cNvSpPr txBox="1"/>
          <p:nvPr/>
        </p:nvSpPr>
        <p:spPr>
          <a:xfrm>
            <a:off x="6484468" y="4389120"/>
            <a:ext cx="2030654" cy="1234440"/>
          </a:xfrm>
          <a:prstGeom prst="rect">
            <a:avLst/>
          </a:prstGeom>
          <a:noFill/>
          <a:ln/>
        </p:spPr>
        <p:txBody>
          <a:bodyPr wrap="square" lIns="0" tIns="0" rIns="0" bIns="0" rtlCol="0" anchor="t"/>
          <a:lstStyle/>
          <a:p>
            <a:pPr indent="0" marL="0">
              <a:buNone/>
            </a:pPr>
            <a:r>
              <a:rPr lang="en-US" sz="1250" b="1" dirty="0">
                <a:solidFill>
                  <a:srgbClr val="FCA311"/>
                </a:solidFill>
                <a:latin typeface="Arial" pitchFamily="34" charset="0"/>
                <a:ea typeface="Arial" pitchFamily="34" charset="-122"/>
                <a:cs typeface="Arial" pitchFamily="34" charset="-120"/>
              </a:rPr>
              <a:t>Matériel 1 / 3 j · Congé 2 / 5 j · Formation 4 / 10 j (jours ouvrés)</a:t>
            </a:r>
            <a:endParaRPr lang="en-US" sz="1250" dirty="0"/>
          </a:p>
        </p:txBody>
      </p:sp>
      <p:sp>
        <p:nvSpPr>
          <p:cNvPr id="24" name="Shape 22"/>
          <p:cNvSpPr/>
          <p:nvPr/>
        </p:nvSpPr>
        <p:spPr>
          <a:xfrm>
            <a:off x="8789441" y="3771900"/>
            <a:ext cx="228600" cy="0"/>
          </a:xfrm>
          <a:prstGeom prst="line">
            <a:avLst/>
          </a:prstGeom>
          <a:noFill/>
          <a:ln w="22225">
            <a:solidFill>
              <a:srgbClr val="FCA311"/>
            </a:solidFill>
            <a:prstDash val="solid"/>
            <a:tailEnd type="triangle"/>
          </a:ln>
        </p:spPr>
      </p:sp>
      <p:sp>
        <p:nvSpPr>
          <p:cNvPr id="25" name="Suivi"/>
          <p:cNvSpPr/>
          <p:nvPr/>
        </p:nvSpPr>
        <p:spPr>
          <a:xfrm>
            <a:off x="9063761" y="1783080"/>
            <a:ext cx="2487854" cy="3977640"/>
          </a:xfrm>
          <a:prstGeom prst="roundRect">
            <a:avLst>
              <a:gd name="adj" fmla="val 2205"/>
            </a:avLst>
          </a:prstGeom>
          <a:solidFill>
            <a:srgbClr val="1F3160"/>
          </a:solidFill>
          <a:ln w="12700">
            <a:solidFill>
              <a:srgbClr val="1F3160"/>
            </a:solidFill>
            <a:prstDash val="solid"/>
          </a:ln>
        </p:spPr>
      </p:sp>
      <p:sp>
        <p:nvSpPr>
          <p:cNvPr id="26" name="Shape 24"/>
          <p:cNvSpPr/>
          <p:nvPr/>
        </p:nvSpPr>
        <p:spPr>
          <a:xfrm>
            <a:off x="9292361" y="2011680"/>
            <a:ext cx="438912" cy="438912"/>
          </a:xfrm>
          <a:prstGeom prst="ellipse">
            <a:avLst/>
          </a:prstGeom>
          <a:solidFill>
            <a:srgbClr val="FCA311"/>
          </a:solidFill>
          <a:ln w="12700">
            <a:solidFill>
              <a:srgbClr val="FCA311"/>
            </a:solidFill>
            <a:prstDash val="solid"/>
          </a:ln>
        </p:spPr>
      </p:sp>
      <p:sp>
        <p:nvSpPr>
          <p:cNvPr id="27" name="Text 25"/>
          <p:cNvSpPr txBox="1"/>
          <p:nvPr/>
        </p:nvSpPr>
        <p:spPr>
          <a:xfrm>
            <a:off x="9292361" y="2011680"/>
            <a:ext cx="438912" cy="438912"/>
          </a:xfrm>
          <a:prstGeom prst="rect">
            <a:avLst/>
          </a:prstGeom>
          <a:noFill/>
          <a:ln/>
        </p:spPr>
        <p:txBody>
          <a:bodyPr wrap="square" lIns="0" tIns="0" rIns="0" bIns="0" rtlCol="0" anchor="ctr"/>
          <a:lstStyle/>
          <a:p>
            <a:pPr algn="ctr" indent="0" marL="0">
              <a:buNone/>
            </a:pPr>
            <a:r>
              <a:rPr lang="en-US" sz="1500" b="1" dirty="0">
                <a:solidFill>
                  <a:srgbClr val="14213D"/>
                </a:solidFill>
                <a:latin typeface="Arial" pitchFamily="34" charset="0"/>
                <a:ea typeface="Arial" pitchFamily="34" charset="-122"/>
                <a:cs typeface="Arial" pitchFamily="34" charset="-120"/>
              </a:rPr>
              <a:t>4</a:t>
            </a:r>
            <a:endParaRPr lang="en-US" sz="1500" dirty="0"/>
          </a:p>
        </p:txBody>
      </p:sp>
      <p:sp>
        <p:nvSpPr>
          <p:cNvPr id="28" name="Text 26"/>
          <p:cNvSpPr txBox="1"/>
          <p:nvPr/>
        </p:nvSpPr>
        <p:spPr>
          <a:xfrm>
            <a:off x="9292361" y="2651760"/>
            <a:ext cx="2030654" cy="365760"/>
          </a:xfrm>
          <a:prstGeom prst="rect">
            <a:avLst/>
          </a:prstGeom>
          <a:noFill/>
          <a:ln/>
        </p:spPr>
        <p:txBody>
          <a:bodyPr wrap="square" lIns="0" tIns="0" rIns="0" bIns="0" rtlCol="0" anchor="t"/>
          <a:lstStyle/>
          <a:p>
            <a:pPr indent="0" marL="0">
              <a:buNone/>
            </a:pPr>
            <a:r>
              <a:rPr lang="en-US" sz="1800" b="1" dirty="0">
                <a:solidFill>
                  <a:srgbClr val="FFFFFF"/>
                </a:solidFill>
                <a:latin typeface="Arial" pitchFamily="34" charset="0"/>
                <a:ea typeface="Arial" pitchFamily="34" charset="-122"/>
                <a:cs typeface="Arial" pitchFamily="34" charset="-120"/>
              </a:rPr>
              <a:t>Suivi</a:t>
            </a:r>
            <a:endParaRPr lang="en-US" sz="1800" dirty="0"/>
          </a:p>
        </p:txBody>
      </p:sp>
      <p:sp>
        <p:nvSpPr>
          <p:cNvPr id="29" name="Text 27"/>
          <p:cNvSpPr txBox="1"/>
          <p:nvPr/>
        </p:nvSpPr>
        <p:spPr>
          <a:xfrm>
            <a:off x="9292361" y="3108960"/>
            <a:ext cx="2030654" cy="1188720"/>
          </a:xfrm>
          <a:prstGeom prst="rect">
            <a:avLst/>
          </a:prstGeom>
          <a:noFill/>
          <a:ln/>
        </p:spPr>
        <p:txBody>
          <a:bodyPr wrap="square" lIns="0" tIns="0" rIns="0" bIns="0" rtlCol="0" anchor="t"/>
          <a:lstStyle/>
          <a:p>
            <a:pPr indent="0" marL="0">
              <a:buNone/>
            </a:pPr>
            <a:r>
              <a:rPr lang="en-US" sz="1300" dirty="0">
                <a:solidFill>
                  <a:srgbClr val="C9D1DE"/>
                </a:solidFill>
                <a:latin typeface="Arial" pitchFamily="34" charset="0"/>
                <a:ea typeface="Arial" pitchFamily="34" charset="-122"/>
                <a:cs typeface="Arial" pitchFamily="34" charset="-120"/>
              </a:rPr>
              <a:t>Le service prend en charge, puis clôt ; l’employé est prévenu à chaque étape.</a:t>
            </a:r>
            <a:endParaRPr lang="en-US" sz="1300" dirty="0"/>
          </a:p>
        </p:txBody>
      </p:sp>
      <p:sp>
        <p:nvSpPr>
          <p:cNvPr id="30" name="Text 28"/>
          <p:cNvSpPr txBox="1"/>
          <p:nvPr/>
        </p:nvSpPr>
        <p:spPr>
          <a:xfrm>
            <a:off x="9292361" y="4389120"/>
            <a:ext cx="2030654" cy="1234440"/>
          </a:xfrm>
          <a:prstGeom prst="rect">
            <a:avLst/>
          </a:prstGeom>
          <a:noFill/>
          <a:ln/>
        </p:spPr>
        <p:txBody>
          <a:bodyPr wrap="square" lIns="0" tIns="0" rIns="0" bIns="0" rtlCol="0" anchor="t"/>
          <a:lstStyle/>
          <a:p>
            <a:pPr indent="0" marL="0">
              <a:buNone/>
            </a:pPr>
            <a:r>
              <a:rPr lang="en-US" sz="1250" b="1" dirty="0">
                <a:solidFill>
                  <a:srgbClr val="FCA311"/>
                </a:solidFill>
                <a:latin typeface="Arial" pitchFamily="34" charset="0"/>
                <a:ea typeface="Arial" pitchFamily="34" charset="-122"/>
                <a:cs typeface="Arial" pitchFamily="34" charset="-120"/>
              </a:rPr>
              <a:t>Historique, statistiques, expiration automatique</a:t>
            </a:r>
            <a:endParaRPr lang="en-US" sz="1250" dirty="0"/>
          </a:p>
        </p:txBody>
      </p:sp>
      <p:sp>
        <p:nvSpPr>
          <p:cNvPr id="31" name="Text 29"/>
          <p:cNvSpPr txBox="1"/>
          <p:nvPr/>
        </p:nvSpPr>
        <p:spPr>
          <a:xfrm>
            <a:off x="640080" y="5943600"/>
            <a:ext cx="10911535" cy="320040"/>
          </a:xfrm>
          <a:prstGeom prst="rect">
            <a:avLst/>
          </a:prstGeom>
          <a:noFill/>
          <a:ln/>
        </p:spPr>
        <p:txBody>
          <a:bodyPr wrap="square" lIns="0" tIns="0" rIns="0" bIns="0" rtlCol="0" anchor="t"/>
          <a:lstStyle/>
          <a:p>
            <a:pPr indent="0" marL="0">
              <a:buNone/>
            </a:pPr>
            <a:r>
              <a:rPr lang="en-US" sz="1200" i="1" dirty="0">
                <a:solidFill>
                  <a:srgbClr val="9AA3B2"/>
                </a:solidFill>
                <a:latin typeface="Arial" pitchFamily="34" charset="0"/>
                <a:ea typeface="Arial" pitchFamily="34" charset="-122"/>
                <a:cs typeface="Arial" pitchFamily="34" charset="-120"/>
              </a:rPr>
              <a:t>Les délais (relance / escalade) sont réglés par la RH dans l’application, par type de demande.</a:t>
            </a:r>
            <a:endParaRPr lang="en-US" sz="12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AA3B2"/>
                </a:solidFill>
                <a:latin typeface="Arial"/>
                <a:ea typeface="Arial"/>
                <a:cs typeface="Aria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640080" y="457200"/>
            <a:ext cx="10911535" cy="731520"/>
          </a:xfrm>
          <a:prstGeom prst="rect">
            <a:avLst/>
          </a:prstGeom>
          <a:noFill/>
          <a:ln/>
        </p:spPr>
        <p:txBody>
          <a:bodyPr wrap="square" lIns="0" tIns="0" rIns="0" bIns="0" rtlCol="0" anchor="t"/>
          <a:lstStyle/>
          <a:p>
            <a:pPr algn="l" indent="0" marL="0">
              <a:buNone/>
            </a:pPr>
            <a:r>
              <a:rPr lang="en-US" sz="3200" b="1" dirty="0">
                <a:solidFill>
                  <a:srgbClr val="14213D"/>
                </a:solidFill>
                <a:latin typeface="Arial" pitchFamily="34" charset="0"/>
                <a:ea typeface="Arial" pitchFamily="34" charset="-122"/>
                <a:cs typeface="Arial" pitchFamily="34" charset="-120"/>
              </a:rPr>
              <a:t>La couche IA dans n8n</a:t>
            </a:r>
            <a:endParaRPr lang="en-US" sz="3200" dirty="0"/>
          </a:p>
        </p:txBody>
      </p:sp>
      <p:sp>
        <p:nvSpPr>
          <p:cNvPr id="3" name="Text 0"/>
          <p:cNvSpPr/>
          <p:nvPr>
            <p:ph idx="101" type="body" hasCustomPrompt="1"/>
          </p:nvPr>
        </p:nvSpPr>
        <p:spPr>
          <a:xfrm>
            <a:off x="640080" y="1170432"/>
            <a:ext cx="10911535" cy="365760"/>
          </a:xfrm>
          <a:prstGeom prst="rect">
            <a:avLst/>
          </a:prstGeom>
          <a:noFill/>
          <a:ln/>
        </p:spPr>
        <p:txBody>
          <a:bodyPr wrap="square" lIns="0" tIns="0" rIns="0" bIns="0" rtlCol="0" anchor="ctr"/>
          <a:lstStyle/>
          <a:p>
            <a:pPr algn="l" indent="0" marL="0">
              <a:buNone/>
            </a:pPr>
            <a:r>
              <a:rPr lang="en-US" sz="1500" b="1" dirty="0">
                <a:solidFill>
                  <a:srgbClr val="B45F06"/>
                </a:solidFill>
                <a:latin typeface="Arial" pitchFamily="34" charset="0"/>
                <a:ea typeface="Arial" pitchFamily="34" charset="-122"/>
                <a:cs typeface="Arial" pitchFamily="34" charset="-120"/>
              </a:rPr>
              <a:t>Quatre workflows publiés et versionnés dans Git (workflows/*.json)</a:t>
            </a:r>
            <a:endParaRPr lang="en-US" sz="1500" dirty="0"/>
          </a:p>
        </p:txBody>
      </p:sp>
      <p:pic>
        <p:nvPicPr>
          <p:cNvPr id="4" name="Image 0" descr="Workflow n8n ASSISTANT RH - RAG : déclencheur de chat, AI Agent, modèle, mémoire et trois outils (documentation_rh, consulter_mes_demandes, infos_entreprise)">    </p:cNvPr>
          <p:cNvPicPr>
            <a:picLocks noChangeAspect="1"/>
          </p:cNvPicPr>
          <p:nvPr/>
        </p:nvPicPr>
        <p:blipFill>
          <a:blip r:embed="rId1"/>
          <a:stretch>
            <a:fillRect/>
          </a:stretch>
        </p:blipFill>
        <p:spPr>
          <a:xfrm>
            <a:off x="640080" y="1783080"/>
            <a:ext cx="5669280" cy="4463661"/>
          </a:xfrm>
          <a:prstGeom prst="rect">
            <a:avLst/>
          </a:prstGeom>
        </p:spPr>
      </p:pic>
      <p:sp>
        <p:nvSpPr>
          <p:cNvPr id="5" name="Assistant RH (agent)"/>
          <p:cNvSpPr/>
          <p:nvPr/>
        </p:nvSpPr>
        <p:spPr>
          <a:xfrm>
            <a:off x="6675120" y="1783080"/>
            <a:ext cx="4876495" cy="996696"/>
          </a:xfrm>
          <a:prstGeom prst="roundRect">
            <a:avLst>
              <a:gd name="adj" fmla="val 5505"/>
            </a:avLst>
          </a:prstGeom>
          <a:solidFill>
            <a:srgbClr val="14213D"/>
          </a:solidFill>
          <a:ln w="12700">
            <a:solidFill>
              <a:srgbClr val="14213D"/>
            </a:solidFill>
            <a:prstDash val="solid"/>
          </a:ln>
        </p:spPr>
      </p:sp>
      <p:sp>
        <p:nvSpPr>
          <p:cNvPr id="6" name="Text 3"/>
          <p:cNvSpPr txBox="1"/>
          <p:nvPr/>
        </p:nvSpPr>
        <p:spPr>
          <a:xfrm>
            <a:off x="6903720" y="1892808"/>
            <a:ext cx="4419295" cy="274320"/>
          </a:xfrm>
          <a:prstGeom prst="rect">
            <a:avLst/>
          </a:prstGeom>
          <a:noFill/>
          <a:ln/>
        </p:spPr>
        <p:txBody>
          <a:bodyPr wrap="square" lIns="0" tIns="0" rIns="0" bIns="0" rtlCol="0" anchor="t"/>
          <a:lstStyle/>
          <a:p>
            <a:pPr indent="0" marL="0">
              <a:buNone/>
            </a:pPr>
            <a:r>
              <a:rPr lang="en-US" sz="1400" b="1" dirty="0">
                <a:solidFill>
                  <a:srgbClr val="FCA311"/>
                </a:solidFill>
                <a:latin typeface="Arial" pitchFamily="34" charset="0"/>
                <a:ea typeface="Arial" pitchFamily="34" charset="-122"/>
                <a:cs typeface="Arial" pitchFamily="34" charset="-120"/>
              </a:rPr>
              <a:t>Assistant RH (agent)</a:t>
            </a:r>
            <a:endParaRPr lang="en-US" sz="1400" dirty="0"/>
          </a:p>
        </p:txBody>
      </p:sp>
      <p:sp>
        <p:nvSpPr>
          <p:cNvPr id="7" name="Text 4"/>
          <p:cNvSpPr txBox="1"/>
          <p:nvPr/>
        </p:nvSpPr>
        <p:spPr>
          <a:xfrm>
            <a:off x="6903720" y="2194560"/>
            <a:ext cx="4419295" cy="548640"/>
          </a:xfrm>
          <a:prstGeom prst="rect">
            <a:avLst/>
          </a:prstGeom>
          <a:noFill/>
          <a:ln/>
        </p:spPr>
        <p:txBody>
          <a:bodyPr wrap="square" lIns="0" tIns="0" rIns="0" bIns="0" rtlCol="0" anchor="t"/>
          <a:lstStyle/>
          <a:p>
            <a:pPr indent="0" marL="0">
              <a:buNone/>
            </a:pPr>
            <a:r>
              <a:rPr lang="en-US" sz="1200" dirty="0">
                <a:solidFill>
                  <a:srgbClr val="FFFFFF"/>
                </a:solidFill>
                <a:latin typeface="Arial" pitchFamily="34" charset="0"/>
                <a:ea typeface="Arial" pitchFamily="34" charset="-122"/>
                <a:cs typeface="Arial" pitchFamily="34" charset="-120"/>
              </a:rPr>
              <a:t>Trois outils : documentation RH, mes demandes, chiffres de l’entreprise. Lecture seule.</a:t>
            </a:r>
            <a:endParaRPr lang="en-US" sz="1200" dirty="0"/>
          </a:p>
        </p:txBody>
      </p:sp>
      <p:sp>
        <p:nvSpPr>
          <p:cNvPr id="8" name="Résumé et points d’attention"/>
          <p:cNvSpPr/>
          <p:nvPr/>
        </p:nvSpPr>
        <p:spPr>
          <a:xfrm>
            <a:off x="6675120" y="2898648"/>
            <a:ext cx="4876495" cy="996696"/>
          </a:xfrm>
          <a:prstGeom prst="roundRect">
            <a:avLst>
              <a:gd name="adj" fmla="val 5505"/>
            </a:avLst>
          </a:prstGeom>
          <a:solidFill>
            <a:srgbClr val="E6E2D8"/>
          </a:solidFill>
          <a:ln w="12700">
            <a:solidFill>
              <a:srgbClr val="E6E2D8"/>
            </a:solidFill>
            <a:prstDash val="solid"/>
          </a:ln>
        </p:spPr>
      </p:sp>
      <p:sp>
        <p:nvSpPr>
          <p:cNvPr id="9" name="Text 6"/>
          <p:cNvSpPr txBox="1"/>
          <p:nvPr/>
        </p:nvSpPr>
        <p:spPr>
          <a:xfrm>
            <a:off x="6903720" y="3008376"/>
            <a:ext cx="4419295" cy="274320"/>
          </a:xfrm>
          <a:prstGeom prst="rect">
            <a:avLst/>
          </a:prstGeom>
          <a:noFill/>
          <a:ln/>
        </p:spPr>
        <p:txBody>
          <a:bodyPr wrap="square" lIns="0" tIns="0" rIns="0" bIns="0" rtlCol="0" anchor="t"/>
          <a:lstStyle/>
          <a:p>
            <a:pPr indent="0" marL="0">
              <a:buNone/>
            </a:pPr>
            <a:r>
              <a:rPr lang="en-US" sz="1400" b="1" dirty="0">
                <a:solidFill>
                  <a:srgbClr val="14213D"/>
                </a:solidFill>
                <a:latin typeface="Arial" pitchFamily="34" charset="0"/>
                <a:ea typeface="Arial" pitchFamily="34" charset="-122"/>
                <a:cs typeface="Arial" pitchFamily="34" charset="-120"/>
              </a:rPr>
              <a:t>Résumé et points d’attention</a:t>
            </a:r>
            <a:endParaRPr lang="en-US" sz="1400" dirty="0"/>
          </a:p>
        </p:txBody>
      </p:sp>
      <p:sp>
        <p:nvSpPr>
          <p:cNvPr id="10" name="Text 7"/>
          <p:cNvSpPr txBox="1"/>
          <p:nvPr/>
        </p:nvSpPr>
        <p:spPr>
          <a:xfrm>
            <a:off x="6903720" y="3310128"/>
            <a:ext cx="4419295" cy="548640"/>
          </a:xfrm>
          <a:prstGeom prst="rect">
            <a:avLst/>
          </a:prstGeom>
          <a:noFill/>
          <a:ln/>
        </p:spPr>
        <p:txBody>
          <a:bodyPr wrap="square" lIns="0" tIns="0" rIns="0" bIns="0" rtlCol="0" anchor="t"/>
          <a:lstStyle/>
          <a:p>
            <a:pPr indent="0" marL="0">
              <a:buNone/>
            </a:pPr>
            <a:r>
              <a:rPr lang="en-US" sz="1200" dirty="0">
                <a:solidFill>
                  <a:srgbClr val="3A4660"/>
                </a:solidFill>
                <a:latin typeface="Arial" pitchFamily="34" charset="0"/>
                <a:ea typeface="Arial" pitchFamily="34" charset="-122"/>
                <a:cs typeface="Arial" pitchFamily="34" charset="-120"/>
              </a:rPr>
              <a:t>À chaque nouvelle demande, déclenché par la base ; affiché au manager « à vérifier ».</a:t>
            </a:r>
            <a:endParaRPr lang="en-US" sz="1200" dirty="0"/>
          </a:p>
        </p:txBody>
      </p:sp>
      <p:sp>
        <p:nvSpPr>
          <p:cNvPr id="11" name="Brouillon de réponse"/>
          <p:cNvSpPr/>
          <p:nvPr/>
        </p:nvSpPr>
        <p:spPr>
          <a:xfrm>
            <a:off x="6675120" y="4014216"/>
            <a:ext cx="4876495" cy="996696"/>
          </a:xfrm>
          <a:prstGeom prst="roundRect">
            <a:avLst>
              <a:gd name="adj" fmla="val 5505"/>
            </a:avLst>
          </a:prstGeom>
          <a:solidFill>
            <a:srgbClr val="E6E2D8"/>
          </a:solidFill>
          <a:ln w="12700">
            <a:solidFill>
              <a:srgbClr val="E6E2D8"/>
            </a:solidFill>
            <a:prstDash val="solid"/>
          </a:ln>
        </p:spPr>
      </p:sp>
      <p:sp>
        <p:nvSpPr>
          <p:cNvPr id="12" name="Text 9"/>
          <p:cNvSpPr txBox="1"/>
          <p:nvPr/>
        </p:nvSpPr>
        <p:spPr>
          <a:xfrm>
            <a:off x="6903720" y="4123944"/>
            <a:ext cx="4419295" cy="274320"/>
          </a:xfrm>
          <a:prstGeom prst="rect">
            <a:avLst/>
          </a:prstGeom>
          <a:noFill/>
          <a:ln/>
        </p:spPr>
        <p:txBody>
          <a:bodyPr wrap="square" lIns="0" tIns="0" rIns="0" bIns="0" rtlCol="0" anchor="t"/>
          <a:lstStyle/>
          <a:p>
            <a:pPr indent="0" marL="0">
              <a:buNone/>
            </a:pPr>
            <a:r>
              <a:rPr lang="en-US" sz="1400" b="1" dirty="0">
                <a:solidFill>
                  <a:srgbClr val="14213D"/>
                </a:solidFill>
                <a:latin typeface="Arial" pitchFamily="34" charset="0"/>
                <a:ea typeface="Arial" pitchFamily="34" charset="-122"/>
                <a:cs typeface="Arial" pitchFamily="34" charset="-120"/>
              </a:rPr>
              <a:t>Brouillon de réponse</a:t>
            </a:r>
            <a:endParaRPr lang="en-US" sz="1400" dirty="0"/>
          </a:p>
        </p:txBody>
      </p:sp>
      <p:sp>
        <p:nvSpPr>
          <p:cNvPr id="13" name="Text 10"/>
          <p:cNvSpPr txBox="1"/>
          <p:nvPr/>
        </p:nvSpPr>
        <p:spPr>
          <a:xfrm>
            <a:off x="6903720" y="4425696"/>
            <a:ext cx="4419295" cy="548640"/>
          </a:xfrm>
          <a:prstGeom prst="rect">
            <a:avLst/>
          </a:prstGeom>
          <a:noFill/>
          <a:ln/>
        </p:spPr>
        <p:txBody>
          <a:bodyPr wrap="square" lIns="0" tIns="0" rIns="0" bIns="0" rtlCol="0" anchor="t"/>
          <a:lstStyle/>
          <a:p>
            <a:pPr indent="0" marL="0">
              <a:buNone/>
            </a:pPr>
            <a:r>
              <a:rPr lang="en-US" sz="1200" dirty="0">
                <a:solidFill>
                  <a:srgbClr val="3A4660"/>
                </a:solidFill>
                <a:latin typeface="Arial" pitchFamily="34" charset="0"/>
                <a:ea typeface="Arial" pitchFamily="34" charset="-122"/>
                <a:cs typeface="Arial" pitchFamily="34" charset="-120"/>
              </a:rPr>
              <a:t>Bouton ✨ : motif de refus ou demande de complément, modifiable avant envoi.</a:t>
            </a:r>
            <a:endParaRPr lang="en-US" sz="1200" dirty="0"/>
          </a:p>
        </p:txBody>
      </p:sp>
      <p:sp>
        <p:nvSpPr>
          <p:cNvPr id="14" name="Ingestion des documents"/>
          <p:cNvSpPr/>
          <p:nvPr/>
        </p:nvSpPr>
        <p:spPr>
          <a:xfrm>
            <a:off x="6675120" y="5129784"/>
            <a:ext cx="4876495" cy="996696"/>
          </a:xfrm>
          <a:prstGeom prst="roundRect">
            <a:avLst>
              <a:gd name="adj" fmla="val 5505"/>
            </a:avLst>
          </a:prstGeom>
          <a:solidFill>
            <a:srgbClr val="E6E2D8"/>
          </a:solidFill>
          <a:ln w="12700">
            <a:solidFill>
              <a:srgbClr val="E6E2D8"/>
            </a:solidFill>
            <a:prstDash val="solid"/>
          </a:ln>
        </p:spPr>
      </p:sp>
      <p:sp>
        <p:nvSpPr>
          <p:cNvPr id="15" name="Text 12"/>
          <p:cNvSpPr txBox="1"/>
          <p:nvPr/>
        </p:nvSpPr>
        <p:spPr>
          <a:xfrm>
            <a:off x="6903720" y="5239512"/>
            <a:ext cx="4419295" cy="274320"/>
          </a:xfrm>
          <a:prstGeom prst="rect">
            <a:avLst/>
          </a:prstGeom>
          <a:noFill/>
          <a:ln/>
        </p:spPr>
        <p:txBody>
          <a:bodyPr wrap="square" lIns="0" tIns="0" rIns="0" bIns="0" rtlCol="0" anchor="t"/>
          <a:lstStyle/>
          <a:p>
            <a:pPr indent="0" marL="0">
              <a:buNone/>
            </a:pPr>
            <a:r>
              <a:rPr lang="en-US" sz="1400" b="1" dirty="0">
                <a:solidFill>
                  <a:srgbClr val="14213D"/>
                </a:solidFill>
                <a:latin typeface="Arial" pitchFamily="34" charset="0"/>
                <a:ea typeface="Arial" pitchFamily="34" charset="-122"/>
                <a:cs typeface="Arial" pitchFamily="34" charset="-120"/>
              </a:rPr>
              <a:t>Ingestion des documents</a:t>
            </a:r>
            <a:endParaRPr lang="en-US" sz="1400" dirty="0"/>
          </a:p>
        </p:txBody>
      </p:sp>
      <p:sp>
        <p:nvSpPr>
          <p:cNvPr id="16" name="Text 13"/>
          <p:cNvSpPr txBox="1"/>
          <p:nvPr/>
        </p:nvSpPr>
        <p:spPr>
          <a:xfrm>
            <a:off x="6903720" y="5541264"/>
            <a:ext cx="4419295" cy="548640"/>
          </a:xfrm>
          <a:prstGeom prst="rect">
            <a:avLst/>
          </a:prstGeom>
          <a:noFill/>
          <a:ln/>
        </p:spPr>
        <p:txBody>
          <a:bodyPr wrap="square" lIns="0" tIns="0" rIns="0" bIns="0" rtlCol="0" anchor="t"/>
          <a:lstStyle/>
          <a:p>
            <a:pPr indent="0" marL="0">
              <a:buNone/>
            </a:pPr>
            <a:r>
              <a:rPr lang="en-US" sz="1200" dirty="0">
                <a:solidFill>
                  <a:srgbClr val="3A4660"/>
                </a:solidFill>
                <a:latin typeface="Arial" pitchFamily="34" charset="0"/>
                <a:ea typeface="Arial" pitchFamily="34" charset="-122"/>
                <a:cs typeface="Arial" pitchFamily="34" charset="-120"/>
              </a:rPr>
              <a:t>8 documents RH découpés en 256 extraits, vectorisés dans pgvector.</a:t>
            </a:r>
            <a:endParaRPr lang="en-US" sz="12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A6373"/>
                </a:solidFill>
                <a:latin typeface="Arial"/>
                <a:ea typeface="Arial"/>
                <a:cs typeface="Aria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640080" y="457200"/>
            <a:ext cx="10911535" cy="731520"/>
          </a:xfrm>
          <a:prstGeom prst="rect">
            <a:avLst/>
          </a:prstGeom>
          <a:noFill/>
          <a:ln/>
        </p:spPr>
        <p:txBody>
          <a:bodyPr wrap="square" lIns="0" tIns="0" rIns="0" bIns="0" rtlCol="0" anchor="t"/>
          <a:lstStyle/>
          <a:p>
            <a:pPr algn="l" indent="0" marL="0">
              <a:buNone/>
            </a:pPr>
            <a:r>
              <a:rPr lang="en-US" sz="3200" b="1" dirty="0">
                <a:solidFill>
                  <a:srgbClr val="FFFFFF"/>
                </a:solidFill>
                <a:latin typeface="Arial" pitchFamily="34" charset="0"/>
                <a:ea typeface="Arial" pitchFamily="34" charset="-122"/>
                <a:cs typeface="Arial" pitchFamily="34" charset="-120"/>
              </a:rPr>
              <a:t>Nous pilotons l’agent, nous ne le subissons pas</a:t>
            </a:r>
            <a:endParaRPr lang="en-US" sz="3200" dirty="0"/>
          </a:p>
        </p:txBody>
      </p:sp>
      <p:sp>
        <p:nvSpPr>
          <p:cNvPr id="3" name="Text 0"/>
          <p:cNvSpPr/>
          <p:nvPr>
            <p:ph idx="101" type="body" hasCustomPrompt="1"/>
          </p:nvPr>
        </p:nvSpPr>
        <p:spPr>
          <a:xfrm>
            <a:off x="640080" y="1170432"/>
            <a:ext cx="10911535" cy="365760"/>
          </a:xfrm>
          <a:prstGeom prst="rect">
            <a:avLst/>
          </a:prstGeom>
          <a:noFill/>
          <a:ln/>
        </p:spPr>
        <p:txBody>
          <a:bodyPr wrap="square" lIns="0" tIns="0" rIns="0" bIns="0" rtlCol="0" anchor="ctr"/>
          <a:lstStyle/>
          <a:p>
            <a:pPr algn="l" indent="0" marL="0">
              <a:buNone/>
            </a:pPr>
            <a:r>
              <a:rPr lang="en-US" sz="1500" b="1" dirty="0">
                <a:solidFill>
                  <a:srgbClr val="FCA311"/>
                </a:solidFill>
                <a:latin typeface="Arial" pitchFamily="34" charset="0"/>
                <a:ea typeface="Arial" pitchFamily="34" charset="-122"/>
                <a:cs typeface="Arial" pitchFamily="34" charset="-120"/>
              </a:rPr>
              <a:t>Ce qu’il a le droit de faire, et la preuve qu’il ne fait pas le reste</a:t>
            </a:r>
            <a:endParaRPr lang="en-US" sz="1500" dirty="0"/>
          </a:p>
        </p:txBody>
      </p:sp>
      <p:sp>
        <p:nvSpPr>
          <p:cNvPr id="4" name="Prompts maîtrisés"/>
          <p:cNvSpPr/>
          <p:nvPr/>
        </p:nvSpPr>
        <p:spPr>
          <a:xfrm>
            <a:off x="640080" y="1783080"/>
            <a:ext cx="3454298" cy="3291840"/>
          </a:xfrm>
          <a:prstGeom prst="roundRect">
            <a:avLst>
              <a:gd name="adj" fmla="val 1667"/>
            </a:avLst>
          </a:prstGeom>
          <a:solidFill>
            <a:srgbClr val="1F3160"/>
          </a:solidFill>
          <a:ln w="12700">
            <a:solidFill>
              <a:srgbClr val="1F3160"/>
            </a:solidFill>
            <a:prstDash val="solid"/>
          </a:ln>
        </p:spPr>
      </p:sp>
      <p:sp>
        <p:nvSpPr>
          <p:cNvPr id="5" name="Text 3"/>
          <p:cNvSpPr txBox="1"/>
          <p:nvPr/>
        </p:nvSpPr>
        <p:spPr>
          <a:xfrm>
            <a:off x="914400" y="1965960"/>
            <a:ext cx="2905658" cy="365760"/>
          </a:xfrm>
          <a:prstGeom prst="rect">
            <a:avLst/>
          </a:prstGeom>
          <a:noFill/>
          <a:ln/>
        </p:spPr>
        <p:txBody>
          <a:bodyPr wrap="square" lIns="0" tIns="0" rIns="0" bIns="0" rtlCol="0" anchor="t"/>
          <a:lstStyle/>
          <a:p>
            <a:pPr indent="0" marL="0">
              <a:buNone/>
            </a:pPr>
            <a:r>
              <a:rPr lang="en-US" sz="1700" b="1" dirty="0">
                <a:solidFill>
                  <a:srgbClr val="FCA311"/>
                </a:solidFill>
                <a:latin typeface="Arial" pitchFamily="34" charset="0"/>
                <a:ea typeface="Arial" pitchFamily="34" charset="-122"/>
                <a:cs typeface="Arial" pitchFamily="34" charset="-120"/>
              </a:rPr>
              <a:t>Prompts maîtrisés</a:t>
            </a:r>
            <a:endParaRPr lang="en-US" sz="1700" dirty="0"/>
          </a:p>
        </p:txBody>
      </p:sp>
      <p:sp>
        <p:nvSpPr>
          <p:cNvPr id="6" name="Text 4"/>
          <p:cNvSpPr txBox="1"/>
          <p:nvPr/>
        </p:nvSpPr>
        <p:spPr>
          <a:xfrm>
            <a:off x="914400" y="2468880"/>
            <a:ext cx="2905658" cy="2468880"/>
          </a:xfrm>
          <a:prstGeom prst="rect">
            <a:avLst/>
          </a:prstGeom>
          <a:noFill/>
          <a:ln/>
        </p:spPr>
        <p:txBody>
          <a:bodyPr wrap="square" lIns="0" tIns="0" rIns="0" bIns="0" rtlCol="0" anchor="t"/>
          <a:lstStyle/>
          <a:p>
            <a:pPr marL="177800" indent="-177800">
              <a:spcAft>
                <a:spcPts val="500"/>
              </a:spcAft>
              <a:buSzPct val="100000"/>
              <a:buChar char="•"/>
            </a:pPr>
            <a:r>
              <a:rPr lang="en-US" sz="1350" dirty="0">
                <a:solidFill>
                  <a:srgbClr val="FFFFFF"/>
                </a:solidFill>
                <a:latin typeface="Arial" pitchFamily="34" charset="0"/>
                <a:ea typeface="Arial" pitchFamily="34" charset="-122"/>
                <a:cs typeface="Arial" pitchFamily="34" charset="-120"/>
              </a:rPr>
              <a:t>Message système en 10 règles : sources, citations, refus</a:t>
            </a:r>
            <a:endParaRPr lang="en-US" sz="1350" dirty="0"/>
          </a:p>
          <a:p>
            <a:pPr marL="177800" indent="-177800">
              <a:spcAft>
                <a:spcPts val="500"/>
              </a:spcAft>
              <a:buSzPct val="100000"/>
              <a:buChar char="•"/>
            </a:pPr>
            <a:r>
              <a:rPr lang="en-US" sz="1350" dirty="0">
                <a:solidFill>
                  <a:srgbClr val="FFFFFF"/>
                </a:solidFill>
                <a:latin typeface="Arial" pitchFamily="34" charset="0"/>
                <a:ea typeface="Arial" pitchFamily="34" charset="-122"/>
                <a:cs typeface="Arial" pitchFamily="34" charset="-120"/>
              </a:rPr>
              <a:t>Descriptions d’outils précises : quand utiliser lequel</a:t>
            </a:r>
            <a:endParaRPr lang="en-US" sz="1350" dirty="0"/>
          </a:p>
          <a:p>
            <a:pPr marL="177800" indent="-177800">
              <a:spcAft>
                <a:spcPts val="500"/>
              </a:spcAft>
              <a:buSzPct val="100000"/>
              <a:buChar char="•"/>
            </a:pPr>
            <a:r>
              <a:rPr lang="en-US" sz="1350" dirty="0">
                <a:solidFill>
                  <a:srgbClr val="FFFFFF"/>
                </a:solidFill>
                <a:latin typeface="Arial" pitchFamily="34" charset="0"/>
                <a:ea typeface="Arial" pitchFamily="34" charset="-122"/>
                <a:cs typeface="Arial" pitchFamily="34" charset="-120"/>
              </a:rPr>
              <a:t>Versionnés dans Git avec le code</a:t>
            </a:r>
            <a:endParaRPr lang="en-US" sz="1350" dirty="0"/>
          </a:p>
        </p:txBody>
      </p:sp>
      <p:sp>
        <p:nvSpPr>
          <p:cNvPr id="7" name="Tests négatifs rejouables"/>
          <p:cNvSpPr/>
          <p:nvPr/>
        </p:nvSpPr>
        <p:spPr>
          <a:xfrm>
            <a:off x="4368698" y="1783080"/>
            <a:ext cx="3454298" cy="3291840"/>
          </a:xfrm>
          <a:prstGeom prst="roundRect">
            <a:avLst>
              <a:gd name="adj" fmla="val 1667"/>
            </a:avLst>
          </a:prstGeom>
          <a:solidFill>
            <a:srgbClr val="1F3160"/>
          </a:solidFill>
          <a:ln w="12700">
            <a:solidFill>
              <a:srgbClr val="1F3160"/>
            </a:solidFill>
            <a:prstDash val="solid"/>
          </a:ln>
        </p:spPr>
      </p:sp>
      <p:sp>
        <p:nvSpPr>
          <p:cNvPr id="8" name="Text 6"/>
          <p:cNvSpPr txBox="1"/>
          <p:nvPr/>
        </p:nvSpPr>
        <p:spPr>
          <a:xfrm>
            <a:off x="4643018" y="1965960"/>
            <a:ext cx="2905658" cy="365760"/>
          </a:xfrm>
          <a:prstGeom prst="rect">
            <a:avLst/>
          </a:prstGeom>
          <a:noFill/>
          <a:ln/>
        </p:spPr>
        <p:txBody>
          <a:bodyPr wrap="square" lIns="0" tIns="0" rIns="0" bIns="0" rtlCol="0" anchor="t"/>
          <a:lstStyle/>
          <a:p>
            <a:pPr indent="0" marL="0">
              <a:buNone/>
            </a:pPr>
            <a:r>
              <a:rPr lang="en-US" sz="1700" b="1" dirty="0">
                <a:solidFill>
                  <a:srgbClr val="FCA311"/>
                </a:solidFill>
                <a:latin typeface="Arial" pitchFamily="34" charset="0"/>
                <a:ea typeface="Arial" pitchFamily="34" charset="-122"/>
                <a:cs typeface="Arial" pitchFamily="34" charset="-120"/>
              </a:rPr>
              <a:t>Tests négatifs rejouables</a:t>
            </a:r>
            <a:endParaRPr lang="en-US" sz="1700" dirty="0"/>
          </a:p>
        </p:txBody>
      </p:sp>
      <p:sp>
        <p:nvSpPr>
          <p:cNvPr id="9" name="Text 7"/>
          <p:cNvSpPr txBox="1"/>
          <p:nvPr/>
        </p:nvSpPr>
        <p:spPr>
          <a:xfrm>
            <a:off x="4643018" y="2468880"/>
            <a:ext cx="2905658" cy="2468880"/>
          </a:xfrm>
          <a:prstGeom prst="rect">
            <a:avLst/>
          </a:prstGeom>
          <a:noFill/>
          <a:ln/>
        </p:spPr>
        <p:txBody>
          <a:bodyPr wrap="square" lIns="0" tIns="0" rIns="0" bIns="0" rtlCol="0" anchor="t"/>
          <a:lstStyle/>
          <a:p>
            <a:pPr marL="177800" indent="-177800">
              <a:spcAft>
                <a:spcPts val="500"/>
              </a:spcAft>
              <a:buSzPct val="100000"/>
              <a:buChar char="•"/>
            </a:pPr>
            <a:r>
              <a:rPr lang="en-US" sz="1350" dirty="0">
                <a:solidFill>
                  <a:srgbClr val="FFFFFF"/>
                </a:solidFill>
                <a:latin typeface="Arial" pitchFamily="34" charset="0"/>
                <a:ea typeface="Arial" pitchFamily="34" charset="-122"/>
                <a:cs typeface="Arial" pitchFamily="34" charset="-120"/>
              </a:rPr>
              <a:t>Hors sujet : refus poli</a:t>
            </a:r>
            <a:endParaRPr lang="en-US" sz="1350" dirty="0"/>
          </a:p>
          <a:p>
            <a:pPr marL="177800" indent="-177800">
              <a:spcAft>
                <a:spcPts val="500"/>
              </a:spcAft>
              <a:buSzPct val="100000"/>
              <a:buChar char="•"/>
            </a:pPr>
            <a:r>
              <a:rPr lang="en-US" sz="1350" dirty="0">
                <a:solidFill>
                  <a:srgbClr val="FFFFFF"/>
                </a:solidFill>
                <a:latin typeface="Arial" pitchFamily="34" charset="0"/>
                <a:ea typeface="Arial" pitchFamily="34" charset="-122"/>
                <a:cs typeface="Arial" pitchFamily="34" charset="-120"/>
              </a:rPr>
              <a:t>Demandes d’un collègue : refus</a:t>
            </a:r>
            <a:endParaRPr lang="en-US" sz="1350" dirty="0"/>
          </a:p>
          <a:p>
            <a:pPr marL="177800" indent="-177800">
              <a:spcAft>
                <a:spcPts val="500"/>
              </a:spcAft>
              <a:buSzPct val="100000"/>
              <a:buChar char="•"/>
            </a:pPr>
            <a:r>
              <a:rPr lang="en-US" sz="1350" dirty="0">
                <a:solidFill>
                  <a:srgbClr val="FFFFFF"/>
                </a:solidFill>
                <a:latin typeface="Arial" pitchFamily="34" charset="0"/>
                <a:ea typeface="Arial" pitchFamily="34" charset="-122"/>
                <a:cs typeface="Arial" pitchFamily="34" charset="-120"/>
              </a:rPr>
              <a:t>« Passe ma demande en validée » : refus</a:t>
            </a:r>
            <a:endParaRPr lang="en-US" sz="1350" dirty="0"/>
          </a:p>
          <a:p>
            <a:pPr marL="177800" indent="-177800">
              <a:spcAft>
                <a:spcPts val="500"/>
              </a:spcAft>
              <a:buSzPct val="100000"/>
              <a:buChar char="•"/>
            </a:pPr>
            <a:r>
              <a:rPr lang="en-US" sz="1350" dirty="0">
                <a:solidFill>
                  <a:srgbClr val="FFFFFF"/>
                </a:solidFill>
                <a:latin typeface="Arial" pitchFamily="34" charset="0"/>
                <a:ea typeface="Arial" pitchFamily="34" charset="-122"/>
                <a:cs typeface="Arial" pitchFamily="34" charset="-120"/>
              </a:rPr>
              <a:t>Cas non prévu (décès d’une tante) : renvoi vers la RH</a:t>
            </a:r>
            <a:endParaRPr lang="en-US" sz="1350" dirty="0"/>
          </a:p>
        </p:txBody>
      </p:sp>
      <p:sp>
        <p:nvSpPr>
          <p:cNvPr id="10" name="L’humain tranche"/>
          <p:cNvSpPr/>
          <p:nvPr/>
        </p:nvSpPr>
        <p:spPr>
          <a:xfrm>
            <a:off x="8097317" y="1783080"/>
            <a:ext cx="3454298" cy="3291840"/>
          </a:xfrm>
          <a:prstGeom prst="roundRect">
            <a:avLst>
              <a:gd name="adj" fmla="val 1667"/>
            </a:avLst>
          </a:prstGeom>
          <a:solidFill>
            <a:srgbClr val="FCA311"/>
          </a:solidFill>
          <a:ln w="12700">
            <a:solidFill>
              <a:srgbClr val="FCA311"/>
            </a:solidFill>
            <a:prstDash val="solid"/>
          </a:ln>
        </p:spPr>
      </p:sp>
      <p:sp>
        <p:nvSpPr>
          <p:cNvPr id="11" name="Text 9"/>
          <p:cNvSpPr txBox="1"/>
          <p:nvPr/>
        </p:nvSpPr>
        <p:spPr>
          <a:xfrm>
            <a:off x="8371637" y="1965960"/>
            <a:ext cx="2905658" cy="365760"/>
          </a:xfrm>
          <a:prstGeom prst="rect">
            <a:avLst/>
          </a:prstGeom>
          <a:noFill/>
          <a:ln/>
        </p:spPr>
        <p:txBody>
          <a:bodyPr wrap="square" lIns="0" tIns="0" rIns="0" bIns="0" rtlCol="0" anchor="t"/>
          <a:lstStyle/>
          <a:p>
            <a:pPr indent="0" marL="0">
              <a:buNone/>
            </a:pPr>
            <a:r>
              <a:rPr lang="en-US" sz="1700" b="1" dirty="0">
                <a:solidFill>
                  <a:srgbClr val="14213D"/>
                </a:solidFill>
                <a:latin typeface="Arial" pitchFamily="34" charset="0"/>
                <a:ea typeface="Arial" pitchFamily="34" charset="-122"/>
                <a:cs typeface="Arial" pitchFamily="34" charset="-120"/>
              </a:rPr>
              <a:t>L’humain tranche</a:t>
            </a:r>
            <a:endParaRPr lang="en-US" sz="1700" dirty="0"/>
          </a:p>
        </p:txBody>
      </p:sp>
      <p:sp>
        <p:nvSpPr>
          <p:cNvPr id="12" name="Text 10"/>
          <p:cNvSpPr txBox="1"/>
          <p:nvPr/>
        </p:nvSpPr>
        <p:spPr>
          <a:xfrm>
            <a:off x="8371637" y="2468880"/>
            <a:ext cx="2905658" cy="2468880"/>
          </a:xfrm>
          <a:prstGeom prst="rect">
            <a:avLst/>
          </a:prstGeom>
          <a:noFill/>
          <a:ln/>
        </p:spPr>
        <p:txBody>
          <a:bodyPr wrap="square" lIns="0" tIns="0" rIns="0" bIns="0" rtlCol="0" anchor="t"/>
          <a:lstStyle/>
          <a:p>
            <a:pPr marL="177800" indent="-177800">
              <a:spcAft>
                <a:spcPts val="500"/>
              </a:spcAft>
              <a:buSzPct val="100000"/>
              <a:buChar char="•"/>
            </a:pPr>
            <a:r>
              <a:rPr lang="en-US" sz="1350" dirty="0">
                <a:solidFill>
                  <a:srgbClr val="14213D"/>
                </a:solidFill>
                <a:latin typeface="Arial" pitchFamily="34" charset="0"/>
                <a:ea typeface="Arial" pitchFamily="34" charset="-122"/>
                <a:cs typeface="Arial" pitchFamily="34" charset="-120"/>
              </a:rPr>
              <a:t>L’IA propose : résumé, points « à vérifier », brouillon</a:t>
            </a:r>
            <a:endParaRPr lang="en-US" sz="1350" dirty="0"/>
          </a:p>
          <a:p>
            <a:pPr marL="177800" indent="-177800">
              <a:spcAft>
                <a:spcPts val="500"/>
              </a:spcAft>
              <a:buSzPct val="100000"/>
              <a:buChar char="•"/>
            </a:pPr>
            <a:r>
              <a:rPr lang="en-US" sz="1350" dirty="0">
                <a:solidFill>
                  <a:srgbClr val="14213D"/>
                </a:solidFill>
                <a:latin typeface="Arial" pitchFamily="34" charset="0"/>
                <a:ea typeface="Arial" pitchFamily="34" charset="-122"/>
                <a:cs typeface="Arial" pitchFamily="34" charset="-120"/>
              </a:rPr>
              <a:t>Le manager modifie, puis décide</a:t>
            </a:r>
            <a:endParaRPr lang="en-US" sz="1350" dirty="0"/>
          </a:p>
          <a:p>
            <a:pPr marL="177800" indent="-177800">
              <a:spcAft>
                <a:spcPts val="500"/>
              </a:spcAft>
              <a:buSzPct val="100000"/>
              <a:buChar char="•"/>
            </a:pPr>
            <a:r>
              <a:rPr lang="en-US" sz="1350" dirty="0">
                <a:solidFill>
                  <a:srgbClr val="14213D"/>
                </a:solidFill>
                <a:latin typeface="Arial" pitchFamily="34" charset="0"/>
                <a:ea typeface="Arial" pitchFamily="34" charset="-122"/>
                <a:cs typeface="Arial" pitchFamily="34" charset="-120"/>
              </a:rPr>
              <a:t>L’agent n’a aucun outil d’écriture</a:t>
            </a:r>
            <a:endParaRPr lang="en-US" sz="1350" dirty="0"/>
          </a:p>
        </p:txBody>
      </p:sp>
      <p:sp>
        <p:nvSpPr>
          <p:cNvPr id="13" name="Défaut corrigé"/>
          <p:cNvSpPr/>
          <p:nvPr/>
        </p:nvSpPr>
        <p:spPr>
          <a:xfrm>
            <a:off x="640080" y="5349240"/>
            <a:ext cx="10911535" cy="777240"/>
          </a:xfrm>
          <a:prstGeom prst="roundRect">
            <a:avLst>
              <a:gd name="adj" fmla="val 7059"/>
            </a:avLst>
          </a:prstGeom>
          <a:solidFill>
            <a:srgbClr val="3A4660"/>
          </a:solidFill>
          <a:ln w="12700">
            <a:solidFill>
              <a:srgbClr val="3A4660"/>
            </a:solidFill>
            <a:prstDash val="solid"/>
          </a:ln>
        </p:spPr>
      </p:sp>
      <p:sp>
        <p:nvSpPr>
          <p:cNvPr id="14" name="Text 12"/>
          <p:cNvSpPr txBox="1"/>
          <p:nvPr/>
        </p:nvSpPr>
        <p:spPr>
          <a:xfrm>
            <a:off x="914400" y="5440680"/>
            <a:ext cx="10362895" cy="594360"/>
          </a:xfrm>
          <a:prstGeom prst="rect">
            <a:avLst/>
          </a:prstGeom>
          <a:noFill/>
          <a:ln/>
        </p:spPr>
        <p:txBody>
          <a:bodyPr wrap="square" lIns="0" tIns="0" rIns="0" bIns="0" rtlCol="0" anchor="ctr"/>
          <a:lstStyle/>
          <a:p>
            <a:pPr indent="0" marL="0">
              <a:buNone/>
            </a:pPr>
            <a:r>
              <a:rPr lang="en-US" sz="1300" dirty="0">
                <a:solidFill>
                  <a:srgbClr val="FFFFFF"/>
                </a:solidFill>
                <a:latin typeface="Arial" pitchFamily="34" charset="0"/>
                <a:ea typeface="Arial" pitchFamily="34" charset="-122"/>
                <a:cs typeface="Arial" pitchFamily="34" charset="-120"/>
              </a:rPr>
              <a:t>Trouvé en recette : l’agent appliquait au décès d’une tante la règle des parents. Règle ajoutée (« ne jamais extrapoler, renvoyer vers la RH »), puis retesté.</a:t>
            </a:r>
            <a:endParaRPr lang="en-US" sz="13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AA3B2"/>
                </a:solidFill>
                <a:latin typeface="Arial"/>
                <a:ea typeface="Arial"/>
                <a:cs typeface="Aria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640080" y="457200"/>
            <a:ext cx="10911535" cy="731520"/>
          </a:xfrm>
          <a:prstGeom prst="rect">
            <a:avLst/>
          </a:prstGeom>
          <a:noFill/>
          <a:ln/>
        </p:spPr>
        <p:txBody>
          <a:bodyPr wrap="square" lIns="0" tIns="0" rIns="0" bIns="0" rtlCol="0" anchor="t"/>
          <a:lstStyle/>
          <a:p>
            <a:pPr algn="l" indent="0" marL="0">
              <a:buNone/>
            </a:pPr>
            <a:r>
              <a:rPr lang="en-US" sz="3200" b="1" dirty="0">
                <a:solidFill>
                  <a:srgbClr val="14213D"/>
                </a:solidFill>
                <a:latin typeface="Arial" pitchFamily="34" charset="0"/>
                <a:ea typeface="Arial" pitchFamily="34" charset="-122"/>
                <a:cs typeface="Arial" pitchFamily="34" charset="-120"/>
              </a:rPr>
              <a:t>Démo : une demande, du clic au mail</a:t>
            </a:r>
            <a:endParaRPr lang="en-US" sz="3200" dirty="0"/>
          </a:p>
        </p:txBody>
      </p:sp>
      <p:sp>
        <p:nvSpPr>
          <p:cNvPr id="3" name="Text 0"/>
          <p:cNvSpPr/>
          <p:nvPr>
            <p:ph idx="101" type="body" hasCustomPrompt="1"/>
          </p:nvPr>
        </p:nvSpPr>
        <p:spPr>
          <a:xfrm>
            <a:off x="640080" y="1170432"/>
            <a:ext cx="10911535" cy="365760"/>
          </a:xfrm>
          <a:prstGeom prst="rect">
            <a:avLst/>
          </a:prstGeom>
          <a:noFill/>
          <a:ln/>
        </p:spPr>
        <p:txBody>
          <a:bodyPr wrap="square" lIns="0" tIns="0" rIns="0" bIns="0" rtlCol="0" anchor="ctr"/>
          <a:lstStyle/>
          <a:p>
            <a:pPr algn="l" indent="0" marL="0">
              <a:buNone/>
            </a:pPr>
            <a:r>
              <a:rPr lang="en-US" sz="1500" b="1" dirty="0">
                <a:solidFill>
                  <a:srgbClr val="B45F06"/>
                </a:solidFill>
                <a:latin typeface="Arial" pitchFamily="34" charset="0"/>
                <a:ea typeface="Arial" pitchFamily="34" charset="-122"/>
                <a:cs typeface="Arial" pitchFamily="34" charset="-120"/>
              </a:rPr>
              <a:t>Environ 3 minutes, sur le site en ligne, du scénario le plus sûr au plus risqué</a:t>
            </a:r>
            <a:endParaRPr lang="en-US" sz="1500" dirty="0"/>
          </a:p>
        </p:txBody>
      </p:sp>
      <p:sp>
        <p:nvSpPr>
          <p:cNvPr id="4" name="Employé"/>
          <p:cNvSpPr/>
          <p:nvPr/>
        </p:nvSpPr>
        <p:spPr>
          <a:xfrm>
            <a:off x="640080" y="1783080"/>
            <a:ext cx="2487854" cy="3063240"/>
          </a:xfrm>
          <a:prstGeom prst="roundRect">
            <a:avLst>
              <a:gd name="adj" fmla="val 2205"/>
            </a:avLst>
          </a:prstGeom>
          <a:solidFill>
            <a:srgbClr val="E6E2D8"/>
          </a:solidFill>
          <a:ln w="12700">
            <a:solidFill>
              <a:srgbClr val="E6E2D8"/>
            </a:solidFill>
            <a:prstDash val="solid"/>
          </a:ln>
        </p:spPr>
      </p:sp>
      <p:sp>
        <p:nvSpPr>
          <p:cNvPr id="5" name="Shape 3"/>
          <p:cNvSpPr/>
          <p:nvPr/>
        </p:nvSpPr>
        <p:spPr>
          <a:xfrm>
            <a:off x="868680" y="2011680"/>
            <a:ext cx="438912" cy="438912"/>
          </a:xfrm>
          <a:prstGeom prst="ellipse">
            <a:avLst/>
          </a:prstGeom>
          <a:solidFill>
            <a:srgbClr val="FCA311"/>
          </a:solidFill>
          <a:ln w="12700">
            <a:solidFill>
              <a:srgbClr val="FCA311"/>
            </a:solidFill>
            <a:prstDash val="solid"/>
          </a:ln>
        </p:spPr>
      </p:sp>
      <p:sp>
        <p:nvSpPr>
          <p:cNvPr id="6" name="Text 4"/>
          <p:cNvSpPr txBox="1"/>
          <p:nvPr/>
        </p:nvSpPr>
        <p:spPr>
          <a:xfrm>
            <a:off x="868680" y="2011680"/>
            <a:ext cx="438912" cy="438912"/>
          </a:xfrm>
          <a:prstGeom prst="rect">
            <a:avLst/>
          </a:prstGeom>
          <a:noFill/>
          <a:ln/>
        </p:spPr>
        <p:txBody>
          <a:bodyPr wrap="square" lIns="0" tIns="0" rIns="0" bIns="0" rtlCol="0" anchor="ctr"/>
          <a:lstStyle/>
          <a:p>
            <a:pPr algn="ctr" indent="0" marL="0">
              <a:buNone/>
            </a:pPr>
            <a:r>
              <a:rPr lang="en-US" sz="1500" b="1" dirty="0">
                <a:solidFill>
                  <a:srgbClr val="14213D"/>
                </a:solidFill>
                <a:latin typeface="Arial" pitchFamily="34" charset="0"/>
                <a:ea typeface="Arial" pitchFamily="34" charset="-122"/>
                <a:cs typeface="Arial" pitchFamily="34" charset="-120"/>
              </a:rPr>
              <a:t>1</a:t>
            </a:r>
            <a:endParaRPr lang="en-US" sz="1500" dirty="0"/>
          </a:p>
        </p:txBody>
      </p:sp>
      <p:sp>
        <p:nvSpPr>
          <p:cNvPr id="7" name="Text 5"/>
          <p:cNvSpPr txBox="1"/>
          <p:nvPr/>
        </p:nvSpPr>
        <p:spPr>
          <a:xfrm>
            <a:off x="868680" y="2606040"/>
            <a:ext cx="2030654" cy="365760"/>
          </a:xfrm>
          <a:prstGeom prst="rect">
            <a:avLst/>
          </a:prstGeom>
          <a:noFill/>
          <a:ln/>
        </p:spPr>
        <p:txBody>
          <a:bodyPr wrap="square" lIns="0" tIns="0" rIns="0" bIns="0" rtlCol="0" anchor="t"/>
          <a:lstStyle/>
          <a:p>
            <a:pPr indent="0" marL="0">
              <a:buNone/>
            </a:pPr>
            <a:r>
              <a:rPr lang="en-US" sz="1700" b="1" dirty="0">
                <a:solidFill>
                  <a:srgbClr val="14213D"/>
                </a:solidFill>
                <a:latin typeface="Arial" pitchFamily="34" charset="0"/>
                <a:ea typeface="Arial" pitchFamily="34" charset="-122"/>
                <a:cs typeface="Arial" pitchFamily="34" charset="-120"/>
              </a:rPr>
              <a:t>Employé</a:t>
            </a:r>
            <a:endParaRPr lang="en-US" sz="1700" dirty="0"/>
          </a:p>
        </p:txBody>
      </p:sp>
      <p:sp>
        <p:nvSpPr>
          <p:cNvPr id="8" name="Text 6"/>
          <p:cNvSpPr txBox="1"/>
          <p:nvPr/>
        </p:nvSpPr>
        <p:spPr>
          <a:xfrm>
            <a:off x="868680" y="3017520"/>
            <a:ext cx="2030654" cy="1143000"/>
          </a:xfrm>
          <a:prstGeom prst="rect">
            <a:avLst/>
          </a:prstGeom>
          <a:noFill/>
          <a:ln/>
        </p:spPr>
        <p:txBody>
          <a:bodyPr wrap="square" lIns="0" tIns="0" rIns="0" bIns="0" rtlCol="0" anchor="t"/>
          <a:lstStyle/>
          <a:p>
            <a:pPr indent="0" marL="0">
              <a:buNone/>
            </a:pPr>
            <a:r>
              <a:rPr lang="en-US" sz="1400" dirty="0">
                <a:solidFill>
                  <a:srgbClr val="3A4660"/>
                </a:solidFill>
                <a:latin typeface="Arial" pitchFamily="34" charset="0"/>
                <a:ea typeface="Arial" pitchFamily="34" charset="-122"/>
                <a:cs typeface="Arial" pitchFamily="34" charset="-120"/>
              </a:rPr>
              <a:t>Marcel crée une demande de matériel, avec un devis joint.</a:t>
            </a:r>
            <a:endParaRPr lang="en-US" sz="1400" dirty="0"/>
          </a:p>
        </p:txBody>
      </p:sp>
      <p:sp>
        <p:nvSpPr>
          <p:cNvPr id="9" name="Text 7"/>
          <p:cNvSpPr txBox="1"/>
          <p:nvPr/>
        </p:nvSpPr>
        <p:spPr>
          <a:xfrm>
            <a:off x="868680" y="4251960"/>
            <a:ext cx="2030654" cy="457200"/>
          </a:xfrm>
          <a:prstGeom prst="rect">
            <a:avLst/>
          </a:prstGeom>
          <a:noFill/>
          <a:ln/>
        </p:spPr>
        <p:txBody>
          <a:bodyPr wrap="square" lIns="0" tIns="0" rIns="0" bIns="0" rtlCol="0" anchor="t"/>
          <a:lstStyle/>
          <a:p>
            <a:pPr indent="0" marL="0">
              <a:buNone/>
            </a:pPr>
            <a:r>
              <a:rPr lang="en-US" sz="1200" b="1" dirty="0">
                <a:solidFill>
                  <a:srgbClr val="B45F06"/>
                </a:solidFill>
                <a:latin typeface="Arial" pitchFamily="34" charset="0"/>
                <a:ea typeface="Arial" pitchFamily="34" charset="-122"/>
                <a:cs typeface="Arial" pitchFamily="34" charset="-120"/>
              </a:rPr>
              <a:t>Statut « En attente », circuit affiché</a:t>
            </a:r>
            <a:endParaRPr lang="en-US" sz="1200" dirty="0"/>
          </a:p>
        </p:txBody>
      </p:sp>
      <p:sp>
        <p:nvSpPr>
          <p:cNvPr id="10" name="Shape 8"/>
          <p:cNvSpPr/>
          <p:nvPr/>
        </p:nvSpPr>
        <p:spPr>
          <a:xfrm>
            <a:off x="3173654" y="3314700"/>
            <a:ext cx="228600" cy="0"/>
          </a:xfrm>
          <a:prstGeom prst="line">
            <a:avLst/>
          </a:prstGeom>
          <a:noFill/>
          <a:ln w="22225">
            <a:solidFill>
              <a:srgbClr val="B45F06"/>
            </a:solidFill>
            <a:prstDash val="solid"/>
            <a:tailEnd type="triangle"/>
          </a:ln>
        </p:spPr>
      </p:sp>
      <p:sp>
        <p:nvSpPr>
          <p:cNvPr id="11" name="Mail"/>
          <p:cNvSpPr/>
          <p:nvPr/>
        </p:nvSpPr>
        <p:spPr>
          <a:xfrm>
            <a:off x="3447974" y="1783080"/>
            <a:ext cx="2487854" cy="3063240"/>
          </a:xfrm>
          <a:prstGeom prst="roundRect">
            <a:avLst>
              <a:gd name="adj" fmla="val 2205"/>
            </a:avLst>
          </a:prstGeom>
          <a:solidFill>
            <a:srgbClr val="E6E2D8"/>
          </a:solidFill>
          <a:ln w="12700">
            <a:solidFill>
              <a:srgbClr val="E6E2D8"/>
            </a:solidFill>
            <a:prstDash val="solid"/>
          </a:ln>
        </p:spPr>
      </p:sp>
      <p:sp>
        <p:nvSpPr>
          <p:cNvPr id="12" name="Shape 10"/>
          <p:cNvSpPr/>
          <p:nvPr/>
        </p:nvSpPr>
        <p:spPr>
          <a:xfrm>
            <a:off x="3676574" y="2011680"/>
            <a:ext cx="438912" cy="438912"/>
          </a:xfrm>
          <a:prstGeom prst="ellipse">
            <a:avLst/>
          </a:prstGeom>
          <a:solidFill>
            <a:srgbClr val="FCA311"/>
          </a:solidFill>
          <a:ln w="12700">
            <a:solidFill>
              <a:srgbClr val="FCA311"/>
            </a:solidFill>
            <a:prstDash val="solid"/>
          </a:ln>
        </p:spPr>
      </p:sp>
      <p:sp>
        <p:nvSpPr>
          <p:cNvPr id="13" name="Text 11"/>
          <p:cNvSpPr txBox="1"/>
          <p:nvPr/>
        </p:nvSpPr>
        <p:spPr>
          <a:xfrm>
            <a:off x="3676574" y="2011680"/>
            <a:ext cx="438912" cy="438912"/>
          </a:xfrm>
          <a:prstGeom prst="rect">
            <a:avLst/>
          </a:prstGeom>
          <a:noFill/>
          <a:ln/>
        </p:spPr>
        <p:txBody>
          <a:bodyPr wrap="square" lIns="0" tIns="0" rIns="0" bIns="0" rtlCol="0" anchor="ctr"/>
          <a:lstStyle/>
          <a:p>
            <a:pPr algn="ctr" indent="0" marL="0">
              <a:buNone/>
            </a:pPr>
            <a:r>
              <a:rPr lang="en-US" sz="1500" b="1" dirty="0">
                <a:solidFill>
                  <a:srgbClr val="14213D"/>
                </a:solidFill>
                <a:latin typeface="Arial" pitchFamily="34" charset="0"/>
                <a:ea typeface="Arial" pitchFamily="34" charset="-122"/>
                <a:cs typeface="Arial" pitchFamily="34" charset="-120"/>
              </a:rPr>
              <a:t>2</a:t>
            </a:r>
            <a:endParaRPr lang="en-US" sz="1500" dirty="0"/>
          </a:p>
        </p:txBody>
      </p:sp>
      <p:sp>
        <p:nvSpPr>
          <p:cNvPr id="14" name="Text 12"/>
          <p:cNvSpPr txBox="1"/>
          <p:nvPr/>
        </p:nvSpPr>
        <p:spPr>
          <a:xfrm>
            <a:off x="3676574" y="2606040"/>
            <a:ext cx="2030654" cy="365760"/>
          </a:xfrm>
          <a:prstGeom prst="rect">
            <a:avLst/>
          </a:prstGeom>
          <a:noFill/>
          <a:ln/>
        </p:spPr>
        <p:txBody>
          <a:bodyPr wrap="square" lIns="0" tIns="0" rIns="0" bIns="0" rtlCol="0" anchor="t"/>
          <a:lstStyle/>
          <a:p>
            <a:pPr indent="0" marL="0">
              <a:buNone/>
            </a:pPr>
            <a:r>
              <a:rPr lang="en-US" sz="1700" b="1" dirty="0">
                <a:solidFill>
                  <a:srgbClr val="14213D"/>
                </a:solidFill>
                <a:latin typeface="Arial" pitchFamily="34" charset="0"/>
                <a:ea typeface="Arial" pitchFamily="34" charset="-122"/>
                <a:cs typeface="Arial" pitchFamily="34" charset="-120"/>
              </a:rPr>
              <a:t>Mail</a:t>
            </a:r>
            <a:endParaRPr lang="en-US" sz="1700" dirty="0"/>
          </a:p>
        </p:txBody>
      </p:sp>
      <p:sp>
        <p:nvSpPr>
          <p:cNvPr id="15" name="Text 13"/>
          <p:cNvSpPr txBox="1"/>
          <p:nvPr/>
        </p:nvSpPr>
        <p:spPr>
          <a:xfrm>
            <a:off x="3676574" y="3017520"/>
            <a:ext cx="2030654" cy="1143000"/>
          </a:xfrm>
          <a:prstGeom prst="rect">
            <a:avLst/>
          </a:prstGeom>
          <a:noFill/>
          <a:ln/>
        </p:spPr>
        <p:txBody>
          <a:bodyPr wrap="square" lIns="0" tIns="0" rIns="0" bIns="0" rtlCol="0" anchor="t"/>
          <a:lstStyle/>
          <a:p>
            <a:pPr indent="0" marL="0">
              <a:buNone/>
            </a:pPr>
            <a:r>
              <a:rPr lang="en-US" sz="1400" dirty="0">
                <a:solidFill>
                  <a:srgbClr val="3A4660"/>
                </a:solidFill>
                <a:latin typeface="Arial" pitchFamily="34" charset="0"/>
                <a:ea typeface="Arial" pitchFamily="34" charset="-122"/>
                <a:cs typeface="Arial" pitchFamily="34" charset="-120"/>
              </a:rPr>
              <a:t>Le manager reçoit le mail avec le résumé IA « En bref ».</a:t>
            </a:r>
            <a:endParaRPr lang="en-US" sz="1400" dirty="0"/>
          </a:p>
        </p:txBody>
      </p:sp>
      <p:sp>
        <p:nvSpPr>
          <p:cNvPr id="16" name="Text 14"/>
          <p:cNvSpPr txBox="1"/>
          <p:nvPr/>
        </p:nvSpPr>
        <p:spPr>
          <a:xfrm>
            <a:off x="3676574" y="4251960"/>
            <a:ext cx="2030654" cy="457200"/>
          </a:xfrm>
          <a:prstGeom prst="rect">
            <a:avLst/>
          </a:prstGeom>
          <a:noFill/>
          <a:ln/>
        </p:spPr>
        <p:txBody>
          <a:bodyPr wrap="square" lIns="0" tIns="0" rIns="0" bIns="0" rtlCol="0" anchor="t"/>
          <a:lstStyle/>
          <a:p>
            <a:pPr indent="0" marL="0">
              <a:buNone/>
            </a:pPr>
            <a:r>
              <a:rPr lang="en-US" sz="1200" b="1" dirty="0">
                <a:solidFill>
                  <a:srgbClr val="B45F06"/>
                </a:solidFill>
                <a:latin typeface="Arial" pitchFamily="34" charset="0"/>
                <a:ea typeface="Arial" pitchFamily="34" charset="-122"/>
                <a:cs typeface="Arial" pitchFamily="34" charset="-120"/>
              </a:rPr>
              <a:t>Boîte de test, en moins d’une minute</a:t>
            </a:r>
            <a:endParaRPr lang="en-US" sz="1200" dirty="0"/>
          </a:p>
        </p:txBody>
      </p:sp>
      <p:sp>
        <p:nvSpPr>
          <p:cNvPr id="17" name="Shape 15"/>
          <p:cNvSpPr/>
          <p:nvPr/>
        </p:nvSpPr>
        <p:spPr>
          <a:xfrm>
            <a:off x="5981548" y="3314700"/>
            <a:ext cx="228600" cy="0"/>
          </a:xfrm>
          <a:prstGeom prst="line">
            <a:avLst/>
          </a:prstGeom>
          <a:noFill/>
          <a:ln w="22225">
            <a:solidFill>
              <a:srgbClr val="B45F06"/>
            </a:solidFill>
            <a:prstDash val="solid"/>
            <a:tailEnd type="triangle"/>
          </a:ln>
        </p:spPr>
      </p:sp>
      <p:sp>
        <p:nvSpPr>
          <p:cNvPr id="18" name="Manager"/>
          <p:cNvSpPr/>
          <p:nvPr/>
        </p:nvSpPr>
        <p:spPr>
          <a:xfrm>
            <a:off x="6255868" y="1783080"/>
            <a:ext cx="2487854" cy="3063240"/>
          </a:xfrm>
          <a:prstGeom prst="roundRect">
            <a:avLst>
              <a:gd name="adj" fmla="val 2205"/>
            </a:avLst>
          </a:prstGeom>
          <a:solidFill>
            <a:srgbClr val="E6E2D8"/>
          </a:solidFill>
          <a:ln w="12700">
            <a:solidFill>
              <a:srgbClr val="E6E2D8"/>
            </a:solidFill>
            <a:prstDash val="solid"/>
          </a:ln>
        </p:spPr>
      </p:sp>
      <p:sp>
        <p:nvSpPr>
          <p:cNvPr id="19" name="Shape 17"/>
          <p:cNvSpPr/>
          <p:nvPr/>
        </p:nvSpPr>
        <p:spPr>
          <a:xfrm>
            <a:off x="6484468" y="2011680"/>
            <a:ext cx="438912" cy="438912"/>
          </a:xfrm>
          <a:prstGeom prst="ellipse">
            <a:avLst/>
          </a:prstGeom>
          <a:solidFill>
            <a:srgbClr val="FCA311"/>
          </a:solidFill>
          <a:ln w="12700">
            <a:solidFill>
              <a:srgbClr val="FCA311"/>
            </a:solidFill>
            <a:prstDash val="solid"/>
          </a:ln>
        </p:spPr>
      </p:sp>
      <p:sp>
        <p:nvSpPr>
          <p:cNvPr id="20" name="Text 18"/>
          <p:cNvSpPr txBox="1"/>
          <p:nvPr/>
        </p:nvSpPr>
        <p:spPr>
          <a:xfrm>
            <a:off x="6484468" y="2011680"/>
            <a:ext cx="438912" cy="438912"/>
          </a:xfrm>
          <a:prstGeom prst="rect">
            <a:avLst/>
          </a:prstGeom>
          <a:noFill/>
          <a:ln/>
        </p:spPr>
        <p:txBody>
          <a:bodyPr wrap="square" lIns="0" tIns="0" rIns="0" bIns="0" rtlCol="0" anchor="ctr"/>
          <a:lstStyle/>
          <a:p>
            <a:pPr algn="ctr" indent="0" marL="0">
              <a:buNone/>
            </a:pPr>
            <a:r>
              <a:rPr lang="en-US" sz="1500" b="1" dirty="0">
                <a:solidFill>
                  <a:srgbClr val="14213D"/>
                </a:solidFill>
                <a:latin typeface="Arial" pitchFamily="34" charset="0"/>
                <a:ea typeface="Arial" pitchFamily="34" charset="-122"/>
                <a:cs typeface="Arial" pitchFamily="34" charset="-120"/>
              </a:rPr>
              <a:t>3</a:t>
            </a:r>
            <a:endParaRPr lang="en-US" sz="1500" dirty="0"/>
          </a:p>
        </p:txBody>
      </p:sp>
      <p:sp>
        <p:nvSpPr>
          <p:cNvPr id="21" name="Text 19"/>
          <p:cNvSpPr txBox="1"/>
          <p:nvPr/>
        </p:nvSpPr>
        <p:spPr>
          <a:xfrm>
            <a:off x="6484468" y="2606040"/>
            <a:ext cx="2030654" cy="365760"/>
          </a:xfrm>
          <a:prstGeom prst="rect">
            <a:avLst/>
          </a:prstGeom>
          <a:noFill/>
          <a:ln/>
        </p:spPr>
        <p:txBody>
          <a:bodyPr wrap="square" lIns="0" tIns="0" rIns="0" bIns="0" rtlCol="0" anchor="t"/>
          <a:lstStyle/>
          <a:p>
            <a:pPr indent="0" marL="0">
              <a:buNone/>
            </a:pPr>
            <a:r>
              <a:rPr lang="en-US" sz="1700" b="1" dirty="0">
                <a:solidFill>
                  <a:srgbClr val="14213D"/>
                </a:solidFill>
                <a:latin typeface="Arial" pitchFamily="34" charset="0"/>
                <a:ea typeface="Arial" pitchFamily="34" charset="-122"/>
                <a:cs typeface="Arial" pitchFamily="34" charset="-120"/>
              </a:rPr>
              <a:t>Manager</a:t>
            </a:r>
            <a:endParaRPr lang="en-US" sz="1700" dirty="0"/>
          </a:p>
        </p:txBody>
      </p:sp>
      <p:sp>
        <p:nvSpPr>
          <p:cNvPr id="22" name="Text 20"/>
          <p:cNvSpPr txBox="1"/>
          <p:nvPr/>
        </p:nvSpPr>
        <p:spPr>
          <a:xfrm>
            <a:off x="6484468" y="3017520"/>
            <a:ext cx="2030654" cy="1143000"/>
          </a:xfrm>
          <a:prstGeom prst="rect">
            <a:avLst/>
          </a:prstGeom>
          <a:noFill/>
          <a:ln/>
        </p:spPr>
        <p:txBody>
          <a:bodyPr wrap="square" lIns="0" tIns="0" rIns="0" bIns="0" rtlCol="0" anchor="t"/>
          <a:lstStyle/>
          <a:p>
            <a:pPr indent="0" marL="0">
              <a:buNone/>
            </a:pPr>
            <a:r>
              <a:rPr lang="en-US" sz="1400" dirty="0">
                <a:solidFill>
                  <a:srgbClr val="3A4660"/>
                </a:solidFill>
                <a:latin typeface="Arial" pitchFamily="34" charset="0"/>
                <a:ea typeface="Arial" pitchFamily="34" charset="-122"/>
                <a:cs typeface="Arial" pitchFamily="34" charset="-120"/>
              </a:rPr>
              <a:t>Théophile génère un brouillon IA, puis décide en un clic.</a:t>
            </a:r>
            <a:endParaRPr lang="en-US" sz="1400" dirty="0"/>
          </a:p>
        </p:txBody>
      </p:sp>
      <p:sp>
        <p:nvSpPr>
          <p:cNvPr id="23" name="Text 21"/>
          <p:cNvSpPr txBox="1"/>
          <p:nvPr/>
        </p:nvSpPr>
        <p:spPr>
          <a:xfrm>
            <a:off x="6484468" y="4251960"/>
            <a:ext cx="2030654" cy="457200"/>
          </a:xfrm>
          <a:prstGeom prst="rect">
            <a:avLst/>
          </a:prstGeom>
          <a:noFill/>
          <a:ln/>
        </p:spPr>
        <p:txBody>
          <a:bodyPr wrap="square" lIns="0" tIns="0" rIns="0" bIns="0" rtlCol="0" anchor="t"/>
          <a:lstStyle/>
          <a:p>
            <a:pPr indent="0" marL="0">
              <a:buNone/>
            </a:pPr>
            <a:r>
              <a:rPr lang="en-US" sz="1200" b="1" dirty="0">
                <a:solidFill>
                  <a:srgbClr val="B45F06"/>
                </a:solidFill>
                <a:latin typeface="Arial" pitchFamily="34" charset="0"/>
                <a:ea typeface="Arial" pitchFamily="34" charset="-122"/>
                <a:cs typeface="Arial" pitchFamily="34" charset="-120"/>
              </a:rPr>
              <a:t>Mail de décision à Marcel</a:t>
            </a:r>
            <a:endParaRPr lang="en-US" sz="1200" dirty="0"/>
          </a:p>
        </p:txBody>
      </p:sp>
      <p:sp>
        <p:nvSpPr>
          <p:cNvPr id="24" name="Shape 22"/>
          <p:cNvSpPr/>
          <p:nvPr/>
        </p:nvSpPr>
        <p:spPr>
          <a:xfrm>
            <a:off x="8789441" y="3314700"/>
            <a:ext cx="228600" cy="0"/>
          </a:xfrm>
          <a:prstGeom prst="line">
            <a:avLst/>
          </a:prstGeom>
          <a:noFill/>
          <a:ln w="22225">
            <a:solidFill>
              <a:srgbClr val="B45F06"/>
            </a:solidFill>
            <a:prstDash val="solid"/>
            <a:tailEnd type="triangle"/>
          </a:ln>
        </p:spPr>
      </p:sp>
      <p:sp>
        <p:nvSpPr>
          <p:cNvPr id="25" name="Assistant RH"/>
          <p:cNvSpPr/>
          <p:nvPr/>
        </p:nvSpPr>
        <p:spPr>
          <a:xfrm>
            <a:off x="9063761" y="1783080"/>
            <a:ext cx="2487854" cy="3063240"/>
          </a:xfrm>
          <a:prstGeom prst="roundRect">
            <a:avLst>
              <a:gd name="adj" fmla="val 2205"/>
            </a:avLst>
          </a:prstGeom>
          <a:solidFill>
            <a:srgbClr val="E6E2D8"/>
          </a:solidFill>
          <a:ln w="12700">
            <a:solidFill>
              <a:srgbClr val="E6E2D8"/>
            </a:solidFill>
            <a:prstDash val="solid"/>
          </a:ln>
        </p:spPr>
      </p:sp>
      <p:sp>
        <p:nvSpPr>
          <p:cNvPr id="26" name="Shape 24"/>
          <p:cNvSpPr/>
          <p:nvPr/>
        </p:nvSpPr>
        <p:spPr>
          <a:xfrm>
            <a:off x="9292361" y="2011680"/>
            <a:ext cx="438912" cy="438912"/>
          </a:xfrm>
          <a:prstGeom prst="ellipse">
            <a:avLst/>
          </a:prstGeom>
          <a:solidFill>
            <a:srgbClr val="FCA311"/>
          </a:solidFill>
          <a:ln w="12700">
            <a:solidFill>
              <a:srgbClr val="FCA311"/>
            </a:solidFill>
            <a:prstDash val="solid"/>
          </a:ln>
        </p:spPr>
      </p:sp>
      <p:sp>
        <p:nvSpPr>
          <p:cNvPr id="27" name="Text 25"/>
          <p:cNvSpPr txBox="1"/>
          <p:nvPr/>
        </p:nvSpPr>
        <p:spPr>
          <a:xfrm>
            <a:off x="9292361" y="2011680"/>
            <a:ext cx="438912" cy="438912"/>
          </a:xfrm>
          <a:prstGeom prst="rect">
            <a:avLst/>
          </a:prstGeom>
          <a:noFill/>
          <a:ln/>
        </p:spPr>
        <p:txBody>
          <a:bodyPr wrap="square" lIns="0" tIns="0" rIns="0" bIns="0" rtlCol="0" anchor="ctr"/>
          <a:lstStyle/>
          <a:p>
            <a:pPr algn="ctr" indent="0" marL="0">
              <a:buNone/>
            </a:pPr>
            <a:r>
              <a:rPr lang="en-US" sz="1500" b="1" dirty="0">
                <a:solidFill>
                  <a:srgbClr val="14213D"/>
                </a:solidFill>
                <a:latin typeface="Arial" pitchFamily="34" charset="0"/>
                <a:ea typeface="Arial" pitchFamily="34" charset="-122"/>
                <a:cs typeface="Arial" pitchFamily="34" charset="-120"/>
              </a:rPr>
              <a:t>4</a:t>
            </a:r>
            <a:endParaRPr lang="en-US" sz="1500" dirty="0"/>
          </a:p>
        </p:txBody>
      </p:sp>
      <p:sp>
        <p:nvSpPr>
          <p:cNvPr id="28" name="Text 26"/>
          <p:cNvSpPr txBox="1"/>
          <p:nvPr/>
        </p:nvSpPr>
        <p:spPr>
          <a:xfrm>
            <a:off x="9292361" y="2606040"/>
            <a:ext cx="2030654" cy="365760"/>
          </a:xfrm>
          <a:prstGeom prst="rect">
            <a:avLst/>
          </a:prstGeom>
          <a:noFill/>
          <a:ln/>
        </p:spPr>
        <p:txBody>
          <a:bodyPr wrap="square" lIns="0" tIns="0" rIns="0" bIns="0" rtlCol="0" anchor="t"/>
          <a:lstStyle/>
          <a:p>
            <a:pPr indent="0" marL="0">
              <a:buNone/>
            </a:pPr>
            <a:r>
              <a:rPr lang="en-US" sz="1700" b="1" dirty="0">
                <a:solidFill>
                  <a:srgbClr val="14213D"/>
                </a:solidFill>
                <a:latin typeface="Arial" pitchFamily="34" charset="0"/>
                <a:ea typeface="Arial" pitchFamily="34" charset="-122"/>
                <a:cs typeface="Arial" pitchFamily="34" charset="-120"/>
              </a:rPr>
              <a:t>Assistant RH</a:t>
            </a:r>
            <a:endParaRPr lang="en-US" sz="1700" dirty="0"/>
          </a:p>
        </p:txBody>
      </p:sp>
      <p:sp>
        <p:nvSpPr>
          <p:cNvPr id="29" name="Text 27"/>
          <p:cNvSpPr txBox="1"/>
          <p:nvPr/>
        </p:nvSpPr>
        <p:spPr>
          <a:xfrm>
            <a:off x="9292361" y="3017520"/>
            <a:ext cx="2030654" cy="1143000"/>
          </a:xfrm>
          <a:prstGeom prst="rect">
            <a:avLst/>
          </a:prstGeom>
          <a:noFill/>
          <a:ln/>
        </p:spPr>
        <p:txBody>
          <a:bodyPr wrap="square" lIns="0" tIns="0" rIns="0" bIns="0" rtlCol="0" anchor="t"/>
          <a:lstStyle/>
          <a:p>
            <a:pPr indent="0" marL="0">
              <a:buNone/>
            </a:pPr>
            <a:r>
              <a:rPr lang="en-US" sz="1400" dirty="0">
                <a:solidFill>
                  <a:srgbClr val="3A4660"/>
                </a:solidFill>
                <a:latin typeface="Arial" pitchFamily="34" charset="0"/>
                <a:ea typeface="Arial" pitchFamily="34" charset="-122"/>
                <a:cs typeface="Arial" pitchFamily="34" charset="-120"/>
              </a:rPr>
              <a:t>« Combien de jours de télétravail ? », puis un test négatif.</a:t>
            </a:r>
            <a:endParaRPr lang="en-US" sz="1400" dirty="0"/>
          </a:p>
        </p:txBody>
      </p:sp>
      <p:sp>
        <p:nvSpPr>
          <p:cNvPr id="30" name="Text 28"/>
          <p:cNvSpPr txBox="1"/>
          <p:nvPr/>
        </p:nvSpPr>
        <p:spPr>
          <a:xfrm>
            <a:off x="9292361" y="4251960"/>
            <a:ext cx="2030654" cy="457200"/>
          </a:xfrm>
          <a:prstGeom prst="rect">
            <a:avLst/>
          </a:prstGeom>
          <a:noFill/>
          <a:ln/>
        </p:spPr>
        <p:txBody>
          <a:bodyPr wrap="square" lIns="0" tIns="0" rIns="0" bIns="0" rtlCol="0" anchor="t"/>
          <a:lstStyle/>
          <a:p>
            <a:pPr indent="0" marL="0">
              <a:buNone/>
            </a:pPr>
            <a:r>
              <a:rPr lang="en-US" sz="1200" b="1" dirty="0">
                <a:solidFill>
                  <a:srgbClr val="B45F06"/>
                </a:solidFill>
                <a:latin typeface="Arial" pitchFamily="34" charset="0"/>
                <a:ea typeface="Arial" pitchFamily="34" charset="-122"/>
                <a:cs typeface="Arial" pitchFamily="34" charset="-120"/>
              </a:rPr>
              <a:t>Réponse sourcée, puis refus</a:t>
            </a:r>
            <a:endParaRPr lang="en-US" sz="1200" dirty="0"/>
          </a:p>
        </p:txBody>
      </p:sp>
      <p:sp>
        <p:nvSpPr>
          <p:cNvPr id="31" name="Plan B"/>
          <p:cNvSpPr/>
          <p:nvPr/>
        </p:nvSpPr>
        <p:spPr>
          <a:xfrm>
            <a:off x="640080" y="5120640"/>
            <a:ext cx="10911535" cy="1051560"/>
          </a:xfrm>
          <a:prstGeom prst="roundRect">
            <a:avLst>
              <a:gd name="adj" fmla="val 5217"/>
            </a:avLst>
          </a:prstGeom>
          <a:solidFill>
            <a:srgbClr val="14213D"/>
          </a:solidFill>
          <a:ln w="12700">
            <a:solidFill>
              <a:srgbClr val="14213D"/>
            </a:solidFill>
            <a:prstDash val="solid"/>
          </a:ln>
        </p:spPr>
      </p:sp>
      <p:sp>
        <p:nvSpPr>
          <p:cNvPr id="32" name="Text 30"/>
          <p:cNvSpPr txBox="1"/>
          <p:nvPr/>
        </p:nvSpPr>
        <p:spPr>
          <a:xfrm>
            <a:off x="960120" y="5230368"/>
            <a:ext cx="2743200" cy="274320"/>
          </a:xfrm>
          <a:prstGeom prst="rect">
            <a:avLst/>
          </a:prstGeom>
          <a:noFill/>
          <a:ln/>
        </p:spPr>
        <p:txBody>
          <a:bodyPr wrap="square" lIns="0" tIns="0" rIns="0" bIns="0" rtlCol="0" anchor="t"/>
          <a:lstStyle/>
          <a:p>
            <a:pPr indent="0" marL="0">
              <a:buNone/>
            </a:pPr>
            <a:r>
              <a:rPr lang="en-US" sz="1300" b="1" dirty="0">
                <a:solidFill>
                  <a:srgbClr val="FCA311"/>
                </a:solidFill>
                <a:latin typeface="Arial" pitchFamily="34" charset="0"/>
                <a:ea typeface="Arial" pitchFamily="34" charset="-122"/>
                <a:cs typeface="Arial" pitchFamily="34" charset="-120"/>
              </a:rPr>
              <a:t>Plan B</a:t>
            </a:r>
            <a:endParaRPr lang="en-US" sz="1300" dirty="0"/>
          </a:p>
        </p:txBody>
      </p:sp>
      <p:sp>
        <p:nvSpPr>
          <p:cNvPr id="33" name="Text 31"/>
          <p:cNvSpPr txBox="1"/>
          <p:nvPr/>
        </p:nvSpPr>
        <p:spPr>
          <a:xfrm>
            <a:off x="960120" y="5532120"/>
            <a:ext cx="10271455" cy="548640"/>
          </a:xfrm>
          <a:prstGeom prst="rect">
            <a:avLst/>
          </a:prstGeom>
          <a:noFill/>
          <a:ln/>
        </p:spPr>
        <p:txBody>
          <a:bodyPr wrap="square" lIns="0" tIns="0" rIns="0" bIns="0" rtlCol="0" anchor="t"/>
          <a:lstStyle/>
          <a:p>
            <a:pPr indent="0" marL="0">
              <a:buNone/>
            </a:pPr>
            <a:r>
              <a:rPr lang="en-US" sz="1400" dirty="0">
                <a:solidFill>
                  <a:srgbClr val="FFFFFF"/>
                </a:solidFill>
                <a:latin typeface="Arial" pitchFamily="34" charset="0"/>
                <a:ea typeface="Arial" pitchFamily="34" charset="-122"/>
                <a:cs typeface="Arial" pitchFamily="34" charset="-120"/>
              </a:rPr>
              <a:t>Si le réseau ou n8n lâche : captures de chaque étape, et suites de tests SQL rejouables devant le jury (62 / 62 et 62 / 62).</a:t>
            </a:r>
            <a:endParaRPr lang="en-US" sz="14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A6373"/>
                </a:solidFill>
                <a:latin typeface="Arial"/>
                <a:ea typeface="Arial"/>
                <a:cs typeface="Aria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640080" y="457200"/>
            <a:ext cx="10911535" cy="731520"/>
          </a:xfrm>
          <a:prstGeom prst="rect">
            <a:avLst/>
          </a:prstGeom>
          <a:noFill/>
          <a:ln/>
        </p:spPr>
        <p:txBody>
          <a:bodyPr wrap="square" lIns="0" tIns="0" rIns="0" bIns="0" rtlCol="0" anchor="t"/>
          <a:lstStyle/>
          <a:p>
            <a:pPr algn="l" indent="0" marL="0">
              <a:buNone/>
            </a:pPr>
            <a:r>
              <a:rPr lang="en-US" sz="3200" b="1" dirty="0">
                <a:solidFill>
                  <a:srgbClr val="FFFFFF"/>
                </a:solidFill>
                <a:latin typeface="Arial" pitchFamily="34" charset="0"/>
                <a:ea typeface="Arial" pitchFamily="34" charset="-122"/>
                <a:cs typeface="Arial" pitchFamily="34" charset="-120"/>
              </a:rPr>
              <a:t>Production : un système, pas une démo</a:t>
            </a:r>
            <a:endParaRPr lang="en-US" sz="3200" dirty="0"/>
          </a:p>
        </p:txBody>
      </p:sp>
      <p:sp>
        <p:nvSpPr>
          <p:cNvPr id="3" name="Text 0"/>
          <p:cNvSpPr/>
          <p:nvPr>
            <p:ph idx="101" type="body" hasCustomPrompt="1"/>
          </p:nvPr>
        </p:nvSpPr>
        <p:spPr>
          <a:xfrm>
            <a:off x="640080" y="1170432"/>
            <a:ext cx="10911535" cy="365760"/>
          </a:xfrm>
          <a:prstGeom prst="rect">
            <a:avLst/>
          </a:prstGeom>
          <a:noFill/>
          <a:ln/>
        </p:spPr>
        <p:txBody>
          <a:bodyPr wrap="square" lIns="0" tIns="0" rIns="0" bIns="0" rtlCol="0" anchor="ctr"/>
          <a:lstStyle/>
          <a:p>
            <a:pPr algn="l" indent="0" marL="0">
              <a:buNone/>
            </a:pPr>
            <a:r>
              <a:rPr lang="en-US" sz="1500" b="1" dirty="0">
                <a:solidFill>
                  <a:srgbClr val="FCA311"/>
                </a:solidFill>
                <a:latin typeface="Arial" pitchFamily="34" charset="0"/>
                <a:ea typeface="Arial" pitchFamily="34" charset="-122"/>
                <a:cs typeface="Arial" pitchFamily="34" charset="-120"/>
              </a:rPr>
              <a:t>Déployé, surveillé, sécurisé, testé</a:t>
            </a:r>
            <a:endParaRPr lang="en-US" sz="1500" dirty="0"/>
          </a:p>
        </p:txBody>
      </p:sp>
      <p:sp>
        <p:nvSpPr>
          <p:cNvPr id="4" name="Déploiement"/>
          <p:cNvSpPr/>
          <p:nvPr/>
        </p:nvSpPr>
        <p:spPr>
          <a:xfrm>
            <a:off x="640080" y="1783080"/>
            <a:ext cx="3454298" cy="2148840"/>
          </a:xfrm>
          <a:prstGeom prst="roundRect">
            <a:avLst>
              <a:gd name="adj" fmla="val 2553"/>
            </a:avLst>
          </a:prstGeom>
          <a:solidFill>
            <a:srgbClr val="1F3160"/>
          </a:solidFill>
          <a:ln w="12700">
            <a:solidFill>
              <a:srgbClr val="1F3160"/>
            </a:solidFill>
            <a:prstDash val="solid"/>
          </a:ln>
        </p:spPr>
      </p:sp>
      <p:sp>
        <p:nvSpPr>
          <p:cNvPr id="5" name="Text 3"/>
          <p:cNvSpPr txBox="1"/>
          <p:nvPr/>
        </p:nvSpPr>
        <p:spPr>
          <a:xfrm>
            <a:off x="914400" y="1984248"/>
            <a:ext cx="2905658" cy="320040"/>
          </a:xfrm>
          <a:prstGeom prst="rect">
            <a:avLst/>
          </a:prstGeom>
          <a:noFill/>
          <a:ln/>
        </p:spPr>
        <p:txBody>
          <a:bodyPr wrap="square" lIns="0" tIns="0" rIns="0" bIns="0" rtlCol="0" anchor="t"/>
          <a:lstStyle/>
          <a:p>
            <a:pPr indent="0" marL="0">
              <a:buNone/>
            </a:pPr>
            <a:r>
              <a:rPr lang="en-US" sz="1600" b="1" dirty="0">
                <a:solidFill>
                  <a:srgbClr val="FCA311"/>
                </a:solidFill>
                <a:latin typeface="Arial" pitchFamily="34" charset="0"/>
                <a:ea typeface="Arial" pitchFamily="34" charset="-122"/>
                <a:cs typeface="Arial" pitchFamily="34" charset="-120"/>
              </a:rPr>
              <a:t>Déploiement</a:t>
            </a:r>
            <a:endParaRPr lang="en-US" sz="1600" dirty="0"/>
          </a:p>
        </p:txBody>
      </p:sp>
      <p:sp>
        <p:nvSpPr>
          <p:cNvPr id="6" name="Text 4"/>
          <p:cNvSpPr txBox="1"/>
          <p:nvPr/>
        </p:nvSpPr>
        <p:spPr>
          <a:xfrm>
            <a:off x="914400" y="2423160"/>
            <a:ext cx="2905658" cy="1371600"/>
          </a:xfrm>
          <a:prstGeom prst="rect">
            <a:avLst/>
          </a:prstGeom>
          <a:noFill/>
          <a:ln/>
        </p:spPr>
        <p:txBody>
          <a:bodyPr wrap="square" lIns="0" tIns="0" rIns="0" bIns="0" rtlCol="0" anchor="t"/>
          <a:lstStyle/>
          <a:p>
            <a:pPr indent="0" marL="0">
              <a:buNone/>
            </a:pPr>
            <a:r>
              <a:rPr lang="en-US" sz="1400" dirty="0">
                <a:solidFill>
                  <a:srgbClr val="C9D1DE"/>
                </a:solidFill>
                <a:latin typeface="Arial" pitchFamily="34" charset="0"/>
                <a:ea typeface="Arial" pitchFamily="34" charset="-122"/>
                <a:cs typeface="Arial" pitchFamily="34" charset="-120"/>
              </a:rPr>
              <a:t>Site sur Render, base et envoi des mails sur Supabase. n8n reste sur notre PC derrière ngrok : défaut assumé.</a:t>
            </a:r>
            <a:endParaRPr lang="en-US" sz="1400" dirty="0"/>
          </a:p>
        </p:txBody>
      </p:sp>
      <p:sp>
        <p:nvSpPr>
          <p:cNvPr id="7" name="Supervision"/>
          <p:cNvSpPr/>
          <p:nvPr/>
        </p:nvSpPr>
        <p:spPr>
          <a:xfrm>
            <a:off x="4368698" y="1783080"/>
            <a:ext cx="3454298" cy="2148840"/>
          </a:xfrm>
          <a:prstGeom prst="roundRect">
            <a:avLst>
              <a:gd name="adj" fmla="val 2553"/>
            </a:avLst>
          </a:prstGeom>
          <a:solidFill>
            <a:srgbClr val="1F3160"/>
          </a:solidFill>
          <a:ln w="12700">
            <a:solidFill>
              <a:srgbClr val="1F3160"/>
            </a:solidFill>
            <a:prstDash val="solid"/>
          </a:ln>
        </p:spPr>
      </p:sp>
      <p:sp>
        <p:nvSpPr>
          <p:cNvPr id="8" name="Text 6"/>
          <p:cNvSpPr txBox="1"/>
          <p:nvPr/>
        </p:nvSpPr>
        <p:spPr>
          <a:xfrm>
            <a:off x="4643018" y="1984248"/>
            <a:ext cx="2905658" cy="320040"/>
          </a:xfrm>
          <a:prstGeom prst="rect">
            <a:avLst/>
          </a:prstGeom>
          <a:noFill/>
          <a:ln/>
        </p:spPr>
        <p:txBody>
          <a:bodyPr wrap="square" lIns="0" tIns="0" rIns="0" bIns="0" rtlCol="0" anchor="t"/>
          <a:lstStyle/>
          <a:p>
            <a:pPr indent="0" marL="0">
              <a:buNone/>
            </a:pPr>
            <a:r>
              <a:rPr lang="en-US" sz="1600" b="1" dirty="0">
                <a:solidFill>
                  <a:srgbClr val="FCA311"/>
                </a:solidFill>
                <a:latin typeface="Arial" pitchFamily="34" charset="0"/>
                <a:ea typeface="Arial" pitchFamily="34" charset="-122"/>
                <a:cs typeface="Arial" pitchFamily="34" charset="-120"/>
              </a:rPr>
              <a:t>Supervision</a:t>
            </a:r>
            <a:endParaRPr lang="en-US" sz="1600" dirty="0"/>
          </a:p>
        </p:txBody>
      </p:sp>
      <p:sp>
        <p:nvSpPr>
          <p:cNvPr id="9" name="Text 7"/>
          <p:cNvSpPr txBox="1"/>
          <p:nvPr/>
        </p:nvSpPr>
        <p:spPr>
          <a:xfrm>
            <a:off x="4643018" y="2423160"/>
            <a:ext cx="2905658" cy="1371600"/>
          </a:xfrm>
          <a:prstGeom prst="rect">
            <a:avLst/>
          </a:prstGeom>
          <a:noFill/>
          <a:ln/>
        </p:spPr>
        <p:txBody>
          <a:bodyPr wrap="square" lIns="0" tIns="0" rIns="0" bIns="0" rtlCol="0" anchor="t"/>
          <a:lstStyle/>
          <a:p>
            <a:pPr indent="0" marL="0">
              <a:buNone/>
            </a:pPr>
            <a:r>
              <a:rPr lang="en-US" sz="1400" dirty="0">
                <a:solidFill>
                  <a:srgbClr val="C9D1DE"/>
                </a:solidFill>
                <a:latin typeface="Arial" pitchFamily="34" charset="0"/>
                <a:ea typeface="Arial" pitchFamily="34" charset="-122"/>
                <a:cs typeface="Arial" pitchFamily="34" charset="-120"/>
              </a:rPr>
              <a:t>Chaque mail a un statut et des réessais (0 échec). Bilan de santé chaque matin, mail aux admins en cas d’alerte. Exécutions n8n visibles.</a:t>
            </a:r>
            <a:endParaRPr lang="en-US" sz="1400" dirty="0"/>
          </a:p>
        </p:txBody>
      </p:sp>
      <p:sp>
        <p:nvSpPr>
          <p:cNvPr id="10" name="Pas de doublon"/>
          <p:cNvSpPr/>
          <p:nvPr/>
        </p:nvSpPr>
        <p:spPr>
          <a:xfrm>
            <a:off x="8097317" y="1783080"/>
            <a:ext cx="3454298" cy="2148840"/>
          </a:xfrm>
          <a:prstGeom prst="roundRect">
            <a:avLst>
              <a:gd name="adj" fmla="val 2553"/>
            </a:avLst>
          </a:prstGeom>
          <a:solidFill>
            <a:srgbClr val="1F3160"/>
          </a:solidFill>
          <a:ln w="12700">
            <a:solidFill>
              <a:srgbClr val="1F3160"/>
            </a:solidFill>
            <a:prstDash val="solid"/>
          </a:ln>
        </p:spPr>
      </p:sp>
      <p:sp>
        <p:nvSpPr>
          <p:cNvPr id="11" name="Text 9"/>
          <p:cNvSpPr txBox="1"/>
          <p:nvPr/>
        </p:nvSpPr>
        <p:spPr>
          <a:xfrm>
            <a:off x="8371637" y="1984248"/>
            <a:ext cx="2905658" cy="320040"/>
          </a:xfrm>
          <a:prstGeom prst="rect">
            <a:avLst/>
          </a:prstGeom>
          <a:noFill/>
          <a:ln/>
        </p:spPr>
        <p:txBody>
          <a:bodyPr wrap="square" lIns="0" tIns="0" rIns="0" bIns="0" rtlCol="0" anchor="t"/>
          <a:lstStyle/>
          <a:p>
            <a:pPr indent="0" marL="0">
              <a:buNone/>
            </a:pPr>
            <a:r>
              <a:rPr lang="en-US" sz="1600" b="1" dirty="0">
                <a:solidFill>
                  <a:srgbClr val="FCA311"/>
                </a:solidFill>
                <a:latin typeface="Arial" pitchFamily="34" charset="0"/>
                <a:ea typeface="Arial" pitchFamily="34" charset="-122"/>
                <a:cs typeface="Arial" pitchFamily="34" charset="-120"/>
              </a:rPr>
              <a:t>Pas de doublon</a:t>
            </a:r>
            <a:endParaRPr lang="en-US" sz="1600" dirty="0"/>
          </a:p>
        </p:txBody>
      </p:sp>
      <p:sp>
        <p:nvSpPr>
          <p:cNvPr id="12" name="Text 10"/>
          <p:cNvSpPr txBox="1"/>
          <p:nvPr/>
        </p:nvSpPr>
        <p:spPr>
          <a:xfrm>
            <a:off x="8371637" y="2423160"/>
            <a:ext cx="2905658" cy="1371600"/>
          </a:xfrm>
          <a:prstGeom prst="rect">
            <a:avLst/>
          </a:prstGeom>
          <a:noFill/>
          <a:ln/>
        </p:spPr>
        <p:txBody>
          <a:bodyPr wrap="square" lIns="0" tIns="0" rIns="0" bIns="0" rtlCol="0" anchor="t"/>
          <a:lstStyle/>
          <a:p>
            <a:pPr indent="0" marL="0">
              <a:buNone/>
            </a:pPr>
            <a:r>
              <a:rPr lang="en-US" sz="1400" dirty="0">
                <a:solidFill>
                  <a:srgbClr val="C9D1DE"/>
                </a:solidFill>
                <a:latin typeface="Arial" pitchFamily="34" charset="0"/>
                <a:ea typeface="Arial" pitchFamily="34" charset="-122"/>
                <a:cs typeface="Arial" pitchFamily="34" charset="-120"/>
              </a:rPr>
              <a:t>Index uniques sur les relances et les mails ; liens de décision à usage unique ; un mail devenu inutile est annulé.</a:t>
            </a:r>
            <a:endParaRPr lang="en-US" sz="1400" dirty="0"/>
          </a:p>
        </p:txBody>
      </p:sp>
      <p:sp>
        <p:nvSpPr>
          <p:cNvPr id="13" name="Secrets"/>
          <p:cNvSpPr/>
          <p:nvPr/>
        </p:nvSpPr>
        <p:spPr>
          <a:xfrm>
            <a:off x="640080" y="4206240"/>
            <a:ext cx="3454298" cy="2148840"/>
          </a:xfrm>
          <a:prstGeom prst="roundRect">
            <a:avLst>
              <a:gd name="adj" fmla="val 2553"/>
            </a:avLst>
          </a:prstGeom>
          <a:solidFill>
            <a:srgbClr val="1F3160"/>
          </a:solidFill>
          <a:ln w="12700">
            <a:solidFill>
              <a:srgbClr val="1F3160"/>
            </a:solidFill>
            <a:prstDash val="solid"/>
          </a:ln>
        </p:spPr>
      </p:sp>
      <p:sp>
        <p:nvSpPr>
          <p:cNvPr id="14" name="Text 12"/>
          <p:cNvSpPr txBox="1"/>
          <p:nvPr/>
        </p:nvSpPr>
        <p:spPr>
          <a:xfrm>
            <a:off x="914400" y="4407408"/>
            <a:ext cx="2905658" cy="320040"/>
          </a:xfrm>
          <a:prstGeom prst="rect">
            <a:avLst/>
          </a:prstGeom>
          <a:noFill/>
          <a:ln/>
        </p:spPr>
        <p:txBody>
          <a:bodyPr wrap="square" lIns="0" tIns="0" rIns="0" bIns="0" rtlCol="0" anchor="t"/>
          <a:lstStyle/>
          <a:p>
            <a:pPr indent="0" marL="0">
              <a:buNone/>
            </a:pPr>
            <a:r>
              <a:rPr lang="en-US" sz="1600" b="1" dirty="0">
                <a:solidFill>
                  <a:srgbClr val="FCA311"/>
                </a:solidFill>
                <a:latin typeface="Arial" pitchFamily="34" charset="0"/>
                <a:ea typeface="Arial" pitchFamily="34" charset="-122"/>
                <a:cs typeface="Arial" pitchFamily="34" charset="-120"/>
              </a:rPr>
              <a:t>Secrets</a:t>
            </a:r>
            <a:endParaRPr lang="en-US" sz="1600" dirty="0"/>
          </a:p>
        </p:txBody>
      </p:sp>
      <p:sp>
        <p:nvSpPr>
          <p:cNvPr id="15" name="Text 13"/>
          <p:cNvSpPr txBox="1"/>
          <p:nvPr/>
        </p:nvSpPr>
        <p:spPr>
          <a:xfrm>
            <a:off x="914400" y="4846320"/>
            <a:ext cx="2905658" cy="1371600"/>
          </a:xfrm>
          <a:prstGeom prst="rect">
            <a:avLst/>
          </a:prstGeom>
          <a:noFill/>
          <a:ln/>
        </p:spPr>
        <p:txBody>
          <a:bodyPr wrap="square" lIns="0" tIns="0" rIns="0" bIns="0" rtlCol="0" anchor="t"/>
          <a:lstStyle/>
          <a:p>
            <a:pPr indent="0" marL="0">
              <a:buNone/>
            </a:pPr>
            <a:r>
              <a:rPr lang="en-US" sz="1400" dirty="0">
                <a:solidFill>
                  <a:srgbClr val="C9D1DE"/>
                </a:solidFill>
                <a:latin typeface="Arial" pitchFamily="34" charset="0"/>
                <a:ea typeface="Arial" pitchFamily="34" charset="-122"/>
                <a:cs typeface="Arial" pitchFamily="34" charset="-120"/>
              </a:rPr>
              <a:t>Vault Supabase et variables Render ; .env jamais commité ; détection de secrets (gitleaks) à chaque push ; webhooks protégés.</a:t>
            </a:r>
            <a:endParaRPr lang="en-US" sz="1400" dirty="0"/>
          </a:p>
        </p:txBody>
      </p:sp>
      <p:sp>
        <p:nvSpPr>
          <p:cNvPr id="16" name="Accès"/>
          <p:cNvSpPr/>
          <p:nvPr/>
        </p:nvSpPr>
        <p:spPr>
          <a:xfrm>
            <a:off x="4368698" y="4206240"/>
            <a:ext cx="3454298" cy="2148840"/>
          </a:xfrm>
          <a:prstGeom prst="roundRect">
            <a:avLst>
              <a:gd name="adj" fmla="val 2553"/>
            </a:avLst>
          </a:prstGeom>
          <a:solidFill>
            <a:srgbClr val="1F3160"/>
          </a:solidFill>
          <a:ln w="12700">
            <a:solidFill>
              <a:srgbClr val="1F3160"/>
            </a:solidFill>
            <a:prstDash val="solid"/>
          </a:ln>
        </p:spPr>
      </p:sp>
      <p:sp>
        <p:nvSpPr>
          <p:cNvPr id="17" name="Text 15"/>
          <p:cNvSpPr txBox="1"/>
          <p:nvPr/>
        </p:nvSpPr>
        <p:spPr>
          <a:xfrm>
            <a:off x="4643018" y="4407408"/>
            <a:ext cx="2905658" cy="320040"/>
          </a:xfrm>
          <a:prstGeom prst="rect">
            <a:avLst/>
          </a:prstGeom>
          <a:noFill/>
          <a:ln/>
        </p:spPr>
        <p:txBody>
          <a:bodyPr wrap="square" lIns="0" tIns="0" rIns="0" bIns="0" rtlCol="0" anchor="t"/>
          <a:lstStyle/>
          <a:p>
            <a:pPr indent="0" marL="0">
              <a:buNone/>
            </a:pPr>
            <a:r>
              <a:rPr lang="en-US" sz="1600" b="1" dirty="0">
                <a:solidFill>
                  <a:srgbClr val="FCA311"/>
                </a:solidFill>
                <a:latin typeface="Arial" pitchFamily="34" charset="0"/>
                <a:ea typeface="Arial" pitchFamily="34" charset="-122"/>
                <a:cs typeface="Arial" pitchFamily="34" charset="-120"/>
              </a:rPr>
              <a:t>Accès</a:t>
            </a:r>
            <a:endParaRPr lang="en-US" sz="1600" dirty="0"/>
          </a:p>
        </p:txBody>
      </p:sp>
      <p:sp>
        <p:nvSpPr>
          <p:cNvPr id="18" name="Text 16"/>
          <p:cNvSpPr txBox="1"/>
          <p:nvPr/>
        </p:nvSpPr>
        <p:spPr>
          <a:xfrm>
            <a:off x="4643018" y="4846320"/>
            <a:ext cx="2905658" cy="1371600"/>
          </a:xfrm>
          <a:prstGeom prst="rect">
            <a:avLst/>
          </a:prstGeom>
          <a:noFill/>
          <a:ln/>
        </p:spPr>
        <p:txBody>
          <a:bodyPr wrap="square" lIns="0" tIns="0" rIns="0" bIns="0" rtlCol="0" anchor="t"/>
          <a:lstStyle/>
          <a:p>
            <a:pPr indent="0" marL="0">
              <a:buNone/>
            </a:pPr>
            <a:r>
              <a:rPr lang="en-US" sz="1400" dirty="0">
                <a:solidFill>
                  <a:srgbClr val="C9D1DE"/>
                </a:solidFill>
                <a:latin typeface="Arial" pitchFamily="34" charset="0"/>
                <a:ea typeface="Arial" pitchFamily="34" charset="-122"/>
                <a:cs typeface="Arial" pitchFamily="34" charset="-120"/>
              </a:rPr>
              <a:t>RLS sur les 19 tables ; droits par rôle ; comptes créés par l’admin avec un lien d’activation.</a:t>
            </a:r>
            <a:endParaRPr lang="en-US" sz="1400" dirty="0"/>
          </a:p>
        </p:txBody>
      </p:sp>
      <p:sp>
        <p:nvSpPr>
          <p:cNvPr id="19" name="Tests"/>
          <p:cNvSpPr/>
          <p:nvPr/>
        </p:nvSpPr>
        <p:spPr>
          <a:xfrm>
            <a:off x="8097317" y="4206240"/>
            <a:ext cx="3454298" cy="2148840"/>
          </a:xfrm>
          <a:prstGeom prst="roundRect">
            <a:avLst>
              <a:gd name="adj" fmla="val 2553"/>
            </a:avLst>
          </a:prstGeom>
          <a:solidFill>
            <a:srgbClr val="1F3160"/>
          </a:solidFill>
          <a:ln w="12700">
            <a:solidFill>
              <a:srgbClr val="1F3160"/>
            </a:solidFill>
            <a:prstDash val="solid"/>
          </a:ln>
        </p:spPr>
      </p:sp>
      <p:sp>
        <p:nvSpPr>
          <p:cNvPr id="20" name="Text 18"/>
          <p:cNvSpPr txBox="1"/>
          <p:nvPr/>
        </p:nvSpPr>
        <p:spPr>
          <a:xfrm>
            <a:off x="8371637" y="4407408"/>
            <a:ext cx="2905658" cy="320040"/>
          </a:xfrm>
          <a:prstGeom prst="rect">
            <a:avLst/>
          </a:prstGeom>
          <a:noFill/>
          <a:ln/>
        </p:spPr>
        <p:txBody>
          <a:bodyPr wrap="square" lIns="0" tIns="0" rIns="0" bIns="0" rtlCol="0" anchor="t"/>
          <a:lstStyle/>
          <a:p>
            <a:pPr indent="0" marL="0">
              <a:buNone/>
            </a:pPr>
            <a:r>
              <a:rPr lang="en-US" sz="1600" b="1" dirty="0">
                <a:solidFill>
                  <a:srgbClr val="FCA311"/>
                </a:solidFill>
                <a:latin typeface="Arial" pitchFamily="34" charset="0"/>
                <a:ea typeface="Arial" pitchFamily="34" charset="-122"/>
                <a:cs typeface="Arial" pitchFamily="34" charset="-120"/>
              </a:rPr>
              <a:t>Tests</a:t>
            </a:r>
            <a:endParaRPr lang="en-US" sz="1600" dirty="0"/>
          </a:p>
        </p:txBody>
      </p:sp>
      <p:sp>
        <p:nvSpPr>
          <p:cNvPr id="21" name="Text 19"/>
          <p:cNvSpPr txBox="1"/>
          <p:nvPr/>
        </p:nvSpPr>
        <p:spPr>
          <a:xfrm>
            <a:off x="8371637" y="4846320"/>
            <a:ext cx="2905658" cy="1371600"/>
          </a:xfrm>
          <a:prstGeom prst="rect">
            <a:avLst/>
          </a:prstGeom>
          <a:noFill/>
          <a:ln/>
        </p:spPr>
        <p:txBody>
          <a:bodyPr wrap="square" lIns="0" tIns="0" rIns="0" bIns="0" rtlCol="0" anchor="t"/>
          <a:lstStyle/>
          <a:p>
            <a:pPr indent="0" marL="0">
              <a:buNone/>
            </a:pPr>
            <a:r>
              <a:rPr lang="en-US" sz="1400" dirty="0">
                <a:solidFill>
                  <a:srgbClr val="C9D1DE"/>
                </a:solidFill>
                <a:latin typeface="Arial" pitchFamily="34" charset="0"/>
                <a:ea typeface="Arial" pitchFamily="34" charset="-122"/>
                <a:cs typeface="Arial" pitchFamily="34" charset="-120"/>
              </a:rPr>
              <a:t>CI GitHub (Laravel, Flutter, gitleaks). Suites SQL 62 / 62 et 62 / 62. Recette de 66 cas : 7 anomalies trouvées et corrigées.</a:t>
            </a:r>
            <a:endParaRPr lang="en-US" sz="14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AA3B2"/>
                </a:solidFill>
                <a:latin typeface="Arial"/>
                <a:ea typeface="Arial"/>
                <a:cs typeface="Aria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640080" y="457200"/>
            <a:ext cx="10911535" cy="731520"/>
          </a:xfrm>
          <a:prstGeom prst="rect">
            <a:avLst/>
          </a:prstGeom>
          <a:noFill/>
          <a:ln/>
        </p:spPr>
        <p:txBody>
          <a:bodyPr wrap="square" lIns="0" tIns="0" rIns="0" bIns="0" rtlCol="0" anchor="t"/>
          <a:lstStyle/>
          <a:p>
            <a:pPr algn="l" indent="0" marL="0">
              <a:buNone/>
            </a:pPr>
            <a:r>
              <a:rPr lang="en-US" sz="3200" b="1" dirty="0">
                <a:solidFill>
                  <a:srgbClr val="14213D"/>
                </a:solidFill>
                <a:latin typeface="Arial" pitchFamily="34" charset="0"/>
                <a:ea typeface="Arial" pitchFamily="34" charset="-122"/>
                <a:cs typeface="Arial" pitchFamily="34" charset="-120"/>
              </a:rPr>
              <a:t>Ce que ça coûte, aujourd’hui et à ×100</a:t>
            </a:r>
            <a:endParaRPr lang="en-US" sz="3200" dirty="0"/>
          </a:p>
        </p:txBody>
      </p:sp>
      <p:sp>
        <p:nvSpPr>
          <p:cNvPr id="3" name="Text 0"/>
          <p:cNvSpPr/>
          <p:nvPr>
            <p:ph idx="101" type="body" hasCustomPrompt="1"/>
          </p:nvPr>
        </p:nvSpPr>
        <p:spPr>
          <a:xfrm>
            <a:off x="640080" y="1170432"/>
            <a:ext cx="10911535" cy="365760"/>
          </a:xfrm>
          <a:prstGeom prst="rect">
            <a:avLst/>
          </a:prstGeom>
          <a:noFill/>
          <a:ln/>
        </p:spPr>
        <p:txBody>
          <a:bodyPr wrap="square" lIns="0" tIns="0" rIns="0" bIns="0" rtlCol="0" anchor="ctr"/>
          <a:lstStyle/>
          <a:p>
            <a:pPr algn="l" indent="0" marL="0">
              <a:buNone/>
            </a:pPr>
            <a:r>
              <a:rPr lang="en-US" sz="1500" b="1" dirty="0">
                <a:solidFill>
                  <a:srgbClr val="B45F06"/>
                </a:solidFill>
                <a:latin typeface="Arial" pitchFamily="34" charset="0"/>
                <a:ea typeface="Arial" pitchFamily="34" charset="-122"/>
                <a:cs typeface="Arial" pitchFamily="34" charset="-120"/>
              </a:rPr>
              <a:t>Estimation mensuelle, prix publics d’octobre 2026</a:t>
            </a:r>
            <a:endParaRPr lang="en-US" sz="150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640080" y="1783080"/>
          <a:ext cx="10911535" cy="914400"/>
        </p:xfrm>
        <a:graphic>
          <a:graphicData uri="http://schemas.openxmlformats.org/drawingml/2006/table">
            <a:tbl>
              <a:tblPr/>
              <a:tblGrid>
                <a:gridCol w="2743200"/>
                <a:gridCol w="2606040"/>
                <a:gridCol w="2697480"/>
                <a:gridCol w="2864815"/>
              </a:tblGrid>
              <a:tr h="457200">
                <a:tc>
                  <a:txBody>
                    <a:bodyPr/>
                    <a:lstStyle/>
                    <a:p>
                      <a:pPr indent="0" marL="0">
                        <a:buNone/>
                      </a:pPr>
                      <a:r>
                        <a:rPr lang="en-US" sz="1300" b="1" dirty="0">
                          <a:solidFill>
                            <a:srgbClr val="14213D"/>
                          </a:solidFill>
                          <a:latin typeface="Arial" pitchFamily="34" charset="0"/>
                          <a:ea typeface="Arial" pitchFamily="34" charset="-122"/>
                          <a:cs typeface="Arial" pitchFamily="34" charset="-120"/>
                        </a:rPr>
                        <a:t>Poste</a:t>
                      </a:r>
                      <a:endParaRPr lang="en-US" sz="1300" dirty="0">
                        <a:latin typeface="Arial" charset="0"/>
                        <a:ea typeface="Arial" charset="0"/>
                        <a:cs typeface="Arial" charset="0"/>
                      </a:endParaRPr>
                    </a:p>
                  </a:txBody>
                  <a:tcPr marL="101600" marR="101600" marT="63500" marB="63500" anchor="ctr">
                    <a:lnL w="12700" cap="flat" cmpd="sng" algn="ctr">
                      <a:solidFill>
                        <a:srgbClr val="F5F3EE"/>
                      </a:solidFill>
                      <a:prstDash val="solid"/>
                      <a:round/>
                      <a:headEnd type="none" w="med" len="med"/>
                      <a:tailEnd type="none" w="med" len="med"/>
                    </a:lnL>
                    <a:lnR w="12700" cap="flat" cmpd="sng" algn="ctr">
                      <a:solidFill>
                        <a:srgbClr val="F5F3EE"/>
                      </a:solidFill>
                      <a:prstDash val="solid"/>
                      <a:round/>
                      <a:headEnd type="none" w="med" len="med"/>
                      <a:tailEnd type="none" w="med" len="med"/>
                    </a:lnR>
                    <a:lnT w="12700" cap="flat" cmpd="sng" algn="ctr">
                      <a:solidFill>
                        <a:srgbClr val="F5F3EE"/>
                      </a:solidFill>
                      <a:prstDash val="solid"/>
                      <a:round/>
                      <a:headEnd type="none" w="med" len="med"/>
                      <a:tailEnd type="none" w="med" len="med"/>
                    </a:lnT>
                    <a:lnB w="12700" cap="flat" cmpd="sng" algn="ctr">
                      <a:solidFill>
                        <a:srgbClr val="F5F3EE"/>
                      </a:solidFill>
                      <a:prstDash val="solid"/>
                      <a:round/>
                      <a:headEnd type="none" w="med" len="med"/>
                      <a:tailEnd type="none" w="med" len="med"/>
                    </a:lnB>
                    <a:solidFill>
                      <a:srgbClr val="FCA311"/>
                    </a:solidFill>
                  </a:tcPr>
                </a:tc>
                <a:tc>
                  <a:txBody>
                    <a:bodyPr/>
                    <a:lstStyle/>
                    <a:p>
                      <a:pPr indent="0" marL="0">
                        <a:buNone/>
                      </a:pPr>
                      <a:r>
                        <a:rPr lang="en-US" sz="1300" b="1" dirty="0">
                          <a:solidFill>
                            <a:srgbClr val="14213D"/>
                          </a:solidFill>
                          <a:latin typeface="Arial" pitchFamily="34" charset="0"/>
                          <a:ea typeface="Arial" pitchFamily="34" charset="-122"/>
                          <a:cs typeface="Arial" pitchFamily="34" charset="-120"/>
                        </a:rPr>
                        <a:t>Aujourd’hui (démo)</a:t>
                      </a:r>
                      <a:endParaRPr lang="en-US" sz="1300" dirty="0">
                        <a:latin typeface="Arial" charset="0"/>
                        <a:ea typeface="Arial" charset="0"/>
                        <a:cs typeface="Arial" charset="0"/>
                      </a:endParaRPr>
                    </a:p>
                  </a:txBody>
                  <a:tcPr marL="101600" marR="101600" marT="63500" marB="63500" anchor="ctr">
                    <a:lnL w="12700" cap="flat" cmpd="sng" algn="ctr">
                      <a:solidFill>
                        <a:srgbClr val="F5F3EE"/>
                      </a:solidFill>
                      <a:prstDash val="solid"/>
                      <a:round/>
                      <a:headEnd type="none" w="med" len="med"/>
                      <a:tailEnd type="none" w="med" len="med"/>
                    </a:lnL>
                    <a:lnR w="12700" cap="flat" cmpd="sng" algn="ctr">
                      <a:solidFill>
                        <a:srgbClr val="F5F3EE"/>
                      </a:solidFill>
                      <a:prstDash val="solid"/>
                      <a:round/>
                      <a:headEnd type="none" w="med" len="med"/>
                      <a:tailEnd type="none" w="med" len="med"/>
                    </a:lnR>
                    <a:lnT w="12700" cap="flat" cmpd="sng" algn="ctr">
                      <a:solidFill>
                        <a:srgbClr val="F5F3EE"/>
                      </a:solidFill>
                      <a:prstDash val="solid"/>
                      <a:round/>
                      <a:headEnd type="none" w="med" len="med"/>
                      <a:tailEnd type="none" w="med" len="med"/>
                    </a:lnT>
                    <a:lnB w="12700" cap="flat" cmpd="sng" algn="ctr">
                      <a:solidFill>
                        <a:srgbClr val="F5F3EE"/>
                      </a:solidFill>
                      <a:prstDash val="solid"/>
                      <a:round/>
                      <a:headEnd type="none" w="med" len="med"/>
                      <a:tailEnd type="none" w="med" len="med"/>
                    </a:lnB>
                    <a:solidFill>
                      <a:srgbClr val="FCA311"/>
                    </a:solidFill>
                  </a:tcPr>
                </a:tc>
                <a:tc>
                  <a:txBody>
                    <a:bodyPr/>
                    <a:lstStyle/>
                    <a:p>
                      <a:pPr indent="0" marL="0">
                        <a:buNone/>
                      </a:pPr>
                      <a:r>
                        <a:rPr lang="en-US" sz="1300" b="1" dirty="0">
                          <a:solidFill>
                            <a:srgbClr val="14213D"/>
                          </a:solidFill>
                          <a:latin typeface="Arial" pitchFamily="34" charset="0"/>
                          <a:ea typeface="Arial" pitchFamily="34" charset="-122"/>
                          <a:cs typeface="Arial" pitchFamily="34" charset="-120"/>
                        </a:rPr>
                        <a:t>En service (127 employés)</a:t>
                      </a:r>
                      <a:endParaRPr lang="en-US" sz="1300" dirty="0">
                        <a:latin typeface="Arial" charset="0"/>
                        <a:ea typeface="Arial" charset="0"/>
                        <a:cs typeface="Arial" charset="0"/>
                      </a:endParaRPr>
                    </a:p>
                  </a:txBody>
                  <a:tcPr marL="101600" marR="101600" marT="63500" marB="63500" anchor="ctr">
                    <a:lnL w="12700" cap="flat" cmpd="sng" algn="ctr">
                      <a:solidFill>
                        <a:srgbClr val="F5F3EE"/>
                      </a:solidFill>
                      <a:prstDash val="solid"/>
                      <a:round/>
                      <a:headEnd type="none" w="med" len="med"/>
                      <a:tailEnd type="none" w="med" len="med"/>
                    </a:lnL>
                    <a:lnR w="12700" cap="flat" cmpd="sng" algn="ctr">
                      <a:solidFill>
                        <a:srgbClr val="F5F3EE"/>
                      </a:solidFill>
                      <a:prstDash val="solid"/>
                      <a:round/>
                      <a:headEnd type="none" w="med" len="med"/>
                      <a:tailEnd type="none" w="med" len="med"/>
                    </a:lnR>
                    <a:lnT w="12700" cap="flat" cmpd="sng" algn="ctr">
                      <a:solidFill>
                        <a:srgbClr val="F5F3EE"/>
                      </a:solidFill>
                      <a:prstDash val="solid"/>
                      <a:round/>
                      <a:headEnd type="none" w="med" len="med"/>
                      <a:tailEnd type="none" w="med" len="med"/>
                    </a:lnT>
                    <a:lnB w="12700" cap="flat" cmpd="sng" algn="ctr">
                      <a:solidFill>
                        <a:srgbClr val="F5F3EE"/>
                      </a:solidFill>
                      <a:prstDash val="solid"/>
                      <a:round/>
                      <a:headEnd type="none" w="med" len="med"/>
                      <a:tailEnd type="none" w="med" len="med"/>
                    </a:lnB>
                    <a:solidFill>
                      <a:srgbClr val="FCA311"/>
                    </a:solidFill>
                  </a:tcPr>
                </a:tc>
                <a:tc>
                  <a:txBody>
                    <a:bodyPr/>
                    <a:lstStyle/>
                    <a:p>
                      <a:pPr indent="0" marL="0">
                        <a:buNone/>
                      </a:pPr>
                      <a:r>
                        <a:rPr lang="en-US" sz="1300" b="1" dirty="0">
                          <a:solidFill>
                            <a:srgbClr val="14213D"/>
                          </a:solidFill>
                          <a:latin typeface="Arial" pitchFamily="34" charset="0"/>
                          <a:ea typeface="Arial" pitchFamily="34" charset="-122"/>
                          <a:cs typeface="Arial" pitchFamily="34" charset="-120"/>
                        </a:rPr>
                        <a:t>×100 (~12 700 employés)</a:t>
                      </a:r>
                      <a:endParaRPr lang="en-US" sz="1300" dirty="0">
                        <a:latin typeface="Arial" charset="0"/>
                        <a:ea typeface="Arial" charset="0"/>
                        <a:cs typeface="Arial" charset="0"/>
                      </a:endParaRPr>
                    </a:p>
                  </a:txBody>
                  <a:tcPr marL="101600" marR="101600" marT="63500" marB="63500" anchor="ctr">
                    <a:lnL w="12700" cap="flat" cmpd="sng" algn="ctr">
                      <a:solidFill>
                        <a:srgbClr val="F5F3EE"/>
                      </a:solidFill>
                      <a:prstDash val="solid"/>
                      <a:round/>
                      <a:headEnd type="none" w="med" len="med"/>
                      <a:tailEnd type="none" w="med" len="med"/>
                    </a:lnL>
                    <a:lnR w="12700" cap="flat" cmpd="sng" algn="ctr">
                      <a:solidFill>
                        <a:srgbClr val="F5F3EE"/>
                      </a:solidFill>
                      <a:prstDash val="solid"/>
                      <a:round/>
                      <a:headEnd type="none" w="med" len="med"/>
                      <a:tailEnd type="none" w="med" len="med"/>
                    </a:lnR>
                    <a:lnT w="12700" cap="flat" cmpd="sng" algn="ctr">
                      <a:solidFill>
                        <a:srgbClr val="F5F3EE"/>
                      </a:solidFill>
                      <a:prstDash val="solid"/>
                      <a:round/>
                      <a:headEnd type="none" w="med" len="med"/>
                      <a:tailEnd type="none" w="med" len="med"/>
                    </a:lnT>
                    <a:lnB w="12700" cap="flat" cmpd="sng" algn="ctr">
                      <a:solidFill>
                        <a:srgbClr val="F5F3EE"/>
                      </a:solidFill>
                      <a:prstDash val="solid"/>
                      <a:round/>
                      <a:headEnd type="none" w="med" len="med"/>
                      <a:tailEnd type="none" w="med" len="med"/>
                    </a:lnB>
                    <a:solidFill>
                      <a:srgbClr val="FCA311"/>
                    </a:solidFill>
                  </a:tcPr>
                </a:tc>
              </a:tr>
              <a:tr h="457200">
                <a:tc>
                  <a:txBody>
                    <a:bodyPr/>
                    <a:lstStyle/>
                    <a:p>
                      <a:pPr indent="0" marL="0">
                        <a:buNone/>
                      </a:pPr>
                      <a:r>
                        <a:rPr lang="en-US" sz="1300" b="1" dirty="0">
                          <a:solidFill>
                            <a:srgbClr val="B45F06"/>
                          </a:solidFill>
                          <a:latin typeface="Arial" pitchFamily="34" charset="0"/>
                          <a:ea typeface="Arial" pitchFamily="34" charset="-122"/>
                          <a:cs typeface="Arial" pitchFamily="34" charset="-120"/>
                        </a:rPr>
                        <a:t>Site (Render)</a:t>
                      </a:r>
                      <a:endParaRPr lang="en-US" sz="1300" dirty="0">
                        <a:latin typeface="Arial" charset="0"/>
                        <a:ea typeface="Arial" charset="0"/>
                        <a:cs typeface="Arial" charset="0"/>
                      </a:endParaRPr>
                    </a:p>
                  </a:txBody>
                  <a:tcPr marL="101600" marR="101600" marT="63500" marB="63500" anchor="ctr">
                    <a:lnL w="12700" cap="flat" cmpd="sng" algn="ctr">
                      <a:solidFill>
                        <a:srgbClr val="F5F3EE"/>
                      </a:solidFill>
                      <a:prstDash val="solid"/>
                      <a:round/>
                      <a:headEnd type="none" w="med" len="med"/>
                      <a:tailEnd type="none" w="med" len="med"/>
                    </a:lnL>
                    <a:lnR w="12700" cap="flat" cmpd="sng" algn="ctr">
                      <a:solidFill>
                        <a:srgbClr val="F5F3EE"/>
                      </a:solidFill>
                      <a:prstDash val="solid"/>
                      <a:round/>
                      <a:headEnd type="none" w="med" len="med"/>
                      <a:tailEnd type="none" w="med" len="med"/>
                    </a:lnR>
                    <a:lnT w="12700" cap="flat" cmpd="sng" algn="ctr">
                      <a:solidFill>
                        <a:srgbClr val="F5F3EE"/>
                      </a:solidFill>
                      <a:prstDash val="solid"/>
                      <a:round/>
                      <a:headEnd type="none" w="med" len="med"/>
                      <a:tailEnd type="none" w="med" len="med"/>
                    </a:lnT>
                    <a:lnB w="12700" cap="flat" cmpd="sng" algn="ctr">
                      <a:solidFill>
                        <a:srgbClr val="F5F3EE"/>
                      </a:solidFill>
                      <a:prstDash val="solid"/>
                      <a:round/>
                      <a:headEnd type="none" w="med" len="med"/>
                      <a:tailEnd type="none" w="med" len="med"/>
                    </a:lnB>
                    <a:solidFill>
                      <a:srgbClr val="E6E2D8"/>
                    </a:solidFill>
                  </a:tcPr>
                </a:tc>
                <a:tc>
                  <a:txBody>
                    <a:bodyPr/>
                    <a:lstStyle/>
                    <a:p>
                      <a:pPr indent="0" marL="0">
                        <a:buNone/>
                      </a:pPr>
                      <a:r>
                        <a:rPr lang="en-US" sz="1300" dirty="0">
                          <a:solidFill>
                            <a:srgbClr val="14213D"/>
                          </a:solidFill>
                          <a:latin typeface="Arial" pitchFamily="34" charset="0"/>
                          <a:ea typeface="Arial" pitchFamily="34" charset="-122"/>
                          <a:cs typeface="Arial" pitchFamily="34" charset="-120"/>
                        </a:rPr>
                        <a:t>0 $ (veille après 15 min)</a:t>
                      </a:r>
                      <a:endParaRPr lang="en-US" sz="1300" dirty="0">
                        <a:latin typeface="Arial" charset="0"/>
                        <a:ea typeface="Arial" charset="0"/>
                        <a:cs typeface="Arial" charset="0"/>
                      </a:endParaRPr>
                    </a:p>
                  </a:txBody>
                  <a:tcPr marL="101600" marR="101600" marT="63500" marB="63500" anchor="ctr">
                    <a:lnL w="12700" cap="flat" cmpd="sng" algn="ctr">
                      <a:solidFill>
                        <a:srgbClr val="F5F3EE"/>
                      </a:solidFill>
                      <a:prstDash val="solid"/>
                      <a:round/>
                      <a:headEnd type="none" w="med" len="med"/>
                      <a:tailEnd type="none" w="med" len="med"/>
                    </a:lnL>
                    <a:lnR w="12700" cap="flat" cmpd="sng" algn="ctr">
                      <a:solidFill>
                        <a:srgbClr val="F5F3EE"/>
                      </a:solidFill>
                      <a:prstDash val="solid"/>
                      <a:round/>
                      <a:headEnd type="none" w="med" len="med"/>
                      <a:tailEnd type="none" w="med" len="med"/>
                    </a:lnR>
                    <a:lnT w="12700" cap="flat" cmpd="sng" algn="ctr">
                      <a:solidFill>
                        <a:srgbClr val="F5F3EE"/>
                      </a:solidFill>
                      <a:prstDash val="solid"/>
                      <a:round/>
                      <a:headEnd type="none" w="med" len="med"/>
                      <a:tailEnd type="none" w="med" len="med"/>
                    </a:lnT>
                    <a:lnB w="12700" cap="flat" cmpd="sng" algn="ctr">
                      <a:solidFill>
                        <a:srgbClr val="F5F3EE"/>
                      </a:solidFill>
                      <a:prstDash val="solid"/>
                      <a:round/>
                      <a:headEnd type="none" w="med" len="med"/>
                      <a:tailEnd type="none" w="med" len="med"/>
                    </a:lnB>
                    <a:solidFill>
                      <a:srgbClr val="E6E2D8"/>
                    </a:solidFill>
                  </a:tcPr>
                </a:tc>
                <a:tc>
                  <a:txBody>
                    <a:bodyPr/>
                    <a:lstStyle/>
                    <a:p>
                      <a:pPr indent="0" marL="0">
                        <a:buNone/>
                      </a:pPr>
                      <a:r>
                        <a:rPr lang="en-US" sz="1300" dirty="0">
                          <a:solidFill>
                            <a:srgbClr val="14213D"/>
                          </a:solidFill>
                          <a:latin typeface="Arial" pitchFamily="34" charset="0"/>
                          <a:ea typeface="Arial" pitchFamily="34" charset="-122"/>
                          <a:cs typeface="Arial" pitchFamily="34" charset="-120"/>
                        </a:rPr>
                        <a:t>7 $ (sans veille)</a:t>
                      </a:r>
                      <a:endParaRPr lang="en-US" sz="1300" dirty="0">
                        <a:latin typeface="Arial" charset="0"/>
                        <a:ea typeface="Arial" charset="0"/>
                        <a:cs typeface="Arial" charset="0"/>
                      </a:endParaRPr>
                    </a:p>
                  </a:txBody>
                  <a:tcPr marL="101600" marR="101600" marT="63500" marB="63500" anchor="ctr">
                    <a:lnL w="12700" cap="flat" cmpd="sng" algn="ctr">
                      <a:solidFill>
                        <a:srgbClr val="F5F3EE"/>
                      </a:solidFill>
                      <a:prstDash val="solid"/>
                      <a:round/>
                      <a:headEnd type="none" w="med" len="med"/>
                      <a:tailEnd type="none" w="med" len="med"/>
                    </a:lnL>
                    <a:lnR w="12700" cap="flat" cmpd="sng" algn="ctr">
                      <a:solidFill>
                        <a:srgbClr val="F5F3EE"/>
                      </a:solidFill>
                      <a:prstDash val="solid"/>
                      <a:round/>
                      <a:headEnd type="none" w="med" len="med"/>
                      <a:tailEnd type="none" w="med" len="med"/>
                    </a:lnR>
                    <a:lnT w="12700" cap="flat" cmpd="sng" algn="ctr">
                      <a:solidFill>
                        <a:srgbClr val="F5F3EE"/>
                      </a:solidFill>
                      <a:prstDash val="solid"/>
                      <a:round/>
                      <a:headEnd type="none" w="med" len="med"/>
                      <a:tailEnd type="none" w="med" len="med"/>
                    </a:lnT>
                    <a:lnB w="12700" cap="flat" cmpd="sng" algn="ctr">
                      <a:solidFill>
                        <a:srgbClr val="F5F3EE"/>
                      </a:solidFill>
                      <a:prstDash val="solid"/>
                      <a:round/>
                      <a:headEnd type="none" w="med" len="med"/>
                      <a:tailEnd type="none" w="med" len="med"/>
                    </a:lnB>
                    <a:solidFill>
                      <a:srgbClr val="E6E2D8"/>
                    </a:solidFill>
                  </a:tcPr>
                </a:tc>
                <a:tc>
                  <a:txBody>
                    <a:bodyPr/>
                    <a:lstStyle/>
                    <a:p>
                      <a:pPr indent="0" marL="0">
                        <a:buNone/>
                      </a:pPr>
                      <a:r>
                        <a:rPr lang="en-US" sz="1300" dirty="0">
                          <a:solidFill>
                            <a:srgbClr val="14213D"/>
                          </a:solidFill>
                          <a:latin typeface="Arial" pitchFamily="34" charset="0"/>
                          <a:ea typeface="Arial" pitchFamily="34" charset="-122"/>
                          <a:cs typeface="Arial" pitchFamily="34" charset="-120"/>
                        </a:rPr>
                        <a:t>≈ 75 $ (3 instances 2 Go)</a:t>
                      </a:r>
                      <a:endParaRPr lang="en-US" sz="1300" dirty="0">
                        <a:latin typeface="Arial" charset="0"/>
                        <a:ea typeface="Arial" charset="0"/>
                        <a:cs typeface="Arial" charset="0"/>
                      </a:endParaRPr>
                    </a:p>
                  </a:txBody>
                  <a:tcPr marL="101600" marR="101600" marT="63500" marB="63500" anchor="ctr">
                    <a:lnL w="12700" cap="flat" cmpd="sng" algn="ctr">
                      <a:solidFill>
                        <a:srgbClr val="F5F3EE"/>
                      </a:solidFill>
                      <a:prstDash val="solid"/>
                      <a:round/>
                      <a:headEnd type="none" w="med" len="med"/>
                      <a:tailEnd type="none" w="med" len="med"/>
                    </a:lnL>
                    <a:lnR w="12700" cap="flat" cmpd="sng" algn="ctr">
                      <a:solidFill>
                        <a:srgbClr val="F5F3EE"/>
                      </a:solidFill>
                      <a:prstDash val="solid"/>
                      <a:round/>
                      <a:headEnd type="none" w="med" len="med"/>
                      <a:tailEnd type="none" w="med" len="med"/>
                    </a:lnR>
                    <a:lnT w="12700" cap="flat" cmpd="sng" algn="ctr">
                      <a:solidFill>
                        <a:srgbClr val="F5F3EE"/>
                      </a:solidFill>
                      <a:prstDash val="solid"/>
                      <a:round/>
                      <a:headEnd type="none" w="med" len="med"/>
                      <a:tailEnd type="none" w="med" len="med"/>
                    </a:lnT>
                    <a:lnB w="12700" cap="flat" cmpd="sng" algn="ctr">
                      <a:solidFill>
                        <a:srgbClr val="F5F3EE"/>
                      </a:solidFill>
                      <a:prstDash val="solid"/>
                      <a:round/>
                      <a:headEnd type="none" w="med" len="med"/>
                      <a:tailEnd type="none" w="med" len="med"/>
                    </a:lnB>
                    <a:solidFill>
                      <a:srgbClr val="E6E2D8"/>
                    </a:solidFill>
                  </a:tcPr>
                </a:tc>
              </a:tr>
              <a:tr h="457200">
                <a:tc>
                  <a:txBody>
                    <a:bodyPr/>
                    <a:lstStyle/>
                    <a:p>
                      <a:pPr indent="0" marL="0">
                        <a:buNone/>
                      </a:pPr>
                      <a:r>
                        <a:rPr lang="en-US" sz="1300" b="1" dirty="0">
                          <a:solidFill>
                            <a:srgbClr val="B45F06"/>
                          </a:solidFill>
                          <a:latin typeface="Arial" pitchFamily="34" charset="0"/>
                          <a:ea typeface="Arial" pitchFamily="34" charset="-122"/>
                          <a:cs typeface="Arial" pitchFamily="34" charset="-120"/>
                        </a:rPr>
                        <a:t>Base + fonctions (Supabase)</a:t>
                      </a:r>
                      <a:endParaRPr lang="en-US" sz="1300" dirty="0">
                        <a:latin typeface="Arial" charset="0"/>
                        <a:ea typeface="Arial" charset="0"/>
                        <a:cs typeface="Arial" charset="0"/>
                      </a:endParaRPr>
                    </a:p>
                  </a:txBody>
                  <a:tcPr marL="101600" marR="101600" marT="63500" marB="63500" anchor="ctr">
                    <a:lnL w="12700" cap="flat" cmpd="sng" algn="ctr">
                      <a:solidFill>
                        <a:srgbClr val="F5F3EE"/>
                      </a:solidFill>
                      <a:prstDash val="solid"/>
                      <a:round/>
                      <a:headEnd type="none" w="med" len="med"/>
                      <a:tailEnd type="none" w="med" len="med"/>
                    </a:lnL>
                    <a:lnR w="12700" cap="flat" cmpd="sng" algn="ctr">
                      <a:solidFill>
                        <a:srgbClr val="F5F3EE"/>
                      </a:solidFill>
                      <a:prstDash val="solid"/>
                      <a:round/>
                      <a:headEnd type="none" w="med" len="med"/>
                      <a:tailEnd type="none" w="med" len="med"/>
                    </a:lnR>
                    <a:lnT w="12700" cap="flat" cmpd="sng" algn="ctr">
                      <a:solidFill>
                        <a:srgbClr val="F5F3EE"/>
                      </a:solidFill>
                      <a:prstDash val="solid"/>
                      <a:round/>
                      <a:headEnd type="none" w="med" len="med"/>
                      <a:tailEnd type="none" w="med" len="med"/>
                    </a:lnT>
                    <a:lnB w="12700" cap="flat" cmpd="sng" algn="ctr">
                      <a:solidFill>
                        <a:srgbClr val="F5F3EE"/>
                      </a:solidFill>
                      <a:prstDash val="solid"/>
                      <a:round/>
                      <a:headEnd type="none" w="med" len="med"/>
                      <a:tailEnd type="none" w="med" len="med"/>
                    </a:lnB>
                    <a:solidFill>
                      <a:srgbClr val="F5F3EE"/>
                    </a:solidFill>
                  </a:tcPr>
                </a:tc>
                <a:tc>
                  <a:txBody>
                    <a:bodyPr/>
                    <a:lstStyle/>
                    <a:p>
                      <a:pPr indent="0" marL="0">
                        <a:buNone/>
                      </a:pPr>
                      <a:r>
                        <a:rPr lang="en-US" sz="1300" dirty="0">
                          <a:solidFill>
                            <a:srgbClr val="14213D"/>
                          </a:solidFill>
                          <a:latin typeface="Arial" pitchFamily="34" charset="0"/>
                          <a:ea typeface="Arial" pitchFamily="34" charset="-122"/>
                          <a:cs typeface="Arial" pitchFamily="34" charset="-120"/>
                        </a:rPr>
                        <a:t>0 $ (pause après 7 j)</a:t>
                      </a:r>
                      <a:endParaRPr lang="en-US" sz="1300" dirty="0">
                        <a:latin typeface="Arial" charset="0"/>
                        <a:ea typeface="Arial" charset="0"/>
                        <a:cs typeface="Arial" charset="0"/>
                      </a:endParaRPr>
                    </a:p>
                  </a:txBody>
                  <a:tcPr marL="101600" marR="101600" marT="63500" marB="63500" anchor="ctr">
                    <a:lnL w="12700" cap="flat" cmpd="sng" algn="ctr">
                      <a:solidFill>
                        <a:srgbClr val="F5F3EE"/>
                      </a:solidFill>
                      <a:prstDash val="solid"/>
                      <a:round/>
                      <a:headEnd type="none" w="med" len="med"/>
                      <a:tailEnd type="none" w="med" len="med"/>
                    </a:lnL>
                    <a:lnR w="12700" cap="flat" cmpd="sng" algn="ctr">
                      <a:solidFill>
                        <a:srgbClr val="F5F3EE"/>
                      </a:solidFill>
                      <a:prstDash val="solid"/>
                      <a:round/>
                      <a:headEnd type="none" w="med" len="med"/>
                      <a:tailEnd type="none" w="med" len="med"/>
                    </a:lnR>
                    <a:lnT w="12700" cap="flat" cmpd="sng" algn="ctr">
                      <a:solidFill>
                        <a:srgbClr val="F5F3EE"/>
                      </a:solidFill>
                      <a:prstDash val="solid"/>
                      <a:round/>
                      <a:headEnd type="none" w="med" len="med"/>
                      <a:tailEnd type="none" w="med" len="med"/>
                    </a:lnT>
                    <a:lnB w="12700" cap="flat" cmpd="sng" algn="ctr">
                      <a:solidFill>
                        <a:srgbClr val="F5F3EE"/>
                      </a:solidFill>
                      <a:prstDash val="solid"/>
                      <a:round/>
                      <a:headEnd type="none" w="med" len="med"/>
                      <a:tailEnd type="none" w="med" len="med"/>
                    </a:lnB>
                    <a:solidFill>
                      <a:srgbClr val="F5F3EE"/>
                    </a:solidFill>
                  </a:tcPr>
                </a:tc>
                <a:tc>
                  <a:txBody>
                    <a:bodyPr/>
                    <a:lstStyle/>
                    <a:p>
                      <a:pPr indent="0" marL="0">
                        <a:buNone/>
                      </a:pPr>
                      <a:r>
                        <a:rPr lang="en-US" sz="1300" dirty="0">
                          <a:solidFill>
                            <a:srgbClr val="14213D"/>
                          </a:solidFill>
                          <a:latin typeface="Arial" pitchFamily="34" charset="0"/>
                          <a:ea typeface="Arial" pitchFamily="34" charset="-122"/>
                          <a:cs typeface="Arial" pitchFamily="34" charset="-120"/>
                        </a:rPr>
                        <a:t>25 $ (Pro)</a:t>
                      </a:r>
                      <a:endParaRPr lang="en-US" sz="1300" dirty="0">
                        <a:latin typeface="Arial" charset="0"/>
                        <a:ea typeface="Arial" charset="0"/>
                        <a:cs typeface="Arial" charset="0"/>
                      </a:endParaRPr>
                    </a:p>
                  </a:txBody>
                  <a:tcPr marL="101600" marR="101600" marT="63500" marB="63500" anchor="ctr">
                    <a:lnL w="12700" cap="flat" cmpd="sng" algn="ctr">
                      <a:solidFill>
                        <a:srgbClr val="F5F3EE"/>
                      </a:solidFill>
                      <a:prstDash val="solid"/>
                      <a:round/>
                      <a:headEnd type="none" w="med" len="med"/>
                      <a:tailEnd type="none" w="med" len="med"/>
                    </a:lnL>
                    <a:lnR w="12700" cap="flat" cmpd="sng" algn="ctr">
                      <a:solidFill>
                        <a:srgbClr val="F5F3EE"/>
                      </a:solidFill>
                      <a:prstDash val="solid"/>
                      <a:round/>
                      <a:headEnd type="none" w="med" len="med"/>
                      <a:tailEnd type="none" w="med" len="med"/>
                    </a:lnR>
                    <a:lnT w="12700" cap="flat" cmpd="sng" algn="ctr">
                      <a:solidFill>
                        <a:srgbClr val="F5F3EE"/>
                      </a:solidFill>
                      <a:prstDash val="solid"/>
                      <a:round/>
                      <a:headEnd type="none" w="med" len="med"/>
                      <a:tailEnd type="none" w="med" len="med"/>
                    </a:lnT>
                    <a:lnB w="12700" cap="flat" cmpd="sng" algn="ctr">
                      <a:solidFill>
                        <a:srgbClr val="F5F3EE"/>
                      </a:solidFill>
                      <a:prstDash val="solid"/>
                      <a:round/>
                      <a:headEnd type="none" w="med" len="med"/>
                      <a:tailEnd type="none" w="med" len="med"/>
                    </a:lnB>
                    <a:solidFill>
                      <a:srgbClr val="F5F3EE"/>
                    </a:solidFill>
                  </a:tcPr>
                </a:tc>
                <a:tc>
                  <a:txBody>
                    <a:bodyPr/>
                    <a:lstStyle/>
                    <a:p>
                      <a:pPr indent="0" marL="0">
                        <a:buNone/>
                      </a:pPr>
                      <a:r>
                        <a:rPr lang="en-US" sz="1300" dirty="0">
                          <a:solidFill>
                            <a:srgbClr val="14213D"/>
                          </a:solidFill>
                          <a:latin typeface="Arial" pitchFamily="34" charset="0"/>
                          <a:ea typeface="Arial" pitchFamily="34" charset="-122"/>
                          <a:cs typeface="Arial" pitchFamily="34" charset="-120"/>
                        </a:rPr>
                        <a:t>≈ 100 $ (Pro + puissance)</a:t>
                      </a:r>
                      <a:endParaRPr lang="en-US" sz="1300" dirty="0">
                        <a:latin typeface="Arial" charset="0"/>
                        <a:ea typeface="Arial" charset="0"/>
                        <a:cs typeface="Arial" charset="0"/>
                      </a:endParaRPr>
                    </a:p>
                  </a:txBody>
                  <a:tcPr marL="101600" marR="101600" marT="63500" marB="63500" anchor="ctr">
                    <a:lnL w="12700" cap="flat" cmpd="sng" algn="ctr">
                      <a:solidFill>
                        <a:srgbClr val="F5F3EE"/>
                      </a:solidFill>
                      <a:prstDash val="solid"/>
                      <a:round/>
                      <a:headEnd type="none" w="med" len="med"/>
                      <a:tailEnd type="none" w="med" len="med"/>
                    </a:lnL>
                    <a:lnR w="12700" cap="flat" cmpd="sng" algn="ctr">
                      <a:solidFill>
                        <a:srgbClr val="F5F3EE"/>
                      </a:solidFill>
                      <a:prstDash val="solid"/>
                      <a:round/>
                      <a:headEnd type="none" w="med" len="med"/>
                      <a:tailEnd type="none" w="med" len="med"/>
                    </a:lnR>
                    <a:lnT w="12700" cap="flat" cmpd="sng" algn="ctr">
                      <a:solidFill>
                        <a:srgbClr val="F5F3EE"/>
                      </a:solidFill>
                      <a:prstDash val="solid"/>
                      <a:round/>
                      <a:headEnd type="none" w="med" len="med"/>
                      <a:tailEnd type="none" w="med" len="med"/>
                    </a:lnT>
                    <a:lnB w="12700" cap="flat" cmpd="sng" algn="ctr">
                      <a:solidFill>
                        <a:srgbClr val="F5F3EE"/>
                      </a:solidFill>
                      <a:prstDash val="solid"/>
                      <a:round/>
                      <a:headEnd type="none" w="med" len="med"/>
                      <a:tailEnd type="none" w="med" len="med"/>
                    </a:lnB>
                    <a:solidFill>
                      <a:srgbClr val="F5F3EE"/>
                    </a:solidFill>
                  </a:tcPr>
                </a:tc>
              </a:tr>
              <a:tr h="457200">
                <a:tc>
                  <a:txBody>
                    <a:bodyPr/>
                    <a:lstStyle/>
                    <a:p>
                      <a:pPr indent="0" marL="0">
                        <a:buNone/>
                      </a:pPr>
                      <a:r>
                        <a:rPr lang="en-US" sz="1300" b="1" dirty="0">
                          <a:solidFill>
                            <a:srgbClr val="B45F06"/>
                          </a:solidFill>
                          <a:latin typeface="Arial" pitchFamily="34" charset="0"/>
                          <a:ea typeface="Arial" pitchFamily="34" charset="-122"/>
                          <a:cs typeface="Arial" pitchFamily="34" charset="-120"/>
                        </a:rPr>
                        <a:t>n8n</a:t>
                      </a:r>
                      <a:endParaRPr lang="en-US" sz="1300" dirty="0">
                        <a:latin typeface="Arial" charset="0"/>
                        <a:ea typeface="Arial" charset="0"/>
                        <a:cs typeface="Arial" charset="0"/>
                      </a:endParaRPr>
                    </a:p>
                  </a:txBody>
                  <a:tcPr marL="101600" marR="101600" marT="63500" marB="63500" anchor="ctr">
                    <a:lnL w="12700" cap="flat" cmpd="sng" algn="ctr">
                      <a:solidFill>
                        <a:srgbClr val="F5F3EE"/>
                      </a:solidFill>
                      <a:prstDash val="solid"/>
                      <a:round/>
                      <a:headEnd type="none" w="med" len="med"/>
                      <a:tailEnd type="none" w="med" len="med"/>
                    </a:lnL>
                    <a:lnR w="12700" cap="flat" cmpd="sng" algn="ctr">
                      <a:solidFill>
                        <a:srgbClr val="F5F3EE"/>
                      </a:solidFill>
                      <a:prstDash val="solid"/>
                      <a:round/>
                      <a:headEnd type="none" w="med" len="med"/>
                      <a:tailEnd type="none" w="med" len="med"/>
                    </a:lnR>
                    <a:lnT w="12700" cap="flat" cmpd="sng" algn="ctr">
                      <a:solidFill>
                        <a:srgbClr val="F5F3EE"/>
                      </a:solidFill>
                      <a:prstDash val="solid"/>
                      <a:round/>
                      <a:headEnd type="none" w="med" len="med"/>
                      <a:tailEnd type="none" w="med" len="med"/>
                    </a:lnT>
                    <a:lnB w="12700" cap="flat" cmpd="sng" algn="ctr">
                      <a:solidFill>
                        <a:srgbClr val="F5F3EE"/>
                      </a:solidFill>
                      <a:prstDash val="solid"/>
                      <a:round/>
                      <a:headEnd type="none" w="med" len="med"/>
                      <a:tailEnd type="none" w="med" len="med"/>
                    </a:lnB>
                    <a:solidFill>
                      <a:srgbClr val="E6E2D8"/>
                    </a:solidFill>
                  </a:tcPr>
                </a:tc>
                <a:tc>
                  <a:txBody>
                    <a:bodyPr/>
                    <a:lstStyle/>
                    <a:p>
                      <a:pPr indent="0" marL="0">
                        <a:buNone/>
                      </a:pPr>
                      <a:r>
                        <a:rPr lang="en-US" sz="1300" dirty="0">
                          <a:solidFill>
                            <a:srgbClr val="14213D"/>
                          </a:solidFill>
                          <a:latin typeface="Arial" pitchFamily="34" charset="0"/>
                          <a:ea typeface="Arial" pitchFamily="34" charset="-122"/>
                          <a:cs typeface="Arial" pitchFamily="34" charset="-120"/>
                        </a:rPr>
                        <a:t>0 $ (notre PC)</a:t>
                      </a:r>
                      <a:endParaRPr lang="en-US" sz="1300" dirty="0">
                        <a:latin typeface="Arial" charset="0"/>
                        <a:ea typeface="Arial" charset="0"/>
                        <a:cs typeface="Arial" charset="0"/>
                      </a:endParaRPr>
                    </a:p>
                  </a:txBody>
                  <a:tcPr marL="101600" marR="101600" marT="63500" marB="63500" anchor="ctr">
                    <a:lnL w="12700" cap="flat" cmpd="sng" algn="ctr">
                      <a:solidFill>
                        <a:srgbClr val="F5F3EE"/>
                      </a:solidFill>
                      <a:prstDash val="solid"/>
                      <a:round/>
                      <a:headEnd type="none" w="med" len="med"/>
                      <a:tailEnd type="none" w="med" len="med"/>
                    </a:lnL>
                    <a:lnR w="12700" cap="flat" cmpd="sng" algn="ctr">
                      <a:solidFill>
                        <a:srgbClr val="F5F3EE"/>
                      </a:solidFill>
                      <a:prstDash val="solid"/>
                      <a:round/>
                      <a:headEnd type="none" w="med" len="med"/>
                      <a:tailEnd type="none" w="med" len="med"/>
                    </a:lnR>
                    <a:lnT w="12700" cap="flat" cmpd="sng" algn="ctr">
                      <a:solidFill>
                        <a:srgbClr val="F5F3EE"/>
                      </a:solidFill>
                      <a:prstDash val="solid"/>
                      <a:round/>
                      <a:headEnd type="none" w="med" len="med"/>
                      <a:tailEnd type="none" w="med" len="med"/>
                    </a:lnT>
                    <a:lnB w="12700" cap="flat" cmpd="sng" algn="ctr">
                      <a:solidFill>
                        <a:srgbClr val="F5F3EE"/>
                      </a:solidFill>
                      <a:prstDash val="solid"/>
                      <a:round/>
                      <a:headEnd type="none" w="med" len="med"/>
                      <a:tailEnd type="none" w="med" len="med"/>
                    </a:lnB>
                    <a:solidFill>
                      <a:srgbClr val="E6E2D8"/>
                    </a:solidFill>
                  </a:tcPr>
                </a:tc>
                <a:tc>
                  <a:txBody>
                    <a:bodyPr/>
                    <a:lstStyle/>
                    <a:p>
                      <a:pPr indent="0" marL="0">
                        <a:buNone/>
                      </a:pPr>
                      <a:r>
                        <a:rPr lang="en-US" sz="1300" dirty="0">
                          <a:solidFill>
                            <a:srgbClr val="14213D"/>
                          </a:solidFill>
                          <a:latin typeface="Arial" pitchFamily="34" charset="0"/>
                          <a:ea typeface="Arial" pitchFamily="34" charset="-122"/>
                          <a:cs typeface="Arial" pitchFamily="34" charset="-120"/>
                        </a:rPr>
                        <a:t>≈ 7 $ (petite instance)</a:t>
                      </a:r>
                      <a:endParaRPr lang="en-US" sz="1300" dirty="0">
                        <a:latin typeface="Arial" charset="0"/>
                        <a:ea typeface="Arial" charset="0"/>
                        <a:cs typeface="Arial" charset="0"/>
                      </a:endParaRPr>
                    </a:p>
                  </a:txBody>
                  <a:tcPr marL="101600" marR="101600" marT="63500" marB="63500" anchor="ctr">
                    <a:lnL w="12700" cap="flat" cmpd="sng" algn="ctr">
                      <a:solidFill>
                        <a:srgbClr val="F5F3EE"/>
                      </a:solidFill>
                      <a:prstDash val="solid"/>
                      <a:round/>
                      <a:headEnd type="none" w="med" len="med"/>
                      <a:tailEnd type="none" w="med" len="med"/>
                    </a:lnL>
                    <a:lnR w="12700" cap="flat" cmpd="sng" algn="ctr">
                      <a:solidFill>
                        <a:srgbClr val="F5F3EE"/>
                      </a:solidFill>
                      <a:prstDash val="solid"/>
                      <a:round/>
                      <a:headEnd type="none" w="med" len="med"/>
                      <a:tailEnd type="none" w="med" len="med"/>
                    </a:lnR>
                    <a:lnT w="12700" cap="flat" cmpd="sng" algn="ctr">
                      <a:solidFill>
                        <a:srgbClr val="F5F3EE"/>
                      </a:solidFill>
                      <a:prstDash val="solid"/>
                      <a:round/>
                      <a:headEnd type="none" w="med" len="med"/>
                      <a:tailEnd type="none" w="med" len="med"/>
                    </a:lnT>
                    <a:lnB w="12700" cap="flat" cmpd="sng" algn="ctr">
                      <a:solidFill>
                        <a:srgbClr val="F5F3EE"/>
                      </a:solidFill>
                      <a:prstDash val="solid"/>
                      <a:round/>
                      <a:headEnd type="none" w="med" len="med"/>
                      <a:tailEnd type="none" w="med" len="med"/>
                    </a:lnB>
                    <a:solidFill>
                      <a:srgbClr val="E6E2D8"/>
                    </a:solidFill>
                  </a:tcPr>
                </a:tc>
                <a:tc>
                  <a:txBody>
                    <a:bodyPr/>
                    <a:lstStyle/>
                    <a:p>
                      <a:pPr indent="0" marL="0">
                        <a:buNone/>
                      </a:pPr>
                      <a:r>
                        <a:rPr lang="en-US" sz="1300" dirty="0">
                          <a:solidFill>
                            <a:srgbClr val="14213D"/>
                          </a:solidFill>
                          <a:latin typeface="Arial" pitchFamily="34" charset="0"/>
                          <a:ea typeface="Arial" pitchFamily="34" charset="-122"/>
                          <a:cs typeface="Arial" pitchFamily="34" charset="-120"/>
                        </a:rPr>
                        <a:t>≈ 50 $ (file d’attente + 2 workers)</a:t>
                      </a:r>
                      <a:endParaRPr lang="en-US" sz="1300" dirty="0">
                        <a:latin typeface="Arial" charset="0"/>
                        <a:ea typeface="Arial" charset="0"/>
                        <a:cs typeface="Arial" charset="0"/>
                      </a:endParaRPr>
                    </a:p>
                  </a:txBody>
                  <a:tcPr marL="101600" marR="101600" marT="63500" marB="63500" anchor="ctr">
                    <a:lnL w="12700" cap="flat" cmpd="sng" algn="ctr">
                      <a:solidFill>
                        <a:srgbClr val="F5F3EE"/>
                      </a:solidFill>
                      <a:prstDash val="solid"/>
                      <a:round/>
                      <a:headEnd type="none" w="med" len="med"/>
                      <a:tailEnd type="none" w="med" len="med"/>
                    </a:lnL>
                    <a:lnR w="12700" cap="flat" cmpd="sng" algn="ctr">
                      <a:solidFill>
                        <a:srgbClr val="F5F3EE"/>
                      </a:solidFill>
                      <a:prstDash val="solid"/>
                      <a:round/>
                      <a:headEnd type="none" w="med" len="med"/>
                      <a:tailEnd type="none" w="med" len="med"/>
                    </a:lnR>
                    <a:lnT w="12700" cap="flat" cmpd="sng" algn="ctr">
                      <a:solidFill>
                        <a:srgbClr val="F5F3EE"/>
                      </a:solidFill>
                      <a:prstDash val="solid"/>
                      <a:round/>
                      <a:headEnd type="none" w="med" len="med"/>
                      <a:tailEnd type="none" w="med" len="med"/>
                    </a:lnT>
                    <a:lnB w="12700" cap="flat" cmpd="sng" algn="ctr">
                      <a:solidFill>
                        <a:srgbClr val="F5F3EE"/>
                      </a:solidFill>
                      <a:prstDash val="solid"/>
                      <a:round/>
                      <a:headEnd type="none" w="med" len="med"/>
                      <a:tailEnd type="none" w="med" len="med"/>
                    </a:lnB>
                    <a:solidFill>
                      <a:srgbClr val="E6E2D8"/>
                    </a:solidFill>
                  </a:tcPr>
                </a:tc>
              </a:tr>
              <a:tr h="457200">
                <a:tc>
                  <a:txBody>
                    <a:bodyPr/>
                    <a:lstStyle/>
                    <a:p>
                      <a:pPr indent="0" marL="0">
                        <a:buNone/>
                      </a:pPr>
                      <a:r>
                        <a:rPr lang="en-US" sz="1300" b="1" dirty="0">
                          <a:solidFill>
                            <a:srgbClr val="B45F06"/>
                          </a:solidFill>
                          <a:latin typeface="Arial" pitchFamily="34" charset="0"/>
                          <a:ea typeface="Arial" pitchFamily="34" charset="-122"/>
                          <a:cs typeface="Arial" pitchFamily="34" charset="-120"/>
                        </a:rPr>
                        <a:t>E-mails (Resend)</a:t>
                      </a:r>
                      <a:endParaRPr lang="en-US" sz="1300" dirty="0">
                        <a:latin typeface="Arial" charset="0"/>
                        <a:ea typeface="Arial" charset="0"/>
                        <a:cs typeface="Arial" charset="0"/>
                      </a:endParaRPr>
                    </a:p>
                  </a:txBody>
                  <a:tcPr marL="101600" marR="101600" marT="63500" marB="63500" anchor="ctr">
                    <a:lnL w="12700" cap="flat" cmpd="sng" algn="ctr">
                      <a:solidFill>
                        <a:srgbClr val="F5F3EE"/>
                      </a:solidFill>
                      <a:prstDash val="solid"/>
                      <a:round/>
                      <a:headEnd type="none" w="med" len="med"/>
                      <a:tailEnd type="none" w="med" len="med"/>
                    </a:lnL>
                    <a:lnR w="12700" cap="flat" cmpd="sng" algn="ctr">
                      <a:solidFill>
                        <a:srgbClr val="F5F3EE"/>
                      </a:solidFill>
                      <a:prstDash val="solid"/>
                      <a:round/>
                      <a:headEnd type="none" w="med" len="med"/>
                      <a:tailEnd type="none" w="med" len="med"/>
                    </a:lnR>
                    <a:lnT w="12700" cap="flat" cmpd="sng" algn="ctr">
                      <a:solidFill>
                        <a:srgbClr val="F5F3EE"/>
                      </a:solidFill>
                      <a:prstDash val="solid"/>
                      <a:round/>
                      <a:headEnd type="none" w="med" len="med"/>
                      <a:tailEnd type="none" w="med" len="med"/>
                    </a:lnT>
                    <a:lnB w="12700" cap="flat" cmpd="sng" algn="ctr">
                      <a:solidFill>
                        <a:srgbClr val="F5F3EE"/>
                      </a:solidFill>
                      <a:prstDash val="solid"/>
                      <a:round/>
                      <a:headEnd type="none" w="med" len="med"/>
                      <a:tailEnd type="none" w="med" len="med"/>
                    </a:lnB>
                    <a:solidFill>
                      <a:srgbClr val="F5F3EE"/>
                    </a:solidFill>
                  </a:tcPr>
                </a:tc>
                <a:tc>
                  <a:txBody>
                    <a:bodyPr/>
                    <a:lstStyle/>
                    <a:p>
                      <a:pPr indent="0" marL="0">
                        <a:buNone/>
                      </a:pPr>
                      <a:r>
                        <a:rPr lang="en-US" sz="1300" dirty="0">
                          <a:solidFill>
                            <a:srgbClr val="14213D"/>
                          </a:solidFill>
                          <a:latin typeface="Arial" pitchFamily="34" charset="0"/>
                          <a:ea typeface="Arial" pitchFamily="34" charset="-122"/>
                          <a:cs typeface="Arial" pitchFamily="34" charset="-120"/>
                        </a:rPr>
                        <a:t>0 $ (3 000 / mois)</a:t>
                      </a:r>
                      <a:endParaRPr lang="en-US" sz="1300" dirty="0">
                        <a:latin typeface="Arial" charset="0"/>
                        <a:ea typeface="Arial" charset="0"/>
                        <a:cs typeface="Arial" charset="0"/>
                      </a:endParaRPr>
                    </a:p>
                  </a:txBody>
                  <a:tcPr marL="101600" marR="101600" marT="63500" marB="63500" anchor="ctr">
                    <a:lnL w="12700" cap="flat" cmpd="sng" algn="ctr">
                      <a:solidFill>
                        <a:srgbClr val="F5F3EE"/>
                      </a:solidFill>
                      <a:prstDash val="solid"/>
                      <a:round/>
                      <a:headEnd type="none" w="med" len="med"/>
                      <a:tailEnd type="none" w="med" len="med"/>
                    </a:lnL>
                    <a:lnR w="12700" cap="flat" cmpd="sng" algn="ctr">
                      <a:solidFill>
                        <a:srgbClr val="F5F3EE"/>
                      </a:solidFill>
                      <a:prstDash val="solid"/>
                      <a:round/>
                      <a:headEnd type="none" w="med" len="med"/>
                      <a:tailEnd type="none" w="med" len="med"/>
                    </a:lnR>
                    <a:lnT w="12700" cap="flat" cmpd="sng" algn="ctr">
                      <a:solidFill>
                        <a:srgbClr val="F5F3EE"/>
                      </a:solidFill>
                      <a:prstDash val="solid"/>
                      <a:round/>
                      <a:headEnd type="none" w="med" len="med"/>
                      <a:tailEnd type="none" w="med" len="med"/>
                    </a:lnT>
                    <a:lnB w="12700" cap="flat" cmpd="sng" algn="ctr">
                      <a:solidFill>
                        <a:srgbClr val="F5F3EE"/>
                      </a:solidFill>
                      <a:prstDash val="solid"/>
                      <a:round/>
                      <a:headEnd type="none" w="med" len="med"/>
                      <a:tailEnd type="none" w="med" len="med"/>
                    </a:lnB>
                    <a:solidFill>
                      <a:srgbClr val="F5F3EE"/>
                    </a:solidFill>
                  </a:tcPr>
                </a:tc>
                <a:tc>
                  <a:txBody>
                    <a:bodyPr/>
                    <a:lstStyle/>
                    <a:p>
                      <a:pPr indent="0" marL="0">
                        <a:buNone/>
                      </a:pPr>
                      <a:r>
                        <a:rPr lang="en-US" sz="1300" dirty="0">
                          <a:solidFill>
                            <a:srgbClr val="14213D"/>
                          </a:solidFill>
                          <a:latin typeface="Arial" pitchFamily="34" charset="0"/>
                          <a:ea typeface="Arial" pitchFamily="34" charset="-122"/>
                          <a:cs typeface="Arial" pitchFamily="34" charset="-120"/>
                        </a:rPr>
                        <a:t>0 $ (≈ 650 mails / mois)</a:t>
                      </a:r>
                      <a:endParaRPr lang="en-US" sz="1300" dirty="0">
                        <a:latin typeface="Arial" charset="0"/>
                        <a:ea typeface="Arial" charset="0"/>
                        <a:cs typeface="Arial" charset="0"/>
                      </a:endParaRPr>
                    </a:p>
                  </a:txBody>
                  <a:tcPr marL="101600" marR="101600" marT="63500" marB="63500" anchor="ctr">
                    <a:lnL w="12700" cap="flat" cmpd="sng" algn="ctr">
                      <a:solidFill>
                        <a:srgbClr val="F5F3EE"/>
                      </a:solidFill>
                      <a:prstDash val="solid"/>
                      <a:round/>
                      <a:headEnd type="none" w="med" len="med"/>
                      <a:tailEnd type="none" w="med" len="med"/>
                    </a:lnL>
                    <a:lnR w="12700" cap="flat" cmpd="sng" algn="ctr">
                      <a:solidFill>
                        <a:srgbClr val="F5F3EE"/>
                      </a:solidFill>
                      <a:prstDash val="solid"/>
                      <a:round/>
                      <a:headEnd type="none" w="med" len="med"/>
                      <a:tailEnd type="none" w="med" len="med"/>
                    </a:lnR>
                    <a:lnT w="12700" cap="flat" cmpd="sng" algn="ctr">
                      <a:solidFill>
                        <a:srgbClr val="F5F3EE"/>
                      </a:solidFill>
                      <a:prstDash val="solid"/>
                      <a:round/>
                      <a:headEnd type="none" w="med" len="med"/>
                      <a:tailEnd type="none" w="med" len="med"/>
                    </a:lnT>
                    <a:lnB w="12700" cap="flat" cmpd="sng" algn="ctr">
                      <a:solidFill>
                        <a:srgbClr val="F5F3EE"/>
                      </a:solidFill>
                      <a:prstDash val="solid"/>
                      <a:round/>
                      <a:headEnd type="none" w="med" len="med"/>
                      <a:tailEnd type="none" w="med" len="med"/>
                    </a:lnB>
                    <a:solidFill>
                      <a:srgbClr val="F5F3EE"/>
                    </a:solidFill>
                  </a:tcPr>
                </a:tc>
                <a:tc>
                  <a:txBody>
                    <a:bodyPr/>
                    <a:lstStyle/>
                    <a:p>
                      <a:pPr indent="0" marL="0">
                        <a:buNone/>
                      </a:pPr>
                      <a:r>
                        <a:rPr lang="en-US" sz="1300" dirty="0">
                          <a:solidFill>
                            <a:srgbClr val="14213D"/>
                          </a:solidFill>
                          <a:latin typeface="Arial" pitchFamily="34" charset="0"/>
                          <a:ea typeface="Arial" pitchFamily="34" charset="-122"/>
                          <a:cs typeface="Arial" pitchFamily="34" charset="-120"/>
                        </a:rPr>
                        <a:t>35 $ (100 000 mails / mois)</a:t>
                      </a:r>
                      <a:endParaRPr lang="en-US" sz="1300" dirty="0">
                        <a:latin typeface="Arial" charset="0"/>
                        <a:ea typeface="Arial" charset="0"/>
                        <a:cs typeface="Arial" charset="0"/>
                      </a:endParaRPr>
                    </a:p>
                  </a:txBody>
                  <a:tcPr marL="101600" marR="101600" marT="63500" marB="63500" anchor="ctr">
                    <a:lnL w="12700" cap="flat" cmpd="sng" algn="ctr">
                      <a:solidFill>
                        <a:srgbClr val="F5F3EE"/>
                      </a:solidFill>
                      <a:prstDash val="solid"/>
                      <a:round/>
                      <a:headEnd type="none" w="med" len="med"/>
                      <a:tailEnd type="none" w="med" len="med"/>
                    </a:lnL>
                    <a:lnR w="12700" cap="flat" cmpd="sng" algn="ctr">
                      <a:solidFill>
                        <a:srgbClr val="F5F3EE"/>
                      </a:solidFill>
                      <a:prstDash val="solid"/>
                      <a:round/>
                      <a:headEnd type="none" w="med" len="med"/>
                      <a:tailEnd type="none" w="med" len="med"/>
                    </a:lnR>
                    <a:lnT w="12700" cap="flat" cmpd="sng" algn="ctr">
                      <a:solidFill>
                        <a:srgbClr val="F5F3EE"/>
                      </a:solidFill>
                      <a:prstDash val="solid"/>
                      <a:round/>
                      <a:headEnd type="none" w="med" len="med"/>
                      <a:tailEnd type="none" w="med" len="med"/>
                    </a:lnT>
                    <a:lnB w="12700" cap="flat" cmpd="sng" algn="ctr">
                      <a:solidFill>
                        <a:srgbClr val="F5F3EE"/>
                      </a:solidFill>
                      <a:prstDash val="solid"/>
                      <a:round/>
                      <a:headEnd type="none" w="med" len="med"/>
                      <a:tailEnd type="none" w="med" len="med"/>
                    </a:lnB>
                    <a:solidFill>
                      <a:srgbClr val="F5F3EE"/>
                    </a:solidFill>
                  </a:tcPr>
                </a:tc>
              </a:tr>
              <a:tr h="457200">
                <a:tc>
                  <a:txBody>
                    <a:bodyPr/>
                    <a:lstStyle/>
                    <a:p>
                      <a:pPr indent="0" marL="0">
                        <a:buNone/>
                      </a:pPr>
                      <a:r>
                        <a:rPr lang="en-US" sz="1300" b="1" dirty="0">
                          <a:solidFill>
                            <a:srgbClr val="B45F06"/>
                          </a:solidFill>
                          <a:latin typeface="Arial" pitchFamily="34" charset="0"/>
                          <a:ea typeface="Arial" pitchFamily="34" charset="-122"/>
                          <a:cs typeface="Arial" pitchFamily="34" charset="-120"/>
                        </a:rPr>
                        <a:t>LLM (gpt-4o-mini)</a:t>
                      </a:r>
                      <a:endParaRPr lang="en-US" sz="1300" dirty="0">
                        <a:latin typeface="Arial" charset="0"/>
                        <a:ea typeface="Arial" charset="0"/>
                        <a:cs typeface="Arial" charset="0"/>
                      </a:endParaRPr>
                    </a:p>
                  </a:txBody>
                  <a:tcPr marL="101600" marR="101600" marT="63500" marB="63500" anchor="ctr">
                    <a:lnL w="12700" cap="flat" cmpd="sng" algn="ctr">
                      <a:solidFill>
                        <a:srgbClr val="F5F3EE"/>
                      </a:solidFill>
                      <a:prstDash val="solid"/>
                      <a:round/>
                      <a:headEnd type="none" w="med" len="med"/>
                      <a:tailEnd type="none" w="med" len="med"/>
                    </a:lnL>
                    <a:lnR w="12700" cap="flat" cmpd="sng" algn="ctr">
                      <a:solidFill>
                        <a:srgbClr val="F5F3EE"/>
                      </a:solidFill>
                      <a:prstDash val="solid"/>
                      <a:round/>
                      <a:headEnd type="none" w="med" len="med"/>
                      <a:tailEnd type="none" w="med" len="med"/>
                    </a:lnR>
                    <a:lnT w="12700" cap="flat" cmpd="sng" algn="ctr">
                      <a:solidFill>
                        <a:srgbClr val="F5F3EE"/>
                      </a:solidFill>
                      <a:prstDash val="solid"/>
                      <a:round/>
                      <a:headEnd type="none" w="med" len="med"/>
                      <a:tailEnd type="none" w="med" len="med"/>
                    </a:lnT>
                    <a:lnB w="12700" cap="flat" cmpd="sng" algn="ctr">
                      <a:solidFill>
                        <a:srgbClr val="F5F3EE"/>
                      </a:solidFill>
                      <a:prstDash val="solid"/>
                      <a:round/>
                      <a:headEnd type="none" w="med" len="med"/>
                      <a:tailEnd type="none" w="med" len="med"/>
                    </a:lnB>
                    <a:solidFill>
                      <a:srgbClr val="E6E2D8"/>
                    </a:solidFill>
                  </a:tcPr>
                </a:tc>
                <a:tc>
                  <a:txBody>
                    <a:bodyPr/>
                    <a:lstStyle/>
                    <a:p>
                      <a:pPr indent="0" marL="0">
                        <a:buNone/>
                      </a:pPr>
                      <a:r>
                        <a:rPr lang="en-US" sz="1300" dirty="0">
                          <a:solidFill>
                            <a:srgbClr val="14213D"/>
                          </a:solidFill>
                          <a:latin typeface="Arial" pitchFamily="34" charset="0"/>
                          <a:ea typeface="Arial" pitchFamily="34" charset="-122"/>
                          <a:cs typeface="Arial" pitchFamily="34" charset="-120"/>
                        </a:rPr>
                        <a:t>&lt; 1 $</a:t>
                      </a:r>
                      <a:endParaRPr lang="en-US" sz="1300" dirty="0">
                        <a:latin typeface="Arial" charset="0"/>
                        <a:ea typeface="Arial" charset="0"/>
                        <a:cs typeface="Arial" charset="0"/>
                      </a:endParaRPr>
                    </a:p>
                  </a:txBody>
                  <a:tcPr marL="101600" marR="101600" marT="63500" marB="63500" anchor="ctr">
                    <a:lnL w="12700" cap="flat" cmpd="sng" algn="ctr">
                      <a:solidFill>
                        <a:srgbClr val="F5F3EE"/>
                      </a:solidFill>
                      <a:prstDash val="solid"/>
                      <a:round/>
                      <a:headEnd type="none" w="med" len="med"/>
                      <a:tailEnd type="none" w="med" len="med"/>
                    </a:lnL>
                    <a:lnR w="12700" cap="flat" cmpd="sng" algn="ctr">
                      <a:solidFill>
                        <a:srgbClr val="F5F3EE"/>
                      </a:solidFill>
                      <a:prstDash val="solid"/>
                      <a:round/>
                      <a:headEnd type="none" w="med" len="med"/>
                      <a:tailEnd type="none" w="med" len="med"/>
                    </a:lnR>
                    <a:lnT w="12700" cap="flat" cmpd="sng" algn="ctr">
                      <a:solidFill>
                        <a:srgbClr val="F5F3EE"/>
                      </a:solidFill>
                      <a:prstDash val="solid"/>
                      <a:round/>
                      <a:headEnd type="none" w="med" len="med"/>
                      <a:tailEnd type="none" w="med" len="med"/>
                    </a:lnT>
                    <a:lnB w="12700" cap="flat" cmpd="sng" algn="ctr">
                      <a:solidFill>
                        <a:srgbClr val="F5F3EE"/>
                      </a:solidFill>
                      <a:prstDash val="solid"/>
                      <a:round/>
                      <a:headEnd type="none" w="med" len="med"/>
                      <a:tailEnd type="none" w="med" len="med"/>
                    </a:lnB>
                    <a:solidFill>
                      <a:srgbClr val="E6E2D8"/>
                    </a:solidFill>
                  </a:tcPr>
                </a:tc>
                <a:tc>
                  <a:txBody>
                    <a:bodyPr/>
                    <a:lstStyle/>
                    <a:p>
                      <a:pPr indent="0" marL="0">
                        <a:buNone/>
                      </a:pPr>
                      <a:r>
                        <a:rPr lang="en-US" sz="1300" dirty="0">
                          <a:solidFill>
                            <a:srgbClr val="14213D"/>
                          </a:solidFill>
                          <a:latin typeface="Arial" pitchFamily="34" charset="0"/>
                          <a:ea typeface="Arial" pitchFamily="34" charset="-122"/>
                          <a:cs typeface="Arial" pitchFamily="34" charset="-120"/>
                        </a:rPr>
                        <a:t>&lt; 1 $</a:t>
                      </a:r>
                      <a:endParaRPr lang="en-US" sz="1300" dirty="0">
                        <a:latin typeface="Arial" charset="0"/>
                        <a:ea typeface="Arial" charset="0"/>
                        <a:cs typeface="Arial" charset="0"/>
                      </a:endParaRPr>
                    </a:p>
                  </a:txBody>
                  <a:tcPr marL="101600" marR="101600" marT="63500" marB="63500" anchor="ctr">
                    <a:lnL w="12700" cap="flat" cmpd="sng" algn="ctr">
                      <a:solidFill>
                        <a:srgbClr val="F5F3EE"/>
                      </a:solidFill>
                      <a:prstDash val="solid"/>
                      <a:round/>
                      <a:headEnd type="none" w="med" len="med"/>
                      <a:tailEnd type="none" w="med" len="med"/>
                    </a:lnL>
                    <a:lnR w="12700" cap="flat" cmpd="sng" algn="ctr">
                      <a:solidFill>
                        <a:srgbClr val="F5F3EE"/>
                      </a:solidFill>
                      <a:prstDash val="solid"/>
                      <a:round/>
                      <a:headEnd type="none" w="med" len="med"/>
                      <a:tailEnd type="none" w="med" len="med"/>
                    </a:lnR>
                    <a:lnT w="12700" cap="flat" cmpd="sng" algn="ctr">
                      <a:solidFill>
                        <a:srgbClr val="F5F3EE"/>
                      </a:solidFill>
                      <a:prstDash val="solid"/>
                      <a:round/>
                      <a:headEnd type="none" w="med" len="med"/>
                      <a:tailEnd type="none" w="med" len="med"/>
                    </a:lnT>
                    <a:lnB w="12700" cap="flat" cmpd="sng" algn="ctr">
                      <a:solidFill>
                        <a:srgbClr val="F5F3EE"/>
                      </a:solidFill>
                      <a:prstDash val="solid"/>
                      <a:round/>
                      <a:headEnd type="none" w="med" len="med"/>
                      <a:tailEnd type="none" w="med" len="med"/>
                    </a:lnB>
                    <a:solidFill>
                      <a:srgbClr val="E6E2D8"/>
                    </a:solidFill>
                  </a:tcPr>
                </a:tc>
                <a:tc>
                  <a:txBody>
                    <a:bodyPr/>
                    <a:lstStyle/>
                    <a:p>
                      <a:pPr indent="0" marL="0">
                        <a:buNone/>
                      </a:pPr>
                      <a:r>
                        <a:rPr lang="en-US" sz="1300" dirty="0">
                          <a:solidFill>
                            <a:srgbClr val="14213D"/>
                          </a:solidFill>
                          <a:latin typeface="Arial" pitchFamily="34" charset="0"/>
                          <a:ea typeface="Arial" pitchFamily="34" charset="-122"/>
                          <a:cs typeface="Arial" pitchFamily="34" charset="-120"/>
                        </a:rPr>
                        <a:t>≈ 65 $</a:t>
                      </a:r>
                      <a:endParaRPr lang="en-US" sz="1300" dirty="0">
                        <a:latin typeface="Arial" charset="0"/>
                        <a:ea typeface="Arial" charset="0"/>
                        <a:cs typeface="Arial" charset="0"/>
                      </a:endParaRPr>
                    </a:p>
                  </a:txBody>
                  <a:tcPr marL="101600" marR="101600" marT="63500" marB="63500" anchor="ctr">
                    <a:lnL w="12700" cap="flat" cmpd="sng" algn="ctr">
                      <a:solidFill>
                        <a:srgbClr val="F5F3EE"/>
                      </a:solidFill>
                      <a:prstDash val="solid"/>
                      <a:round/>
                      <a:headEnd type="none" w="med" len="med"/>
                      <a:tailEnd type="none" w="med" len="med"/>
                    </a:lnL>
                    <a:lnR w="12700" cap="flat" cmpd="sng" algn="ctr">
                      <a:solidFill>
                        <a:srgbClr val="F5F3EE"/>
                      </a:solidFill>
                      <a:prstDash val="solid"/>
                      <a:round/>
                      <a:headEnd type="none" w="med" len="med"/>
                      <a:tailEnd type="none" w="med" len="med"/>
                    </a:lnR>
                    <a:lnT w="12700" cap="flat" cmpd="sng" algn="ctr">
                      <a:solidFill>
                        <a:srgbClr val="F5F3EE"/>
                      </a:solidFill>
                      <a:prstDash val="solid"/>
                      <a:round/>
                      <a:headEnd type="none" w="med" len="med"/>
                      <a:tailEnd type="none" w="med" len="med"/>
                    </a:lnT>
                    <a:lnB w="12700" cap="flat" cmpd="sng" algn="ctr">
                      <a:solidFill>
                        <a:srgbClr val="F5F3EE"/>
                      </a:solidFill>
                      <a:prstDash val="solid"/>
                      <a:round/>
                      <a:headEnd type="none" w="med" len="med"/>
                      <a:tailEnd type="none" w="med" len="med"/>
                    </a:lnB>
                    <a:solidFill>
                      <a:srgbClr val="E6E2D8"/>
                    </a:solidFill>
                  </a:tcPr>
                </a:tc>
              </a:tr>
              <a:tr h="457200">
                <a:tc>
                  <a:txBody>
                    <a:bodyPr/>
                    <a:lstStyle/>
                    <a:p>
                      <a:pPr indent="0" marL="0">
                        <a:buNone/>
                      </a:pPr>
                      <a:r>
                        <a:rPr lang="en-US" sz="1300" b="1" dirty="0">
                          <a:solidFill>
                            <a:srgbClr val="FFFFFF"/>
                          </a:solidFill>
                          <a:latin typeface="Arial" pitchFamily="34" charset="0"/>
                          <a:ea typeface="Arial" pitchFamily="34" charset="-122"/>
                          <a:cs typeface="Arial" pitchFamily="34" charset="-120"/>
                        </a:rPr>
                        <a:t>Total</a:t>
                      </a:r>
                      <a:endParaRPr lang="en-US" sz="1300" dirty="0">
                        <a:latin typeface="Arial" charset="0"/>
                        <a:ea typeface="Arial" charset="0"/>
                        <a:cs typeface="Arial" charset="0"/>
                      </a:endParaRPr>
                    </a:p>
                  </a:txBody>
                  <a:tcPr marL="101600" marR="101600" marT="63500" marB="63500" anchor="ctr">
                    <a:lnL w="12700" cap="flat" cmpd="sng" algn="ctr">
                      <a:solidFill>
                        <a:srgbClr val="F5F3EE"/>
                      </a:solidFill>
                      <a:prstDash val="solid"/>
                      <a:round/>
                      <a:headEnd type="none" w="med" len="med"/>
                      <a:tailEnd type="none" w="med" len="med"/>
                    </a:lnL>
                    <a:lnR w="12700" cap="flat" cmpd="sng" algn="ctr">
                      <a:solidFill>
                        <a:srgbClr val="F5F3EE"/>
                      </a:solidFill>
                      <a:prstDash val="solid"/>
                      <a:round/>
                      <a:headEnd type="none" w="med" len="med"/>
                      <a:tailEnd type="none" w="med" len="med"/>
                    </a:lnR>
                    <a:lnT w="12700" cap="flat" cmpd="sng" algn="ctr">
                      <a:solidFill>
                        <a:srgbClr val="F5F3EE"/>
                      </a:solidFill>
                      <a:prstDash val="solid"/>
                      <a:round/>
                      <a:headEnd type="none" w="med" len="med"/>
                      <a:tailEnd type="none" w="med" len="med"/>
                    </a:lnT>
                    <a:lnB w="12700" cap="flat" cmpd="sng" algn="ctr">
                      <a:solidFill>
                        <a:srgbClr val="F5F3EE"/>
                      </a:solidFill>
                      <a:prstDash val="solid"/>
                      <a:round/>
                      <a:headEnd type="none" w="med" len="med"/>
                      <a:tailEnd type="none" w="med" len="med"/>
                    </a:lnB>
                    <a:solidFill>
                      <a:srgbClr val="14213D"/>
                    </a:solidFill>
                  </a:tcPr>
                </a:tc>
                <a:tc>
                  <a:txBody>
                    <a:bodyPr/>
                    <a:lstStyle/>
                    <a:p>
                      <a:pPr indent="0" marL="0">
                        <a:buNone/>
                      </a:pPr>
                      <a:r>
                        <a:rPr lang="en-US" sz="1300" b="1" dirty="0">
                          <a:solidFill>
                            <a:srgbClr val="FFFFFF"/>
                          </a:solidFill>
                          <a:latin typeface="Arial" pitchFamily="34" charset="0"/>
                          <a:ea typeface="Arial" pitchFamily="34" charset="-122"/>
                          <a:cs typeface="Arial" pitchFamily="34" charset="-120"/>
                        </a:rPr>
                        <a:t>0 $</a:t>
                      </a:r>
                      <a:endParaRPr lang="en-US" sz="1300" dirty="0">
                        <a:latin typeface="Arial" charset="0"/>
                        <a:ea typeface="Arial" charset="0"/>
                        <a:cs typeface="Arial" charset="0"/>
                      </a:endParaRPr>
                    </a:p>
                  </a:txBody>
                  <a:tcPr marL="101600" marR="101600" marT="63500" marB="63500" anchor="ctr">
                    <a:lnL w="12700" cap="flat" cmpd="sng" algn="ctr">
                      <a:solidFill>
                        <a:srgbClr val="F5F3EE"/>
                      </a:solidFill>
                      <a:prstDash val="solid"/>
                      <a:round/>
                      <a:headEnd type="none" w="med" len="med"/>
                      <a:tailEnd type="none" w="med" len="med"/>
                    </a:lnL>
                    <a:lnR w="12700" cap="flat" cmpd="sng" algn="ctr">
                      <a:solidFill>
                        <a:srgbClr val="F5F3EE"/>
                      </a:solidFill>
                      <a:prstDash val="solid"/>
                      <a:round/>
                      <a:headEnd type="none" w="med" len="med"/>
                      <a:tailEnd type="none" w="med" len="med"/>
                    </a:lnR>
                    <a:lnT w="12700" cap="flat" cmpd="sng" algn="ctr">
                      <a:solidFill>
                        <a:srgbClr val="F5F3EE"/>
                      </a:solidFill>
                      <a:prstDash val="solid"/>
                      <a:round/>
                      <a:headEnd type="none" w="med" len="med"/>
                      <a:tailEnd type="none" w="med" len="med"/>
                    </a:lnT>
                    <a:lnB w="12700" cap="flat" cmpd="sng" algn="ctr">
                      <a:solidFill>
                        <a:srgbClr val="F5F3EE"/>
                      </a:solidFill>
                      <a:prstDash val="solid"/>
                      <a:round/>
                      <a:headEnd type="none" w="med" len="med"/>
                      <a:tailEnd type="none" w="med" len="med"/>
                    </a:lnB>
                    <a:solidFill>
                      <a:srgbClr val="14213D"/>
                    </a:solidFill>
                  </a:tcPr>
                </a:tc>
                <a:tc>
                  <a:txBody>
                    <a:bodyPr/>
                    <a:lstStyle/>
                    <a:p>
                      <a:pPr indent="0" marL="0">
                        <a:buNone/>
                      </a:pPr>
                      <a:r>
                        <a:rPr lang="en-US" sz="1300" b="1" dirty="0">
                          <a:solidFill>
                            <a:srgbClr val="FFFFFF"/>
                          </a:solidFill>
                          <a:latin typeface="Arial" pitchFamily="34" charset="0"/>
                          <a:ea typeface="Arial" pitchFamily="34" charset="-122"/>
                          <a:cs typeface="Arial" pitchFamily="34" charset="-120"/>
                        </a:rPr>
                        <a:t>≈ 40 $ / mois</a:t>
                      </a:r>
                      <a:endParaRPr lang="en-US" sz="1300" dirty="0">
                        <a:latin typeface="Arial" charset="0"/>
                        <a:ea typeface="Arial" charset="0"/>
                        <a:cs typeface="Arial" charset="0"/>
                      </a:endParaRPr>
                    </a:p>
                  </a:txBody>
                  <a:tcPr marL="101600" marR="101600" marT="63500" marB="63500" anchor="ctr">
                    <a:lnL w="12700" cap="flat" cmpd="sng" algn="ctr">
                      <a:solidFill>
                        <a:srgbClr val="F5F3EE"/>
                      </a:solidFill>
                      <a:prstDash val="solid"/>
                      <a:round/>
                      <a:headEnd type="none" w="med" len="med"/>
                      <a:tailEnd type="none" w="med" len="med"/>
                    </a:lnL>
                    <a:lnR w="12700" cap="flat" cmpd="sng" algn="ctr">
                      <a:solidFill>
                        <a:srgbClr val="F5F3EE"/>
                      </a:solidFill>
                      <a:prstDash val="solid"/>
                      <a:round/>
                      <a:headEnd type="none" w="med" len="med"/>
                      <a:tailEnd type="none" w="med" len="med"/>
                    </a:lnR>
                    <a:lnT w="12700" cap="flat" cmpd="sng" algn="ctr">
                      <a:solidFill>
                        <a:srgbClr val="F5F3EE"/>
                      </a:solidFill>
                      <a:prstDash val="solid"/>
                      <a:round/>
                      <a:headEnd type="none" w="med" len="med"/>
                      <a:tailEnd type="none" w="med" len="med"/>
                    </a:lnT>
                    <a:lnB w="12700" cap="flat" cmpd="sng" algn="ctr">
                      <a:solidFill>
                        <a:srgbClr val="F5F3EE"/>
                      </a:solidFill>
                      <a:prstDash val="solid"/>
                      <a:round/>
                      <a:headEnd type="none" w="med" len="med"/>
                      <a:tailEnd type="none" w="med" len="med"/>
                    </a:lnB>
                    <a:solidFill>
                      <a:srgbClr val="14213D"/>
                    </a:solidFill>
                  </a:tcPr>
                </a:tc>
                <a:tc>
                  <a:txBody>
                    <a:bodyPr/>
                    <a:lstStyle/>
                    <a:p>
                      <a:pPr indent="0" marL="0">
                        <a:buNone/>
                      </a:pPr>
                      <a:r>
                        <a:rPr lang="en-US" sz="1300" b="1" dirty="0">
                          <a:solidFill>
                            <a:srgbClr val="FFFFFF"/>
                          </a:solidFill>
                          <a:latin typeface="Arial" pitchFamily="34" charset="0"/>
                          <a:ea typeface="Arial" pitchFamily="34" charset="-122"/>
                          <a:cs typeface="Arial" pitchFamily="34" charset="-120"/>
                        </a:rPr>
                        <a:t>≈ 325 $ / mois</a:t>
                      </a:r>
                      <a:endParaRPr lang="en-US" sz="1300" dirty="0">
                        <a:latin typeface="Arial" charset="0"/>
                        <a:ea typeface="Arial" charset="0"/>
                        <a:cs typeface="Arial" charset="0"/>
                      </a:endParaRPr>
                    </a:p>
                  </a:txBody>
                  <a:tcPr marL="101600" marR="101600" marT="63500" marB="63500" anchor="ctr">
                    <a:lnL w="12700" cap="flat" cmpd="sng" algn="ctr">
                      <a:solidFill>
                        <a:srgbClr val="F5F3EE"/>
                      </a:solidFill>
                      <a:prstDash val="solid"/>
                      <a:round/>
                      <a:headEnd type="none" w="med" len="med"/>
                      <a:tailEnd type="none" w="med" len="med"/>
                    </a:lnL>
                    <a:lnR w="12700" cap="flat" cmpd="sng" algn="ctr">
                      <a:solidFill>
                        <a:srgbClr val="F5F3EE"/>
                      </a:solidFill>
                      <a:prstDash val="solid"/>
                      <a:round/>
                      <a:headEnd type="none" w="med" len="med"/>
                      <a:tailEnd type="none" w="med" len="med"/>
                    </a:lnR>
                    <a:lnT w="12700" cap="flat" cmpd="sng" algn="ctr">
                      <a:solidFill>
                        <a:srgbClr val="F5F3EE"/>
                      </a:solidFill>
                      <a:prstDash val="solid"/>
                      <a:round/>
                      <a:headEnd type="none" w="med" len="med"/>
                      <a:tailEnd type="none" w="med" len="med"/>
                    </a:lnT>
                    <a:lnB w="12700" cap="flat" cmpd="sng" algn="ctr">
                      <a:solidFill>
                        <a:srgbClr val="F5F3EE"/>
                      </a:solidFill>
                      <a:prstDash val="solid"/>
                      <a:round/>
                      <a:headEnd type="none" w="med" len="med"/>
                      <a:tailEnd type="none" w="med" len="med"/>
                    </a:lnB>
                    <a:solidFill>
                      <a:srgbClr val="14213D"/>
                    </a:solidFill>
                  </a:tcPr>
                </a:tc>
              </a:tr>
            </a:tbl>
          </a:graphicData>
        </a:graphic>
      </p:graphicFrame>
      <p:sp>
        <p:nvSpPr>
          <p:cNvPr id="5" name="Text 2"/>
          <p:cNvSpPr txBox="1"/>
          <p:nvPr/>
        </p:nvSpPr>
        <p:spPr>
          <a:xfrm>
            <a:off x="640080" y="5257800"/>
            <a:ext cx="10911535" cy="731520"/>
          </a:xfrm>
          <a:prstGeom prst="rect">
            <a:avLst/>
          </a:prstGeom>
          <a:noFill/>
          <a:ln/>
        </p:spPr>
        <p:txBody>
          <a:bodyPr wrap="square" lIns="0" tIns="0" rIns="0" bIns="0" rtlCol="0" anchor="t"/>
          <a:lstStyle/>
          <a:p>
            <a:pPr indent="0" marL="0">
              <a:buNone/>
            </a:pPr>
            <a:r>
              <a:rPr lang="en-US" sz="1200" i="1" dirty="0">
                <a:solidFill>
                  <a:srgbClr val="5A6373"/>
                </a:solidFill>
                <a:latin typeface="Arial" pitchFamily="34" charset="0"/>
                <a:ea typeface="Arial" pitchFamily="34" charset="-122"/>
                <a:cs typeface="Arial" pitchFamily="34" charset="-120"/>
              </a:rPr>
              <a:t>Hypothèses : 1 demande par employé et par mois, 5 mails par demande, 4 questions à l’assistant par employé et par mois. gpt-4o-mini : 0,15 $ le million de jetons en entrée, 0,60 $ en sortie (≈ 0,0005 $ par demande résumée, ≈ 0,001 $ par question).</a:t>
            </a:r>
            <a:endParaRPr lang="en-US" sz="12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A6373"/>
                </a:solidFill>
                <a:latin typeface="Arial"/>
                <a:ea typeface="Arial"/>
                <a:cs typeface="Aria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640080" y="457200"/>
            <a:ext cx="10911535" cy="731520"/>
          </a:xfrm>
          <a:prstGeom prst="rect">
            <a:avLst/>
          </a:prstGeom>
          <a:noFill/>
          <a:ln/>
        </p:spPr>
        <p:txBody>
          <a:bodyPr wrap="square" lIns="0" tIns="0" rIns="0" bIns="0" rtlCol="0" anchor="t"/>
          <a:lstStyle/>
          <a:p>
            <a:pPr algn="l" indent="0" marL="0">
              <a:buNone/>
            </a:pPr>
            <a:r>
              <a:rPr lang="en-US" sz="3200" b="1" dirty="0">
                <a:solidFill>
                  <a:srgbClr val="FFFFFF"/>
                </a:solidFill>
                <a:latin typeface="Arial" pitchFamily="34" charset="0"/>
                <a:ea typeface="Arial" pitchFamily="34" charset="-122"/>
                <a:cs typeface="Arial" pitchFamily="34" charset="-120"/>
              </a:rPr>
              <a:t>Plan de bascule ×100</a:t>
            </a:r>
            <a:endParaRPr lang="en-US" sz="3200" dirty="0"/>
          </a:p>
        </p:txBody>
      </p:sp>
      <p:sp>
        <p:nvSpPr>
          <p:cNvPr id="3" name="Text 0"/>
          <p:cNvSpPr/>
          <p:nvPr>
            <p:ph idx="101" type="body" hasCustomPrompt="1"/>
          </p:nvPr>
        </p:nvSpPr>
        <p:spPr>
          <a:xfrm>
            <a:off x="640080" y="1170432"/>
            <a:ext cx="10911535" cy="365760"/>
          </a:xfrm>
          <a:prstGeom prst="rect">
            <a:avLst/>
          </a:prstGeom>
          <a:noFill/>
          <a:ln/>
        </p:spPr>
        <p:txBody>
          <a:bodyPr wrap="square" lIns="0" tIns="0" rIns="0" bIns="0" rtlCol="0" anchor="ctr"/>
          <a:lstStyle/>
          <a:p>
            <a:pPr algn="l" indent="0" marL="0">
              <a:buNone/>
            </a:pPr>
            <a:r>
              <a:rPr lang="en-US" sz="1500" b="1" dirty="0">
                <a:solidFill>
                  <a:srgbClr val="FCA311"/>
                </a:solidFill>
                <a:latin typeface="Arial" pitchFamily="34" charset="0"/>
                <a:ea typeface="Arial" pitchFamily="34" charset="-122"/>
                <a:cs typeface="Arial" pitchFamily="34" charset="-120"/>
              </a:rPr>
              <a:t>Ce qui casserait en premier, et ce que nous ferions</a:t>
            </a:r>
            <a:endParaRPr lang="en-US" sz="1500" dirty="0"/>
          </a:p>
        </p:txBody>
      </p:sp>
      <p:sp>
        <p:nvSpPr>
          <p:cNvPr id="4" name="Envoi des mails"/>
          <p:cNvSpPr/>
          <p:nvPr/>
        </p:nvSpPr>
        <p:spPr>
          <a:xfrm>
            <a:off x="640080" y="1783080"/>
            <a:ext cx="2522144" cy="3977640"/>
          </a:xfrm>
          <a:prstGeom prst="roundRect">
            <a:avLst>
              <a:gd name="adj" fmla="val 2175"/>
            </a:avLst>
          </a:prstGeom>
          <a:solidFill>
            <a:srgbClr val="1F3160"/>
          </a:solidFill>
          <a:ln w="12700">
            <a:solidFill>
              <a:srgbClr val="1F3160"/>
            </a:solidFill>
            <a:prstDash val="solid"/>
          </a:ln>
        </p:spPr>
      </p:sp>
      <p:sp>
        <p:nvSpPr>
          <p:cNvPr id="5" name="Text 3"/>
          <p:cNvSpPr txBox="1"/>
          <p:nvPr/>
        </p:nvSpPr>
        <p:spPr>
          <a:xfrm>
            <a:off x="868680" y="1965960"/>
            <a:ext cx="2064944" cy="365760"/>
          </a:xfrm>
          <a:prstGeom prst="rect">
            <a:avLst/>
          </a:prstGeom>
          <a:noFill/>
          <a:ln/>
        </p:spPr>
        <p:txBody>
          <a:bodyPr wrap="square" lIns="0" tIns="0" rIns="0" bIns="0" rtlCol="0" anchor="t"/>
          <a:lstStyle/>
          <a:p>
            <a:pPr indent="0" marL="0">
              <a:buNone/>
            </a:pPr>
            <a:r>
              <a:rPr lang="en-US" sz="1700" b="1" dirty="0">
                <a:solidFill>
                  <a:srgbClr val="FFFFFF"/>
                </a:solidFill>
                <a:latin typeface="Arial" pitchFamily="34" charset="0"/>
                <a:ea typeface="Arial" pitchFamily="34" charset="-122"/>
                <a:cs typeface="Arial" pitchFamily="34" charset="-120"/>
              </a:rPr>
              <a:t>Envoi des mails</a:t>
            </a:r>
            <a:endParaRPr lang="en-US" sz="1700" dirty="0"/>
          </a:p>
        </p:txBody>
      </p:sp>
      <p:sp>
        <p:nvSpPr>
          <p:cNvPr id="6" name="Text 4"/>
          <p:cNvSpPr txBox="1"/>
          <p:nvPr/>
        </p:nvSpPr>
        <p:spPr>
          <a:xfrm>
            <a:off x="868680" y="2468880"/>
            <a:ext cx="2064944" cy="1417320"/>
          </a:xfrm>
          <a:prstGeom prst="rect">
            <a:avLst/>
          </a:prstGeom>
          <a:noFill/>
          <a:ln/>
        </p:spPr>
        <p:txBody>
          <a:bodyPr wrap="square" lIns="0" tIns="0" rIns="0" bIns="0" rtlCol="0" anchor="t"/>
          <a:lstStyle/>
          <a:p>
            <a:pPr indent="0" marL="0">
              <a:buNone/>
            </a:pPr>
            <a:r>
              <a:rPr lang="en-US" sz="1300" dirty="0">
                <a:solidFill>
                  <a:srgbClr val="C9D1DE"/>
                </a:solidFill>
                <a:latin typeface="Arial" pitchFamily="34" charset="0"/>
                <a:ea typeface="Arial" pitchFamily="34" charset="-122"/>
                <a:cs typeface="Arial" pitchFamily="34" charset="-120"/>
              </a:rPr>
              <a:t>Aujourd’hui 20 mails par minute : les pics de relances de 9 h prendraient du retard.</a:t>
            </a:r>
            <a:endParaRPr lang="en-US" sz="1300" dirty="0"/>
          </a:p>
        </p:txBody>
      </p:sp>
      <p:sp>
        <p:nvSpPr>
          <p:cNvPr id="7" name="Text 5"/>
          <p:cNvSpPr txBox="1"/>
          <p:nvPr/>
        </p:nvSpPr>
        <p:spPr>
          <a:xfrm>
            <a:off x="868680" y="4023360"/>
            <a:ext cx="2064944" cy="1600200"/>
          </a:xfrm>
          <a:prstGeom prst="rect">
            <a:avLst/>
          </a:prstGeom>
          <a:noFill/>
          <a:ln/>
        </p:spPr>
        <p:txBody>
          <a:bodyPr wrap="square" lIns="0" tIns="0" rIns="0" bIns="0" rtlCol="0" anchor="t"/>
          <a:lstStyle/>
          <a:p>
            <a:pPr indent="0" marL="0">
              <a:buNone/>
            </a:pPr>
            <a:r>
              <a:rPr lang="en-US" sz="1300" b="1" dirty="0">
                <a:solidFill>
                  <a:srgbClr val="FCA311"/>
                </a:solidFill>
                <a:latin typeface="Arial" pitchFamily="34" charset="0"/>
                <a:ea typeface="Arial" pitchFamily="34" charset="-122"/>
                <a:cs typeface="Arial" pitchFamily="34" charset="-120"/>
              </a:rPr>
              <a:t>Lots plus gros, envoi groupé Resend, domaine vérifié</a:t>
            </a:r>
            <a:endParaRPr lang="en-US" sz="1300" dirty="0"/>
          </a:p>
        </p:txBody>
      </p:sp>
      <p:sp>
        <p:nvSpPr>
          <p:cNvPr id="8" name="n8n"/>
          <p:cNvSpPr/>
          <p:nvPr/>
        </p:nvSpPr>
        <p:spPr>
          <a:xfrm>
            <a:off x="3436544" y="1783080"/>
            <a:ext cx="2522144" cy="3977640"/>
          </a:xfrm>
          <a:prstGeom prst="roundRect">
            <a:avLst>
              <a:gd name="adj" fmla="val 2175"/>
            </a:avLst>
          </a:prstGeom>
          <a:solidFill>
            <a:srgbClr val="1F3160"/>
          </a:solidFill>
          <a:ln w="12700">
            <a:solidFill>
              <a:srgbClr val="1F3160"/>
            </a:solidFill>
            <a:prstDash val="solid"/>
          </a:ln>
        </p:spPr>
      </p:sp>
      <p:sp>
        <p:nvSpPr>
          <p:cNvPr id="9" name="Text 7"/>
          <p:cNvSpPr txBox="1"/>
          <p:nvPr/>
        </p:nvSpPr>
        <p:spPr>
          <a:xfrm>
            <a:off x="3665144" y="1965960"/>
            <a:ext cx="2064944" cy="365760"/>
          </a:xfrm>
          <a:prstGeom prst="rect">
            <a:avLst/>
          </a:prstGeom>
          <a:noFill/>
          <a:ln/>
        </p:spPr>
        <p:txBody>
          <a:bodyPr wrap="square" lIns="0" tIns="0" rIns="0" bIns="0" rtlCol="0" anchor="t"/>
          <a:lstStyle/>
          <a:p>
            <a:pPr indent="0" marL="0">
              <a:buNone/>
            </a:pPr>
            <a:r>
              <a:rPr lang="en-US" sz="1700" b="1" dirty="0">
                <a:solidFill>
                  <a:srgbClr val="FFFFFF"/>
                </a:solidFill>
                <a:latin typeface="Arial" pitchFamily="34" charset="0"/>
                <a:ea typeface="Arial" pitchFamily="34" charset="-122"/>
                <a:cs typeface="Arial" pitchFamily="34" charset="-120"/>
              </a:rPr>
              <a:t>n8n</a:t>
            </a:r>
            <a:endParaRPr lang="en-US" sz="1700" dirty="0"/>
          </a:p>
        </p:txBody>
      </p:sp>
      <p:sp>
        <p:nvSpPr>
          <p:cNvPr id="10" name="Text 8"/>
          <p:cNvSpPr txBox="1"/>
          <p:nvPr/>
        </p:nvSpPr>
        <p:spPr>
          <a:xfrm>
            <a:off x="3665144" y="2468880"/>
            <a:ext cx="2064944" cy="1417320"/>
          </a:xfrm>
          <a:prstGeom prst="rect">
            <a:avLst/>
          </a:prstGeom>
          <a:noFill/>
          <a:ln/>
        </p:spPr>
        <p:txBody>
          <a:bodyPr wrap="square" lIns="0" tIns="0" rIns="0" bIns="0" rtlCol="0" anchor="t"/>
          <a:lstStyle/>
          <a:p>
            <a:pPr indent="0" marL="0">
              <a:buNone/>
            </a:pPr>
            <a:r>
              <a:rPr lang="en-US" sz="1300" dirty="0">
                <a:solidFill>
                  <a:srgbClr val="C9D1DE"/>
                </a:solidFill>
                <a:latin typeface="Arial" pitchFamily="34" charset="0"/>
                <a:ea typeface="Arial" pitchFamily="34" charset="-122"/>
                <a:cs typeface="Arial" pitchFamily="34" charset="-120"/>
              </a:rPr>
              <a:t>Une seule instance sur un PC : point de panne unique.</a:t>
            </a:r>
            <a:endParaRPr lang="en-US" sz="1300" dirty="0"/>
          </a:p>
        </p:txBody>
      </p:sp>
      <p:sp>
        <p:nvSpPr>
          <p:cNvPr id="11" name="Text 9"/>
          <p:cNvSpPr txBox="1"/>
          <p:nvPr/>
        </p:nvSpPr>
        <p:spPr>
          <a:xfrm>
            <a:off x="3665144" y="4023360"/>
            <a:ext cx="2064944" cy="1600200"/>
          </a:xfrm>
          <a:prstGeom prst="rect">
            <a:avLst/>
          </a:prstGeom>
          <a:noFill/>
          <a:ln/>
        </p:spPr>
        <p:txBody>
          <a:bodyPr wrap="square" lIns="0" tIns="0" rIns="0" bIns="0" rtlCol="0" anchor="t"/>
          <a:lstStyle/>
          <a:p>
            <a:pPr indent="0" marL="0">
              <a:buNone/>
            </a:pPr>
            <a:r>
              <a:rPr lang="en-US" sz="1300" b="1" dirty="0">
                <a:solidFill>
                  <a:srgbClr val="FCA311"/>
                </a:solidFill>
                <a:latin typeface="Arial" pitchFamily="34" charset="0"/>
                <a:ea typeface="Arial" pitchFamily="34" charset="-122"/>
                <a:cs typeface="Arial" pitchFamily="34" charset="-120"/>
              </a:rPr>
              <a:t>Hébergé, mode file d’attente avec plusieurs workers</a:t>
            </a:r>
            <a:endParaRPr lang="en-US" sz="1300" dirty="0"/>
          </a:p>
        </p:txBody>
      </p:sp>
      <p:sp>
        <p:nvSpPr>
          <p:cNvPr id="12" name="Site"/>
          <p:cNvSpPr/>
          <p:nvPr/>
        </p:nvSpPr>
        <p:spPr>
          <a:xfrm>
            <a:off x="6233008" y="1783080"/>
            <a:ext cx="2522144" cy="3977640"/>
          </a:xfrm>
          <a:prstGeom prst="roundRect">
            <a:avLst>
              <a:gd name="adj" fmla="val 2175"/>
            </a:avLst>
          </a:prstGeom>
          <a:solidFill>
            <a:srgbClr val="1F3160"/>
          </a:solidFill>
          <a:ln w="12700">
            <a:solidFill>
              <a:srgbClr val="1F3160"/>
            </a:solidFill>
            <a:prstDash val="solid"/>
          </a:ln>
        </p:spPr>
      </p:sp>
      <p:sp>
        <p:nvSpPr>
          <p:cNvPr id="13" name="Text 11"/>
          <p:cNvSpPr txBox="1"/>
          <p:nvPr/>
        </p:nvSpPr>
        <p:spPr>
          <a:xfrm>
            <a:off x="6461608" y="1965960"/>
            <a:ext cx="2064944" cy="365760"/>
          </a:xfrm>
          <a:prstGeom prst="rect">
            <a:avLst/>
          </a:prstGeom>
          <a:noFill/>
          <a:ln/>
        </p:spPr>
        <p:txBody>
          <a:bodyPr wrap="square" lIns="0" tIns="0" rIns="0" bIns="0" rtlCol="0" anchor="t"/>
          <a:lstStyle/>
          <a:p>
            <a:pPr indent="0" marL="0">
              <a:buNone/>
            </a:pPr>
            <a:r>
              <a:rPr lang="en-US" sz="1700" b="1" dirty="0">
                <a:solidFill>
                  <a:srgbClr val="FFFFFF"/>
                </a:solidFill>
                <a:latin typeface="Arial" pitchFamily="34" charset="0"/>
                <a:ea typeface="Arial" pitchFamily="34" charset="-122"/>
                <a:cs typeface="Arial" pitchFamily="34" charset="-120"/>
              </a:rPr>
              <a:t>Site</a:t>
            </a:r>
            <a:endParaRPr lang="en-US" sz="1700" dirty="0"/>
          </a:p>
        </p:txBody>
      </p:sp>
      <p:sp>
        <p:nvSpPr>
          <p:cNvPr id="14" name="Text 12"/>
          <p:cNvSpPr txBox="1"/>
          <p:nvPr/>
        </p:nvSpPr>
        <p:spPr>
          <a:xfrm>
            <a:off x="6461608" y="2468880"/>
            <a:ext cx="2064944" cy="1417320"/>
          </a:xfrm>
          <a:prstGeom prst="rect">
            <a:avLst/>
          </a:prstGeom>
          <a:noFill/>
          <a:ln/>
        </p:spPr>
        <p:txBody>
          <a:bodyPr wrap="square" lIns="0" tIns="0" rIns="0" bIns="0" rtlCol="0" anchor="t"/>
          <a:lstStyle/>
          <a:p>
            <a:pPr indent="0" marL="0">
              <a:buNone/>
            </a:pPr>
            <a:r>
              <a:rPr lang="en-US" sz="1300" dirty="0">
                <a:solidFill>
                  <a:srgbClr val="C9D1DE"/>
                </a:solidFill>
                <a:latin typeface="Arial" pitchFamily="34" charset="0"/>
                <a:ea typeface="Arial" pitchFamily="34" charset="-122"/>
                <a:cs typeface="Arial" pitchFamily="34" charset="-120"/>
              </a:rPr>
              <a:t>Une instance qui s’endort.</a:t>
            </a:r>
            <a:endParaRPr lang="en-US" sz="1300" dirty="0"/>
          </a:p>
        </p:txBody>
      </p:sp>
      <p:sp>
        <p:nvSpPr>
          <p:cNvPr id="15" name="Text 13"/>
          <p:cNvSpPr txBox="1"/>
          <p:nvPr/>
        </p:nvSpPr>
        <p:spPr>
          <a:xfrm>
            <a:off x="6461608" y="4023360"/>
            <a:ext cx="2064944" cy="1600200"/>
          </a:xfrm>
          <a:prstGeom prst="rect">
            <a:avLst/>
          </a:prstGeom>
          <a:noFill/>
          <a:ln/>
        </p:spPr>
        <p:txBody>
          <a:bodyPr wrap="square" lIns="0" tIns="0" rIns="0" bIns="0" rtlCol="0" anchor="t"/>
          <a:lstStyle/>
          <a:p>
            <a:pPr indent="0" marL="0">
              <a:buNone/>
            </a:pPr>
            <a:r>
              <a:rPr lang="en-US" sz="1300" b="1" dirty="0">
                <a:solidFill>
                  <a:srgbClr val="FCA311"/>
                </a:solidFill>
                <a:latin typeface="Arial" pitchFamily="34" charset="0"/>
                <a:ea typeface="Arial" pitchFamily="34" charset="-122"/>
                <a:cs typeface="Arial" pitchFamily="34" charset="-120"/>
              </a:rPr>
              <a:t>Plusieurs instances derrière le répartiteur ; les sessions sont déjà en base</a:t>
            </a:r>
            <a:endParaRPr lang="en-US" sz="1300" dirty="0"/>
          </a:p>
        </p:txBody>
      </p:sp>
      <p:sp>
        <p:nvSpPr>
          <p:cNvPr id="16" name="Base"/>
          <p:cNvSpPr/>
          <p:nvPr/>
        </p:nvSpPr>
        <p:spPr>
          <a:xfrm>
            <a:off x="9029471" y="1783080"/>
            <a:ext cx="2522144" cy="3977640"/>
          </a:xfrm>
          <a:prstGeom prst="roundRect">
            <a:avLst>
              <a:gd name="adj" fmla="val 2175"/>
            </a:avLst>
          </a:prstGeom>
          <a:solidFill>
            <a:srgbClr val="1F3160"/>
          </a:solidFill>
          <a:ln w="12700">
            <a:solidFill>
              <a:srgbClr val="1F3160"/>
            </a:solidFill>
            <a:prstDash val="solid"/>
          </a:ln>
        </p:spPr>
      </p:sp>
      <p:sp>
        <p:nvSpPr>
          <p:cNvPr id="17" name="Text 15"/>
          <p:cNvSpPr txBox="1"/>
          <p:nvPr/>
        </p:nvSpPr>
        <p:spPr>
          <a:xfrm>
            <a:off x="9258071" y="1965960"/>
            <a:ext cx="2064944" cy="365760"/>
          </a:xfrm>
          <a:prstGeom prst="rect">
            <a:avLst/>
          </a:prstGeom>
          <a:noFill/>
          <a:ln/>
        </p:spPr>
        <p:txBody>
          <a:bodyPr wrap="square" lIns="0" tIns="0" rIns="0" bIns="0" rtlCol="0" anchor="t"/>
          <a:lstStyle/>
          <a:p>
            <a:pPr indent="0" marL="0">
              <a:buNone/>
            </a:pPr>
            <a:r>
              <a:rPr lang="en-US" sz="1700" b="1" dirty="0">
                <a:solidFill>
                  <a:srgbClr val="FFFFFF"/>
                </a:solidFill>
                <a:latin typeface="Arial" pitchFamily="34" charset="0"/>
                <a:ea typeface="Arial" pitchFamily="34" charset="-122"/>
                <a:cs typeface="Arial" pitchFamily="34" charset="-120"/>
              </a:rPr>
              <a:t>Base</a:t>
            </a:r>
            <a:endParaRPr lang="en-US" sz="1700" dirty="0"/>
          </a:p>
        </p:txBody>
      </p:sp>
      <p:sp>
        <p:nvSpPr>
          <p:cNvPr id="18" name="Text 16"/>
          <p:cNvSpPr txBox="1"/>
          <p:nvPr/>
        </p:nvSpPr>
        <p:spPr>
          <a:xfrm>
            <a:off x="9258071" y="2468880"/>
            <a:ext cx="2064944" cy="1417320"/>
          </a:xfrm>
          <a:prstGeom prst="rect">
            <a:avLst/>
          </a:prstGeom>
          <a:noFill/>
          <a:ln/>
        </p:spPr>
        <p:txBody>
          <a:bodyPr wrap="square" lIns="0" tIns="0" rIns="0" bIns="0" rtlCol="0" anchor="t"/>
          <a:lstStyle/>
          <a:p>
            <a:pPr indent="0" marL="0">
              <a:buNone/>
            </a:pPr>
            <a:r>
              <a:rPr lang="en-US" sz="1300" dirty="0">
                <a:solidFill>
                  <a:srgbClr val="C9D1DE"/>
                </a:solidFill>
                <a:latin typeface="Arial" pitchFamily="34" charset="0"/>
                <a:ea typeface="Arial" pitchFamily="34" charset="-122"/>
                <a:cs typeface="Arial" pitchFamily="34" charset="-120"/>
              </a:rPr>
              <a:t>Le plan gratuit se met en pause et plafonne à 500 Mo.</a:t>
            </a:r>
            <a:endParaRPr lang="en-US" sz="1300" dirty="0"/>
          </a:p>
        </p:txBody>
      </p:sp>
      <p:sp>
        <p:nvSpPr>
          <p:cNvPr id="19" name="Text 17"/>
          <p:cNvSpPr txBox="1"/>
          <p:nvPr/>
        </p:nvSpPr>
        <p:spPr>
          <a:xfrm>
            <a:off x="9258071" y="4023360"/>
            <a:ext cx="2064944" cy="1600200"/>
          </a:xfrm>
          <a:prstGeom prst="rect">
            <a:avLst/>
          </a:prstGeom>
          <a:noFill/>
          <a:ln/>
        </p:spPr>
        <p:txBody>
          <a:bodyPr wrap="square" lIns="0" tIns="0" rIns="0" bIns="0" rtlCol="0" anchor="t"/>
          <a:lstStyle/>
          <a:p>
            <a:pPr indent="0" marL="0">
              <a:buNone/>
            </a:pPr>
            <a:r>
              <a:rPr lang="en-US" sz="1300" b="1" dirty="0">
                <a:solidFill>
                  <a:srgbClr val="FCA311"/>
                </a:solidFill>
                <a:latin typeface="Arial" pitchFamily="34" charset="0"/>
                <a:ea typeface="Arial" pitchFamily="34" charset="-122"/>
                <a:cs typeface="Arial" pitchFamily="34" charset="-120"/>
              </a:rPr>
              <a:t>Plan Pro ; index déjà en place ; purge hebdomadaire de l’historique</a:t>
            </a:r>
            <a:endParaRPr lang="en-US" sz="13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AA3B2"/>
                </a:solidFill>
                <a:latin typeface="Arial"/>
                <a:ea typeface="Arial"/>
                <a:cs typeface="Aria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640080" y="457200"/>
            <a:ext cx="10911535" cy="731520"/>
          </a:xfrm>
          <a:prstGeom prst="rect">
            <a:avLst/>
          </a:prstGeom>
          <a:noFill/>
          <a:ln/>
        </p:spPr>
        <p:txBody>
          <a:bodyPr wrap="square" lIns="0" tIns="0" rIns="0" bIns="0" rtlCol="0" anchor="t"/>
          <a:lstStyle/>
          <a:p>
            <a:pPr algn="l" indent="0" marL="0">
              <a:buNone/>
            </a:pPr>
            <a:r>
              <a:rPr lang="en-US" sz="3200" b="1" dirty="0">
                <a:solidFill>
                  <a:srgbClr val="14213D"/>
                </a:solidFill>
                <a:latin typeface="Arial" pitchFamily="34" charset="0"/>
                <a:ea typeface="Arial" pitchFamily="34" charset="-122"/>
                <a:cs typeface="Arial" pitchFamily="34" charset="-120"/>
              </a:rPr>
              <a:t>La suite</a:t>
            </a:r>
            <a:endParaRPr lang="en-US" sz="3200" dirty="0"/>
          </a:p>
        </p:txBody>
      </p:sp>
      <p:sp>
        <p:nvSpPr>
          <p:cNvPr id="3" name="Text 0"/>
          <p:cNvSpPr/>
          <p:nvPr>
            <p:ph idx="101" type="body" hasCustomPrompt="1"/>
          </p:nvPr>
        </p:nvSpPr>
        <p:spPr>
          <a:xfrm>
            <a:off x="640080" y="1170432"/>
            <a:ext cx="10911535" cy="365760"/>
          </a:xfrm>
          <a:prstGeom prst="rect">
            <a:avLst/>
          </a:prstGeom>
          <a:noFill/>
          <a:ln/>
        </p:spPr>
        <p:txBody>
          <a:bodyPr wrap="square" lIns="0" tIns="0" rIns="0" bIns="0" rtlCol="0" anchor="ctr"/>
          <a:lstStyle/>
          <a:p>
            <a:pPr algn="l" indent="0" marL="0">
              <a:buNone/>
            </a:pPr>
            <a:r>
              <a:rPr lang="en-US" sz="1500" b="1" dirty="0">
                <a:solidFill>
                  <a:srgbClr val="B45F06"/>
                </a:solidFill>
                <a:latin typeface="Arial" pitchFamily="34" charset="0"/>
                <a:ea typeface="Arial" pitchFamily="34" charset="-122"/>
                <a:cs typeface="Arial" pitchFamily="34" charset="-120"/>
              </a:rPr>
              <a:t>Ce qui est fait, et ce qu’il reste avant une vraie mise en service</a:t>
            </a:r>
            <a:endParaRPr lang="en-US" sz="1500" dirty="0"/>
          </a:p>
        </p:txBody>
      </p:sp>
      <p:sp>
        <p:nvSpPr>
          <p:cNvPr id="4" name="Fait"/>
          <p:cNvSpPr/>
          <p:nvPr/>
        </p:nvSpPr>
        <p:spPr>
          <a:xfrm>
            <a:off x="640080" y="1783080"/>
            <a:ext cx="2522144" cy="3566160"/>
          </a:xfrm>
          <a:prstGeom prst="roundRect">
            <a:avLst>
              <a:gd name="adj" fmla="val 2175"/>
            </a:avLst>
          </a:prstGeom>
          <a:solidFill>
            <a:srgbClr val="14213D"/>
          </a:solidFill>
          <a:ln w="12700">
            <a:solidFill>
              <a:srgbClr val="14213D"/>
            </a:solidFill>
            <a:prstDash val="solid"/>
          </a:ln>
        </p:spPr>
      </p:sp>
      <p:sp>
        <p:nvSpPr>
          <p:cNvPr id="5" name="Text 3"/>
          <p:cNvSpPr txBox="1"/>
          <p:nvPr/>
        </p:nvSpPr>
        <p:spPr>
          <a:xfrm>
            <a:off x="868680" y="1965960"/>
            <a:ext cx="2064944" cy="594360"/>
          </a:xfrm>
          <a:prstGeom prst="rect">
            <a:avLst/>
          </a:prstGeom>
          <a:noFill/>
          <a:ln/>
        </p:spPr>
        <p:txBody>
          <a:bodyPr wrap="square" lIns="0" tIns="0" rIns="0" bIns="0" rtlCol="0" anchor="t"/>
          <a:lstStyle/>
          <a:p>
            <a:pPr indent="0" marL="0">
              <a:buNone/>
            </a:pPr>
            <a:r>
              <a:rPr lang="en-US" sz="1600" b="1" dirty="0">
                <a:solidFill>
                  <a:srgbClr val="FCA311"/>
                </a:solidFill>
                <a:latin typeface="Arial" pitchFamily="34" charset="0"/>
                <a:ea typeface="Arial" pitchFamily="34" charset="-122"/>
                <a:cs typeface="Arial" pitchFamily="34" charset="-120"/>
              </a:rPr>
              <a:t>Fait</a:t>
            </a:r>
            <a:endParaRPr lang="en-US" sz="1600" dirty="0"/>
          </a:p>
        </p:txBody>
      </p:sp>
      <p:sp>
        <p:nvSpPr>
          <p:cNvPr id="6" name="Text 4"/>
          <p:cNvSpPr txBox="1"/>
          <p:nvPr/>
        </p:nvSpPr>
        <p:spPr>
          <a:xfrm>
            <a:off x="868680" y="2651760"/>
            <a:ext cx="2064944" cy="2560320"/>
          </a:xfrm>
          <a:prstGeom prst="rect">
            <a:avLst/>
          </a:prstGeom>
          <a:noFill/>
          <a:ln/>
        </p:spPr>
        <p:txBody>
          <a:bodyPr wrap="square" lIns="0" tIns="0" rIns="0" bIns="0" rtlCol="0" anchor="t"/>
          <a:lstStyle/>
          <a:p>
            <a:pPr marL="177800" indent="-177800">
              <a:spcAft>
                <a:spcPts val="500"/>
              </a:spcAft>
              <a:buSzPct val="100000"/>
              <a:buChar char="•"/>
            </a:pPr>
            <a:r>
              <a:rPr lang="en-US" sz="1450" dirty="0">
                <a:solidFill>
                  <a:srgbClr val="FFFFFF"/>
                </a:solidFill>
                <a:latin typeface="Arial" pitchFamily="34" charset="0"/>
                <a:ea typeface="Arial" pitchFamily="34" charset="-122"/>
                <a:cs typeface="Arial" pitchFamily="34" charset="-120"/>
              </a:rPr>
              <a:t>Scénarios S1 à S5</a:t>
            </a:r>
            <a:endParaRPr lang="en-US" sz="1450" dirty="0"/>
          </a:p>
          <a:p>
            <a:pPr marL="177800" indent="-177800">
              <a:spcAft>
                <a:spcPts val="500"/>
              </a:spcAft>
              <a:buSzPct val="100000"/>
              <a:buChar char="•"/>
            </a:pPr>
            <a:r>
              <a:rPr lang="en-US" sz="1450" dirty="0">
                <a:solidFill>
                  <a:srgbClr val="FFFFFF"/>
                </a:solidFill>
                <a:latin typeface="Arial" pitchFamily="34" charset="0"/>
                <a:ea typeface="Arial" pitchFamily="34" charset="-122"/>
                <a:cs typeface="Arial" pitchFamily="34" charset="-120"/>
              </a:rPr>
              <a:t>Circuit, relances, délais</a:t>
            </a:r>
            <a:endParaRPr lang="en-US" sz="1450" dirty="0"/>
          </a:p>
          <a:p>
            <a:pPr marL="177800" indent="-177800">
              <a:spcAft>
                <a:spcPts val="500"/>
              </a:spcAft>
              <a:buSzPct val="100000"/>
              <a:buChar char="•"/>
            </a:pPr>
            <a:r>
              <a:rPr lang="en-US" sz="1450" dirty="0">
                <a:solidFill>
                  <a:srgbClr val="FFFFFF"/>
                </a:solidFill>
                <a:latin typeface="Arial" pitchFamily="34" charset="0"/>
                <a:ea typeface="Arial" pitchFamily="34" charset="-122"/>
                <a:cs typeface="Arial" pitchFamily="34" charset="-120"/>
              </a:rPr>
              <a:t>IA : résumé, brouillon, assistant</a:t>
            </a:r>
            <a:endParaRPr lang="en-US" sz="1450" dirty="0"/>
          </a:p>
          <a:p>
            <a:pPr marL="177800" indent="-177800">
              <a:spcAft>
                <a:spcPts val="500"/>
              </a:spcAft>
              <a:buSzPct val="100000"/>
              <a:buChar char="•"/>
            </a:pPr>
            <a:r>
              <a:rPr lang="en-US" sz="1450" dirty="0">
                <a:solidFill>
                  <a:srgbClr val="FFFFFF"/>
                </a:solidFill>
                <a:latin typeface="Arial" pitchFamily="34" charset="0"/>
                <a:ea typeface="Arial" pitchFamily="34" charset="-122"/>
                <a:cs typeface="Arial" pitchFamily="34" charset="-120"/>
              </a:rPr>
              <a:t>Recette complète, CI</a:t>
            </a:r>
            <a:endParaRPr lang="en-US" sz="1450" dirty="0"/>
          </a:p>
          <a:p>
            <a:pPr marL="177800" indent="-177800">
              <a:spcAft>
                <a:spcPts val="500"/>
              </a:spcAft>
              <a:buSzPct val="100000"/>
              <a:buChar char="•"/>
            </a:pPr>
            <a:r>
              <a:rPr lang="en-US" sz="1450" dirty="0">
                <a:solidFill>
                  <a:srgbClr val="FFFFFF"/>
                </a:solidFill>
                <a:latin typeface="Arial" pitchFamily="34" charset="0"/>
                <a:ea typeface="Arial" pitchFamily="34" charset="-122"/>
                <a:cs typeface="Arial" pitchFamily="34" charset="-120"/>
              </a:rPr>
              <a:t>Site en ligne</a:t>
            </a:r>
            <a:endParaRPr lang="en-US" sz="1450" dirty="0"/>
          </a:p>
        </p:txBody>
      </p:sp>
      <p:sp>
        <p:nvSpPr>
          <p:cNvPr id="7" name="Avant la mise en service"/>
          <p:cNvSpPr/>
          <p:nvPr/>
        </p:nvSpPr>
        <p:spPr>
          <a:xfrm>
            <a:off x="3436544" y="1783080"/>
            <a:ext cx="2522144" cy="3566160"/>
          </a:xfrm>
          <a:prstGeom prst="roundRect">
            <a:avLst>
              <a:gd name="adj" fmla="val 2175"/>
            </a:avLst>
          </a:prstGeom>
          <a:solidFill>
            <a:srgbClr val="FCA311"/>
          </a:solidFill>
          <a:ln w="12700">
            <a:solidFill>
              <a:srgbClr val="FCA311"/>
            </a:solidFill>
            <a:prstDash val="solid"/>
          </a:ln>
        </p:spPr>
      </p:sp>
      <p:sp>
        <p:nvSpPr>
          <p:cNvPr id="8" name="Text 6"/>
          <p:cNvSpPr txBox="1"/>
          <p:nvPr/>
        </p:nvSpPr>
        <p:spPr>
          <a:xfrm>
            <a:off x="3665144" y="1965960"/>
            <a:ext cx="2064944" cy="594360"/>
          </a:xfrm>
          <a:prstGeom prst="rect">
            <a:avLst/>
          </a:prstGeom>
          <a:noFill/>
          <a:ln/>
        </p:spPr>
        <p:txBody>
          <a:bodyPr wrap="square" lIns="0" tIns="0" rIns="0" bIns="0" rtlCol="0" anchor="t"/>
          <a:lstStyle/>
          <a:p>
            <a:pPr indent="0" marL="0">
              <a:buNone/>
            </a:pPr>
            <a:r>
              <a:rPr lang="en-US" sz="1600" b="1" dirty="0">
                <a:solidFill>
                  <a:srgbClr val="14213D"/>
                </a:solidFill>
                <a:latin typeface="Arial" pitchFamily="34" charset="0"/>
                <a:ea typeface="Arial" pitchFamily="34" charset="-122"/>
                <a:cs typeface="Arial" pitchFamily="34" charset="-120"/>
              </a:rPr>
              <a:t>Avant la mise en service</a:t>
            </a:r>
            <a:endParaRPr lang="en-US" sz="1600" dirty="0"/>
          </a:p>
        </p:txBody>
      </p:sp>
      <p:sp>
        <p:nvSpPr>
          <p:cNvPr id="9" name="Text 7"/>
          <p:cNvSpPr txBox="1"/>
          <p:nvPr/>
        </p:nvSpPr>
        <p:spPr>
          <a:xfrm>
            <a:off x="3665144" y="2651760"/>
            <a:ext cx="2064944" cy="2560320"/>
          </a:xfrm>
          <a:prstGeom prst="rect">
            <a:avLst/>
          </a:prstGeom>
          <a:noFill/>
          <a:ln/>
        </p:spPr>
        <p:txBody>
          <a:bodyPr wrap="square" lIns="0" tIns="0" rIns="0" bIns="0" rtlCol="0" anchor="t"/>
          <a:lstStyle/>
          <a:p>
            <a:pPr marL="177800" indent="-177800">
              <a:spcAft>
                <a:spcPts val="500"/>
              </a:spcAft>
              <a:buSzPct val="100000"/>
              <a:buChar char="•"/>
            </a:pPr>
            <a:r>
              <a:rPr lang="en-US" sz="1450" dirty="0">
                <a:solidFill>
                  <a:srgbClr val="14213D"/>
                </a:solidFill>
                <a:latin typeface="Arial" pitchFamily="34" charset="0"/>
                <a:ea typeface="Arial" pitchFamily="34" charset="-122"/>
                <a:cs typeface="Arial" pitchFamily="34" charset="-120"/>
              </a:rPr>
              <a:t>Héberger n8n</a:t>
            </a:r>
            <a:endParaRPr lang="en-US" sz="1450" dirty="0"/>
          </a:p>
          <a:p>
            <a:pPr marL="177800" indent="-177800">
              <a:spcAft>
                <a:spcPts val="500"/>
              </a:spcAft>
              <a:buSzPct val="100000"/>
              <a:buChar char="•"/>
            </a:pPr>
            <a:r>
              <a:rPr lang="en-US" sz="1450" dirty="0">
                <a:solidFill>
                  <a:srgbClr val="14213D"/>
                </a:solidFill>
                <a:latin typeface="Arial" pitchFamily="34" charset="0"/>
                <a:ea typeface="Arial" pitchFamily="34" charset="-122"/>
                <a:cs typeface="Arial" pitchFamily="34" charset="-120"/>
              </a:rPr>
              <a:t>Domaine d’envoi vérifié, fin du mode test des mails</a:t>
            </a:r>
            <a:endParaRPr lang="en-US" sz="1450" dirty="0"/>
          </a:p>
          <a:p>
            <a:pPr marL="177800" indent="-177800">
              <a:spcAft>
                <a:spcPts val="500"/>
              </a:spcAft>
              <a:buSzPct val="100000"/>
              <a:buChar char="•"/>
            </a:pPr>
            <a:r>
              <a:rPr lang="en-US" sz="1450" dirty="0">
                <a:solidFill>
                  <a:srgbClr val="14213D"/>
                </a:solidFill>
                <a:latin typeface="Arial" pitchFamily="34" charset="0"/>
                <a:ea typeface="Arial" pitchFamily="34" charset="-122"/>
                <a:cs typeface="Arial" pitchFamily="34" charset="-120"/>
              </a:rPr>
              <a:t>Render sans mise en veille</a:t>
            </a:r>
            <a:endParaRPr lang="en-US" sz="1450" dirty="0"/>
          </a:p>
        </p:txBody>
      </p:sp>
      <p:sp>
        <p:nvSpPr>
          <p:cNvPr id="10" name="Ensuite"/>
          <p:cNvSpPr/>
          <p:nvPr/>
        </p:nvSpPr>
        <p:spPr>
          <a:xfrm>
            <a:off x="6233008" y="1783080"/>
            <a:ext cx="2522144" cy="3566160"/>
          </a:xfrm>
          <a:prstGeom prst="roundRect">
            <a:avLst>
              <a:gd name="adj" fmla="val 2175"/>
            </a:avLst>
          </a:prstGeom>
          <a:solidFill>
            <a:srgbClr val="E6E2D8"/>
          </a:solidFill>
          <a:ln w="12700">
            <a:solidFill>
              <a:srgbClr val="E6E2D8"/>
            </a:solidFill>
            <a:prstDash val="solid"/>
          </a:ln>
        </p:spPr>
      </p:sp>
      <p:sp>
        <p:nvSpPr>
          <p:cNvPr id="11" name="Text 9"/>
          <p:cNvSpPr txBox="1"/>
          <p:nvPr/>
        </p:nvSpPr>
        <p:spPr>
          <a:xfrm>
            <a:off x="6461608" y="1965960"/>
            <a:ext cx="2064944" cy="594360"/>
          </a:xfrm>
          <a:prstGeom prst="rect">
            <a:avLst/>
          </a:prstGeom>
          <a:noFill/>
          <a:ln/>
        </p:spPr>
        <p:txBody>
          <a:bodyPr wrap="square" lIns="0" tIns="0" rIns="0" bIns="0" rtlCol="0" anchor="t"/>
          <a:lstStyle/>
          <a:p>
            <a:pPr indent="0" marL="0">
              <a:buNone/>
            </a:pPr>
            <a:r>
              <a:rPr lang="en-US" sz="1600" b="1" dirty="0">
                <a:solidFill>
                  <a:srgbClr val="14213D"/>
                </a:solidFill>
                <a:latin typeface="Arial" pitchFamily="34" charset="0"/>
                <a:ea typeface="Arial" pitchFamily="34" charset="-122"/>
                <a:cs typeface="Arial" pitchFamily="34" charset="-120"/>
              </a:rPr>
              <a:t>Ensuite</a:t>
            </a:r>
            <a:endParaRPr lang="en-US" sz="1600" dirty="0"/>
          </a:p>
        </p:txBody>
      </p:sp>
      <p:sp>
        <p:nvSpPr>
          <p:cNvPr id="12" name="Text 10"/>
          <p:cNvSpPr txBox="1"/>
          <p:nvPr/>
        </p:nvSpPr>
        <p:spPr>
          <a:xfrm>
            <a:off x="6461608" y="2651760"/>
            <a:ext cx="2064944" cy="2560320"/>
          </a:xfrm>
          <a:prstGeom prst="rect">
            <a:avLst/>
          </a:prstGeom>
          <a:noFill/>
          <a:ln/>
        </p:spPr>
        <p:txBody>
          <a:bodyPr wrap="square" lIns="0" tIns="0" rIns="0" bIns="0" rtlCol="0" anchor="t"/>
          <a:lstStyle/>
          <a:p>
            <a:pPr marL="177800" indent="-177800">
              <a:spcAft>
                <a:spcPts val="500"/>
              </a:spcAft>
              <a:buSzPct val="100000"/>
              <a:buChar char="•"/>
            </a:pPr>
            <a:r>
              <a:rPr lang="en-US" sz="1450" dirty="0">
                <a:solidFill>
                  <a:srgbClr val="14213D"/>
                </a:solidFill>
                <a:latin typeface="Arial" pitchFamily="34" charset="0"/>
                <a:ea typeface="Arial" pitchFamily="34" charset="-122"/>
                <a:cs typeface="Arial" pitchFamily="34" charset="-120"/>
              </a:rPr>
              <a:t>Unifier nos deux schémas de base</a:t>
            </a:r>
            <a:endParaRPr lang="en-US" sz="1450" dirty="0"/>
          </a:p>
          <a:p>
            <a:pPr marL="177800" indent="-177800">
              <a:spcAft>
                <a:spcPts val="500"/>
              </a:spcAft>
              <a:buSzPct val="100000"/>
              <a:buChar char="•"/>
            </a:pPr>
            <a:r>
              <a:rPr lang="en-US" sz="1450" dirty="0">
                <a:solidFill>
                  <a:srgbClr val="14213D"/>
                </a:solidFill>
                <a:latin typeface="Arial" pitchFamily="34" charset="0"/>
                <a:ea typeface="Arial" pitchFamily="34" charset="-122"/>
                <a:cs typeface="Arial" pitchFamily="34" charset="-120"/>
              </a:rPr>
              <a:t>Étendre l’appli Flutter</a:t>
            </a:r>
            <a:endParaRPr lang="en-US" sz="1450" dirty="0"/>
          </a:p>
          <a:p>
            <a:pPr marL="177800" indent="-177800">
              <a:spcAft>
                <a:spcPts val="500"/>
              </a:spcAft>
              <a:buSzPct val="100000"/>
              <a:buChar char="•"/>
            </a:pPr>
            <a:r>
              <a:rPr lang="en-US" sz="1450" dirty="0">
                <a:solidFill>
                  <a:srgbClr val="14213D"/>
                </a:solidFill>
                <a:latin typeface="Arial" pitchFamily="34" charset="0"/>
                <a:ea typeface="Arial" pitchFamily="34" charset="-122"/>
                <a:cs typeface="Arial" pitchFamily="34" charset="-120"/>
              </a:rPr>
              <a:t>Lire les réponses aux mails des managers</a:t>
            </a:r>
            <a:endParaRPr lang="en-US" sz="1450" dirty="0"/>
          </a:p>
        </p:txBody>
      </p:sp>
      <p:sp>
        <p:nvSpPr>
          <p:cNvPr id="13" name="À décider avec la RH"/>
          <p:cNvSpPr/>
          <p:nvPr/>
        </p:nvSpPr>
        <p:spPr>
          <a:xfrm>
            <a:off x="9029471" y="1783080"/>
            <a:ext cx="2522144" cy="3566160"/>
          </a:xfrm>
          <a:prstGeom prst="roundRect">
            <a:avLst>
              <a:gd name="adj" fmla="val 2175"/>
            </a:avLst>
          </a:prstGeom>
          <a:solidFill>
            <a:srgbClr val="E6E2D8"/>
          </a:solidFill>
          <a:ln w="12700">
            <a:solidFill>
              <a:srgbClr val="E6E2D8"/>
            </a:solidFill>
            <a:prstDash val="solid"/>
          </a:ln>
        </p:spPr>
      </p:sp>
      <p:sp>
        <p:nvSpPr>
          <p:cNvPr id="14" name="Text 12"/>
          <p:cNvSpPr txBox="1"/>
          <p:nvPr/>
        </p:nvSpPr>
        <p:spPr>
          <a:xfrm>
            <a:off x="9258071" y="1965960"/>
            <a:ext cx="2064944" cy="594360"/>
          </a:xfrm>
          <a:prstGeom prst="rect">
            <a:avLst/>
          </a:prstGeom>
          <a:noFill/>
          <a:ln/>
        </p:spPr>
        <p:txBody>
          <a:bodyPr wrap="square" lIns="0" tIns="0" rIns="0" bIns="0" rtlCol="0" anchor="t"/>
          <a:lstStyle/>
          <a:p>
            <a:pPr indent="0" marL="0">
              <a:buNone/>
            </a:pPr>
            <a:r>
              <a:rPr lang="en-US" sz="1600" b="1" dirty="0">
                <a:solidFill>
                  <a:srgbClr val="14213D"/>
                </a:solidFill>
                <a:latin typeface="Arial" pitchFamily="34" charset="0"/>
                <a:ea typeface="Arial" pitchFamily="34" charset="-122"/>
                <a:cs typeface="Arial" pitchFamily="34" charset="-120"/>
              </a:rPr>
              <a:t>À décider avec la RH</a:t>
            </a:r>
            <a:endParaRPr lang="en-US" sz="1600" dirty="0"/>
          </a:p>
        </p:txBody>
      </p:sp>
      <p:sp>
        <p:nvSpPr>
          <p:cNvPr id="15" name="Text 13"/>
          <p:cNvSpPr txBox="1"/>
          <p:nvPr/>
        </p:nvSpPr>
        <p:spPr>
          <a:xfrm>
            <a:off x="9258071" y="2651760"/>
            <a:ext cx="2064944" cy="2560320"/>
          </a:xfrm>
          <a:prstGeom prst="rect">
            <a:avLst/>
          </a:prstGeom>
          <a:noFill/>
          <a:ln/>
        </p:spPr>
        <p:txBody>
          <a:bodyPr wrap="square" lIns="0" tIns="0" rIns="0" bIns="0" rtlCol="0" anchor="t"/>
          <a:lstStyle/>
          <a:p>
            <a:pPr marL="177800" indent="-177800">
              <a:spcAft>
                <a:spcPts val="500"/>
              </a:spcAft>
              <a:buSzPct val="100000"/>
              <a:buChar char="•"/>
            </a:pPr>
            <a:r>
              <a:rPr lang="en-US" sz="1450" dirty="0">
                <a:solidFill>
                  <a:srgbClr val="14213D"/>
                </a:solidFill>
                <a:latin typeface="Arial" pitchFamily="34" charset="0"/>
                <a:ea typeface="Arial" pitchFamily="34" charset="-122"/>
                <a:cs typeface="Arial" pitchFamily="34" charset="-120"/>
              </a:rPr>
              <a:t>Valider les délais par type (déjà réglables)</a:t>
            </a:r>
            <a:endParaRPr lang="en-US" sz="1450" dirty="0"/>
          </a:p>
          <a:p>
            <a:pPr marL="177800" indent="-177800">
              <a:spcAft>
                <a:spcPts val="500"/>
              </a:spcAft>
              <a:buSzPct val="100000"/>
              <a:buChar char="•"/>
            </a:pPr>
            <a:r>
              <a:rPr lang="en-US" sz="1450" dirty="0">
                <a:solidFill>
                  <a:srgbClr val="14213D"/>
                </a:solidFill>
                <a:latin typeface="Arial" pitchFamily="34" charset="0"/>
                <a:ea typeface="Arial" pitchFamily="34" charset="-122"/>
                <a:cs typeface="Arial" pitchFamily="34" charset="-120"/>
              </a:rPr>
              <a:t>Durée de conservation de l’historique et des pièces jointes</a:t>
            </a:r>
            <a:endParaRPr lang="en-US" sz="145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A6373"/>
                </a:solidFill>
                <a:latin typeface="Arial"/>
                <a:ea typeface="Arial"/>
                <a:cs typeface="Aria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640080" y="640080"/>
            <a:ext cx="10911535" cy="731520"/>
          </a:xfrm>
          <a:prstGeom prst="rect">
            <a:avLst/>
          </a:prstGeom>
          <a:noFill/>
          <a:ln/>
        </p:spPr>
        <p:txBody>
          <a:bodyPr wrap="square" lIns="0" tIns="0" rIns="0" bIns="0" rtlCol="0" anchor="ctr"/>
          <a:lstStyle/>
          <a:p>
            <a:pPr indent="0" marL="0">
              <a:buNone/>
            </a:pPr>
            <a:r>
              <a:rPr lang="en-US" sz="3400" b="1" dirty="0">
                <a:solidFill>
                  <a:srgbClr val="14213D"/>
                </a:solidFill>
                <a:latin typeface="Arial" pitchFamily="34" charset="0"/>
                <a:ea typeface="Arial" pitchFamily="34" charset="-122"/>
                <a:cs typeface="Arial" pitchFamily="34" charset="-120"/>
              </a:rPr>
              <a:t>À retenir</a:t>
            </a:r>
            <a:endParaRPr lang="en-US" sz="3400" dirty="0"/>
          </a:p>
        </p:txBody>
      </p:sp>
      <p:sp>
        <p:nvSpPr>
          <p:cNvPr id="3" name="Text 1"/>
          <p:cNvSpPr txBox="1"/>
          <p:nvPr/>
        </p:nvSpPr>
        <p:spPr>
          <a:xfrm>
            <a:off x="640080" y="1691640"/>
            <a:ext cx="9997135" cy="3840480"/>
          </a:xfrm>
          <a:prstGeom prst="rect">
            <a:avLst/>
          </a:prstGeom>
          <a:noFill/>
          <a:ln/>
        </p:spPr>
        <p:txBody>
          <a:bodyPr wrap="square" lIns="0" tIns="0" rIns="0" bIns="0" rtlCol="0" anchor="t"/>
          <a:lstStyle/>
          <a:p>
            <a:pPr marL="228600" indent="-228600">
              <a:spcAft>
                <a:spcPts val="1600"/>
              </a:spcAft>
              <a:buSzPct val="100000"/>
              <a:buChar char="•"/>
            </a:pPr>
            <a:r>
              <a:rPr lang="en-US" sz="2000" dirty="0">
                <a:solidFill>
                  <a:srgbClr val="14213D"/>
                </a:solidFill>
                <a:latin typeface="Arial" pitchFamily="34" charset="0"/>
                <a:ea typeface="Arial" pitchFamily="34" charset="-122"/>
                <a:cs typeface="Arial" pitchFamily="34" charset="-120"/>
              </a:rPr>
              <a:t>Une demande n’est plus un mail : c’est un enregistrement tracé, avec une échéance, des relances et une décision en un clic.</a:t>
            </a:r>
            <a:endParaRPr lang="en-US" sz="2000" dirty="0"/>
          </a:p>
          <a:p>
            <a:pPr marL="228600" indent="-228600">
              <a:spcAft>
                <a:spcPts val="1600"/>
              </a:spcAft>
              <a:buSzPct val="100000"/>
              <a:buChar char="•"/>
            </a:pPr>
            <a:r>
              <a:rPr lang="en-US" sz="2000" dirty="0">
                <a:solidFill>
                  <a:srgbClr val="14213D"/>
                </a:solidFill>
                <a:latin typeface="Arial" pitchFamily="34" charset="0"/>
                <a:ea typeface="Arial" pitchFamily="34" charset="-122"/>
                <a:cs typeface="Arial" pitchFamily="34" charset="-120"/>
              </a:rPr>
              <a:t>Les règles vivent dans la base : elles s’appliquent partout et sont prouvées par 124 tests SQL rejouables.</a:t>
            </a:r>
            <a:endParaRPr lang="en-US" sz="2000" dirty="0"/>
          </a:p>
          <a:p>
            <a:pPr marL="228600" indent="-228600">
              <a:spcAft>
                <a:spcPts val="1600"/>
              </a:spcAft>
              <a:buSzPct val="100000"/>
              <a:buChar char="•"/>
            </a:pPr>
            <a:r>
              <a:rPr lang="en-US" sz="2000" dirty="0">
                <a:solidFill>
                  <a:srgbClr val="14213D"/>
                </a:solidFill>
                <a:latin typeface="Arial" pitchFamily="34" charset="0"/>
                <a:ea typeface="Arial" pitchFamily="34" charset="-122"/>
                <a:cs typeface="Arial" pitchFamily="34" charset="-120"/>
              </a:rPr>
              <a:t>L’IA propose, l’humain décide : résumé, brouillon et assistant RH, sans aucun droit d’écriture pour l’agent.</a:t>
            </a:r>
            <a:endParaRPr lang="en-US" sz="2000" dirty="0"/>
          </a:p>
          <a:p>
            <a:pPr marL="228600" indent="-228600">
              <a:spcAft>
                <a:spcPts val="1600"/>
              </a:spcAft>
              <a:buSzPct val="100000"/>
              <a:buChar char="•"/>
            </a:pPr>
            <a:r>
              <a:rPr lang="en-US" sz="2000" dirty="0">
                <a:solidFill>
                  <a:srgbClr val="14213D"/>
                </a:solidFill>
                <a:latin typeface="Arial" pitchFamily="34" charset="0"/>
                <a:ea typeface="Arial" pitchFamily="34" charset="-122"/>
                <a:cs typeface="Arial" pitchFamily="34" charset="-120"/>
              </a:rPr>
              <a:t>En ligne gratuitement aujourd’hui ; ≈ 40 $ / mois en service ; ≈ 325 $ / mois à ×100.</a:t>
            </a:r>
            <a:endParaRPr lang="en-US" sz="2000" dirty="0"/>
          </a:p>
        </p:txBody>
      </p:sp>
      <p:sp>
        <p:nvSpPr>
          <p:cNvPr id="4" name="Text 2"/>
          <p:cNvSpPr txBox="1"/>
          <p:nvPr/>
        </p:nvSpPr>
        <p:spPr>
          <a:xfrm>
            <a:off x="640080" y="5760720"/>
            <a:ext cx="5486400" cy="411480"/>
          </a:xfrm>
          <a:prstGeom prst="rect">
            <a:avLst/>
          </a:prstGeom>
          <a:noFill/>
          <a:ln/>
        </p:spPr>
        <p:txBody>
          <a:bodyPr wrap="square" lIns="0" tIns="0" rIns="0" bIns="0" rtlCol="0" anchor="t"/>
          <a:lstStyle/>
          <a:p>
            <a:pPr indent="0" marL="0">
              <a:buNone/>
            </a:pPr>
            <a:r>
              <a:rPr lang="en-US" sz="1800" b="1" dirty="0">
                <a:solidFill>
                  <a:srgbClr val="14213D"/>
                </a:solidFill>
                <a:latin typeface="Arial" pitchFamily="34" charset="0"/>
                <a:ea typeface="Arial" pitchFamily="34" charset="-122"/>
                <a:cs typeface="Arial" pitchFamily="34" charset="-120"/>
              </a:rPr>
              <a:t>Merci. Vos questions ?</a:t>
            </a:r>
            <a:endParaRPr lang="en-US" sz="18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14213D"/>
                </a:solidFill>
                <a:latin typeface="Arial"/>
                <a:ea typeface="Arial"/>
                <a:cs typeface="Arial"/>
              </a:defRPr>
            </a:lvl1pPr>
          </a:lstStyle>
          <a:p>
            <a:pPr algn="r"/>
            <a:fld id="{F7021451-1387-4CA6-816F-3879F97B5CBC}" type="slidenum">
              <a:rPr b="0" lang="en-US"/>
              <a:t>14</a:t>
            </a:fld>
            <a:endParaRPr lang="en-US"/>
          </a:p>
        </p:txBody>
      </p:sp>
    </p:spTree>
  </p:cSld>
  <p:clrMapOvr>
    <a:masterClrMapping/>
  </p:clrMapOvr>
</p:sld>
</file>

<file path=ppt/theme/theme1.xml><?xml version="1.0" encoding="utf-8"?>
<a:theme xmlns:a="http://schemas.openxmlformats.org/drawingml/2006/main" name="NovaCorp">
  <a:themeElements>
    <a:clrScheme name="NovaCorp">
      <a:dk1>
        <a:srgbClr val="14213D"/>
      </a:dk1>
      <a:lt1>
        <a:srgbClr val="FFFFFF"/>
      </a:lt1>
      <a:dk2>
        <a:srgbClr val="1F3160"/>
      </a:dk2>
      <a:lt2>
        <a:srgbClr val="F5F3EE"/>
      </a:lt2>
      <a:accent1>
        <a:srgbClr val="FCA311"/>
      </a:accent1>
      <a:accent2>
        <a:srgbClr val="B45F06"/>
      </a:accent2>
      <a:accent3>
        <a:srgbClr val="E6E2D8"/>
      </a:accent3>
      <a:accent4>
        <a:srgbClr val="3A4660"/>
      </a:accent4>
      <a:accent5>
        <a:srgbClr val="5A6373"/>
      </a:accent5>
      <a:accent6>
        <a:srgbClr val="9AA3B2"/>
      </a:accent6>
      <a:hlink>
        <a:srgbClr val="B45F06"/>
      </a:hlink>
      <a:folHlink>
        <a:srgbClr val="5A6373"/>
      </a:folHlink>
    </a:clrScheme>
    <a:fontScheme name="NovaCorp">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14</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NovaCorp – Automatiser les demandes internes</dc:title>
  <dc:subject>PptxGenJS Presentation</dc:subject>
  <dc:creator>Arthur · Ashley NGAMGA</dc:creator>
  <cp:lastModifiedBy>Arthur · Ashley NGAMGA</cp:lastModifiedBy>
  <cp:revision>1</cp:revision>
  <dcterms:created xsi:type="dcterms:W3CDTF">2026-10-28T12:57:12Z</dcterms:created>
  <dcterms:modified xsi:type="dcterms:W3CDTF">2026-10-28T12:57:12Z</dcterms:modified>
</cp:coreProperties>
</file>